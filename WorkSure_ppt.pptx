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rial Bold" charset="1" panose="020B0704020202020204"/>
      <p:regular r:id="rId21"/>
    </p:embeddedFont>
    <p:embeddedFont>
      <p:font typeface="Calibri (MS)" charset="1" panose="020F0502020204030204"/>
      <p:regular r:id="rId22"/>
    </p:embeddedFont>
    <p:embeddedFont>
      <p:font typeface="Calibri (MS) Bold" charset="1" panose="020F0702030404030204"/>
      <p:regular r:id="rId23"/>
    </p:embeddedFont>
    <p:embeddedFont>
      <p:font typeface="Calibri (MS) Italics" charset="1" panose="020F05020202040A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251943" y="-2207257"/>
            <a:ext cx="6426203" cy="6426203"/>
            <a:chOff x="0" y="0"/>
            <a:chExt cx="8568271" cy="85682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85344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C45A00">
                <a:alpha val="8627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68182" cy="8568182"/>
            </a:xfrm>
            <a:custGeom>
              <a:avLst/>
              <a:gdLst/>
              <a:ahLst/>
              <a:cxnLst/>
              <a:rect r="r" b="b" t="t" l="l"/>
              <a:pathLst>
                <a:path h="8568182" w="8568182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lnTo>
                    <a:pt x="4284091" y="16891"/>
                  </a:lnTo>
                  <a:lnTo>
                    <a:pt x="4284091" y="0"/>
                  </a:lnTo>
                  <a:cubicBezTo>
                    <a:pt x="6650101" y="0"/>
                    <a:pt x="8568182" y="1918081"/>
                    <a:pt x="8568182" y="4284091"/>
                  </a:cubicBezTo>
                  <a:lnTo>
                    <a:pt x="8551290" y="4284091"/>
                  </a:lnTo>
                  <a:lnTo>
                    <a:pt x="8568182" y="4284091"/>
                  </a:lnTo>
                  <a:cubicBezTo>
                    <a:pt x="8568182" y="6650101"/>
                    <a:pt x="6650101" y="8568182"/>
                    <a:pt x="4284091" y="8568182"/>
                  </a:cubicBezTo>
                  <a:lnTo>
                    <a:pt x="4284091" y="8551290"/>
                  </a:lnTo>
                  <a:lnTo>
                    <a:pt x="4284091" y="8568182"/>
                  </a:lnTo>
                  <a:cubicBezTo>
                    <a:pt x="1918081" y="8568309"/>
                    <a:pt x="0" y="6650228"/>
                    <a:pt x="0" y="4284091"/>
                  </a:cubicBezTo>
                  <a:lnTo>
                    <a:pt x="16891" y="42840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0" y="4284091"/>
                  </a:lnTo>
                  <a:moveTo>
                    <a:pt x="33909" y="4284091"/>
                  </a:moveTo>
                  <a:cubicBezTo>
                    <a:pt x="33909" y="4293489"/>
                    <a:pt x="26289" y="4300982"/>
                    <a:pt x="17018" y="4300982"/>
                  </a:cubicBezTo>
                  <a:cubicBezTo>
                    <a:pt x="7747" y="4300982"/>
                    <a:pt x="0" y="4293489"/>
                    <a:pt x="0" y="4284091"/>
                  </a:cubicBezTo>
                  <a:cubicBezTo>
                    <a:pt x="0" y="4274693"/>
                    <a:pt x="7620" y="4267200"/>
                    <a:pt x="16891" y="4267200"/>
                  </a:cubicBezTo>
                  <a:cubicBezTo>
                    <a:pt x="26162" y="4267200"/>
                    <a:pt x="33782" y="4274820"/>
                    <a:pt x="33782" y="4284091"/>
                  </a:cubicBezTo>
                  <a:cubicBezTo>
                    <a:pt x="33909" y="6631432"/>
                    <a:pt x="1936750" y="8534400"/>
                    <a:pt x="4284091" y="8534400"/>
                  </a:cubicBezTo>
                  <a:cubicBezTo>
                    <a:pt x="6631432" y="8534400"/>
                    <a:pt x="8534400" y="6631432"/>
                    <a:pt x="8534400" y="4284091"/>
                  </a:cubicBezTo>
                  <a:cubicBezTo>
                    <a:pt x="8534400" y="1936750"/>
                    <a:pt x="6631432" y="33909"/>
                    <a:pt x="4284091" y="33909"/>
                  </a:cubicBezTo>
                  <a:lnTo>
                    <a:pt x="4284091" y="16891"/>
                  </a:lnTo>
                  <a:lnTo>
                    <a:pt x="4284091" y="33909"/>
                  </a:lnTo>
                  <a:cubicBezTo>
                    <a:pt x="1936750" y="33909"/>
                    <a:pt x="33909" y="1936750"/>
                    <a:pt x="33909" y="4284091"/>
                  </a:cubicBezTo>
                  <a:close/>
                </a:path>
              </a:pathLst>
            </a:custGeom>
            <a:solidFill>
              <a:srgbClr val="C45A00">
                <a:alpha val="8627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349223" y="5839463"/>
            <a:ext cx="4048763" cy="4048763"/>
            <a:chOff x="0" y="0"/>
            <a:chExt cx="5398351" cy="53983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53644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0">
                  <a:moveTo>
                    <a:pt x="0" y="2682240"/>
                  </a:moveTo>
                  <a:cubicBezTo>
                    <a:pt x="0" y="1200912"/>
                    <a:pt x="1200912" y="0"/>
                    <a:pt x="2682240" y="0"/>
                  </a:cubicBezTo>
                  <a:cubicBezTo>
                    <a:pt x="4163568" y="0"/>
                    <a:pt x="5364480" y="1200912"/>
                    <a:pt x="5364480" y="2682240"/>
                  </a:cubicBezTo>
                  <a:cubicBezTo>
                    <a:pt x="5364480" y="4163568"/>
                    <a:pt x="4163568" y="5364480"/>
                    <a:pt x="2682240" y="5364480"/>
                  </a:cubicBezTo>
                  <a:cubicBezTo>
                    <a:pt x="1200912" y="5364480"/>
                    <a:pt x="0" y="4163695"/>
                    <a:pt x="0" y="2682240"/>
                  </a:cubicBezTo>
                  <a:close/>
                </a:path>
              </a:pathLst>
            </a:custGeom>
            <a:solidFill>
              <a:srgbClr val="F47B20">
                <a:alpha val="3922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8389" cy="5398262"/>
            </a:xfrm>
            <a:custGeom>
              <a:avLst/>
              <a:gdLst/>
              <a:ahLst/>
              <a:cxnLst/>
              <a:rect r="r" b="b" t="t" l="l"/>
              <a:pathLst>
                <a:path h="5398262" w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lnTo>
                    <a:pt x="2699131" y="16891"/>
                  </a:lnTo>
                  <a:lnTo>
                    <a:pt x="2699131" y="0"/>
                  </a:lnTo>
                  <a:cubicBezTo>
                    <a:pt x="4189857" y="0"/>
                    <a:pt x="5398389" y="1208405"/>
                    <a:pt x="5398389" y="2699131"/>
                  </a:cubicBezTo>
                  <a:lnTo>
                    <a:pt x="5381498" y="2699131"/>
                  </a:lnTo>
                  <a:lnTo>
                    <a:pt x="5398389" y="2699131"/>
                  </a:lnTo>
                  <a:cubicBezTo>
                    <a:pt x="5398389" y="4189857"/>
                    <a:pt x="4189984" y="5398262"/>
                    <a:pt x="2699258" y="5398262"/>
                  </a:cubicBezTo>
                  <a:lnTo>
                    <a:pt x="2699258" y="5381371"/>
                  </a:lnTo>
                  <a:lnTo>
                    <a:pt x="2699258" y="5398262"/>
                  </a:lnTo>
                  <a:cubicBezTo>
                    <a:pt x="1208405" y="5398389"/>
                    <a:pt x="0" y="4189857"/>
                    <a:pt x="0" y="2699131"/>
                  </a:cubicBezTo>
                  <a:lnTo>
                    <a:pt x="16891" y="269913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0" y="2699131"/>
                  </a:lnTo>
                  <a:moveTo>
                    <a:pt x="33909" y="2699131"/>
                  </a:moveTo>
                  <a:cubicBezTo>
                    <a:pt x="33909" y="2708529"/>
                    <a:pt x="26289" y="2716022"/>
                    <a:pt x="17018" y="2716022"/>
                  </a:cubicBezTo>
                  <a:cubicBezTo>
                    <a:pt x="7747" y="2716022"/>
                    <a:pt x="0" y="2708529"/>
                    <a:pt x="0" y="2699131"/>
                  </a:cubicBezTo>
                  <a:cubicBezTo>
                    <a:pt x="0" y="2689733"/>
                    <a:pt x="7620" y="2682240"/>
                    <a:pt x="16891" y="2682240"/>
                  </a:cubicBezTo>
                  <a:cubicBezTo>
                    <a:pt x="26162" y="2682240"/>
                    <a:pt x="33782" y="2689860"/>
                    <a:pt x="33782" y="2699131"/>
                  </a:cubicBezTo>
                  <a:cubicBezTo>
                    <a:pt x="33782" y="4171188"/>
                    <a:pt x="1227074" y="5364480"/>
                    <a:pt x="2699131" y="5364480"/>
                  </a:cubicBezTo>
                  <a:cubicBezTo>
                    <a:pt x="4171188" y="5364480"/>
                    <a:pt x="5364480" y="4171188"/>
                    <a:pt x="5364480" y="2699131"/>
                  </a:cubicBezTo>
                  <a:cubicBezTo>
                    <a:pt x="5364480" y="1227201"/>
                    <a:pt x="4171188" y="33909"/>
                    <a:pt x="2699131" y="33909"/>
                  </a:cubicBezTo>
                  <a:lnTo>
                    <a:pt x="2699131" y="16891"/>
                  </a:lnTo>
                  <a:lnTo>
                    <a:pt x="2699131" y="33909"/>
                  </a:lnTo>
                  <a:cubicBezTo>
                    <a:pt x="1227201" y="33909"/>
                    <a:pt x="33909" y="1227201"/>
                    <a:pt x="33909" y="2699131"/>
                  </a:cubicBezTo>
                  <a:close/>
                </a:path>
              </a:pathLst>
            </a:custGeom>
            <a:solidFill>
              <a:srgbClr val="F47B20">
                <a:alpha val="3922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94944" y="2743200"/>
            <a:ext cx="10972800" cy="1645920"/>
            <a:chOff x="0" y="0"/>
            <a:chExt cx="14630400" cy="21945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4630400" cy="222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80"/>
                </a:lnSpc>
              </a:pPr>
              <a:r>
                <a:rPr lang="en-US" b="true" sz="10400" spc="79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WORKSURE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4944" y="4425696"/>
            <a:ext cx="13716000" cy="914400"/>
            <a:chOff x="0" y="0"/>
            <a:chExt cx="1828800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82880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>
                  <a:solidFill>
                    <a:srgbClr val="FFA44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 Employee Insurance Management System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2247" y="5565143"/>
            <a:ext cx="8255003" cy="116843"/>
            <a:chOff x="0" y="0"/>
            <a:chExt cx="11006671" cy="1557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972800" cy="121920"/>
            </a:xfrm>
            <a:custGeom>
              <a:avLst/>
              <a:gdLst/>
              <a:ahLst/>
              <a:cxnLst/>
              <a:rect r="r" b="b" t="t" l="l"/>
              <a:pathLst>
                <a:path h="1219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06582" cy="155704"/>
            </a:xfrm>
            <a:custGeom>
              <a:avLst/>
              <a:gdLst/>
              <a:ahLst/>
              <a:cxnLst/>
              <a:rect r="r" b="b" t="t" l="l"/>
              <a:pathLst>
                <a:path h="15570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38811"/>
                  </a:lnTo>
                  <a:cubicBezTo>
                    <a:pt x="11006582" y="148209"/>
                    <a:pt x="10998962" y="155702"/>
                    <a:pt x="1098969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0989691" y="121920"/>
                  </a:lnTo>
                  <a:lnTo>
                    <a:pt x="10989691" y="138811"/>
                  </a:lnTo>
                  <a:lnTo>
                    <a:pt x="10972800" y="1388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94944" y="5943600"/>
            <a:ext cx="10972800" cy="694944"/>
            <a:chOff x="0" y="0"/>
            <a:chExt cx="14630400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00" cy="926592"/>
            </a:xfrm>
            <a:custGeom>
              <a:avLst/>
              <a:gdLst/>
              <a:ahLst/>
              <a:cxnLst/>
              <a:rect r="r" b="b" t="t" l="l"/>
              <a:pathLst>
                <a:path h="92659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7658" r="0" b="-25765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463040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Presented by  Akshitha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94944" y="6620256"/>
            <a:ext cx="10972800" cy="585216"/>
            <a:chOff x="0" y="0"/>
            <a:chExt cx="14630400" cy="7802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00" cy="780288"/>
            </a:xfrm>
            <a:custGeom>
              <a:avLst/>
              <a:gdLst/>
              <a:ahLst/>
              <a:cxnLst/>
              <a:rect r="r" b="b" t="t" l="l"/>
              <a:pathLst>
                <a:path h="780288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46304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Intern — The Hartford  |  March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33607"/>
            <a:ext cx="6609083" cy="10166099"/>
            <a:chOff x="0" y="0"/>
            <a:chExt cx="8812111" cy="135547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8778240" cy="13520928"/>
            </a:xfrm>
            <a:custGeom>
              <a:avLst/>
              <a:gdLst/>
              <a:ahLst/>
              <a:cxnLst/>
              <a:rect r="r" b="b" t="t" l="l"/>
              <a:pathLst>
                <a:path h="1352092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3520928"/>
                  </a:lnTo>
                  <a:lnTo>
                    <a:pt x="0" y="13520928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812022" cy="13554709"/>
            </a:xfrm>
            <a:custGeom>
              <a:avLst/>
              <a:gdLst/>
              <a:ahLst/>
              <a:cxnLst/>
              <a:rect r="r" b="b" t="t" l="l"/>
              <a:pathLst>
                <a:path h="13554709" w="8812022">
                  <a:moveTo>
                    <a:pt x="16891" y="0"/>
                  </a:moveTo>
                  <a:lnTo>
                    <a:pt x="8795131" y="0"/>
                  </a:lnTo>
                  <a:cubicBezTo>
                    <a:pt x="8804529" y="0"/>
                    <a:pt x="8812022" y="7620"/>
                    <a:pt x="8812022" y="16891"/>
                  </a:cubicBezTo>
                  <a:lnTo>
                    <a:pt x="8812022" y="13537819"/>
                  </a:lnTo>
                  <a:cubicBezTo>
                    <a:pt x="8812022" y="13547217"/>
                    <a:pt x="8804402" y="13554709"/>
                    <a:pt x="8795131" y="13554709"/>
                  </a:cubicBezTo>
                  <a:lnTo>
                    <a:pt x="16891" y="13554709"/>
                  </a:lnTo>
                  <a:cubicBezTo>
                    <a:pt x="7493" y="13554709"/>
                    <a:pt x="0" y="13547089"/>
                    <a:pt x="0" y="135378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37819"/>
                  </a:lnTo>
                  <a:lnTo>
                    <a:pt x="16891" y="13537819"/>
                  </a:lnTo>
                  <a:lnTo>
                    <a:pt x="16891" y="13520928"/>
                  </a:lnTo>
                  <a:lnTo>
                    <a:pt x="8795131" y="13520928"/>
                  </a:lnTo>
                  <a:lnTo>
                    <a:pt x="8795131" y="13537819"/>
                  </a:lnTo>
                  <a:lnTo>
                    <a:pt x="8778240" y="13537819"/>
                  </a:lnTo>
                  <a:lnTo>
                    <a:pt x="8778240" y="16891"/>
                  </a:lnTo>
                  <a:lnTo>
                    <a:pt x="8795131" y="16891"/>
                  </a:lnTo>
                  <a:lnTo>
                    <a:pt x="8795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65765" y="3566165"/>
            <a:ext cx="5852160" cy="914400"/>
            <a:chOff x="0" y="0"/>
            <a:chExt cx="7802880" cy="1219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02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04" r="0" b="-7470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780288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WorkSure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16098" y="4618220"/>
            <a:ext cx="2951483" cy="98555"/>
            <a:chOff x="0" y="0"/>
            <a:chExt cx="3935311" cy="1314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3901440" cy="97536"/>
            </a:xfrm>
            <a:custGeom>
              <a:avLst/>
              <a:gdLst/>
              <a:ahLst/>
              <a:cxnLst/>
              <a:rect r="r" b="b" t="t" l="l"/>
              <a:pathLst>
                <a:path h="97536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35222" cy="131320"/>
            </a:xfrm>
            <a:custGeom>
              <a:avLst/>
              <a:gdLst/>
              <a:ahLst/>
              <a:cxnLst/>
              <a:rect r="r" b="b" t="t" l="l"/>
              <a:pathLst>
                <a:path h="131320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114427"/>
                  </a:lnTo>
                  <a:cubicBezTo>
                    <a:pt x="3935222" y="123825"/>
                    <a:pt x="3927602" y="131318"/>
                    <a:pt x="391833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3918331" y="97536"/>
                  </a:lnTo>
                  <a:lnTo>
                    <a:pt x="3918331" y="114427"/>
                  </a:lnTo>
                  <a:lnTo>
                    <a:pt x="3901440" y="114427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65765" y="5380511"/>
            <a:ext cx="5852160" cy="800100"/>
            <a:chOff x="0" y="0"/>
            <a:chExt cx="7802880" cy="1066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02880" cy="1066800"/>
            </a:xfrm>
            <a:custGeom>
              <a:avLst/>
              <a:gdLst/>
              <a:ahLst/>
              <a:cxnLst/>
              <a:rect r="r" b="b" t="t" l="l"/>
              <a:pathLst>
                <a:path h="10668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519" r="0" b="-9251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802880" cy="1114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47B2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 Employee Insurance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47B2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Management System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949440" y="365760"/>
            <a:ext cx="10973762" cy="914400"/>
            <a:chOff x="0" y="0"/>
            <a:chExt cx="14631683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1681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1681">
                  <a:moveTo>
                    <a:pt x="0" y="0"/>
                  </a:moveTo>
                  <a:lnTo>
                    <a:pt x="14631681" y="0"/>
                  </a:lnTo>
                  <a:lnTo>
                    <a:pt x="1463168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40" r="0" b="-18384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4631683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1A2B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Introduction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936743" y="1450343"/>
            <a:ext cx="10999156" cy="1397003"/>
            <a:chOff x="0" y="0"/>
            <a:chExt cx="14665541" cy="18626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4631669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631669">
                  <a:moveTo>
                    <a:pt x="0" y="0"/>
                  </a:moveTo>
                  <a:lnTo>
                    <a:pt x="14631669" y="0"/>
                  </a:lnTo>
                  <a:lnTo>
                    <a:pt x="1463166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65452" cy="1862582"/>
            </a:xfrm>
            <a:custGeom>
              <a:avLst/>
              <a:gdLst/>
              <a:ahLst/>
              <a:cxnLst/>
              <a:rect r="r" b="b" t="t" l="l"/>
              <a:pathLst>
                <a:path h="1862582" w="14665452">
                  <a:moveTo>
                    <a:pt x="16891" y="0"/>
                  </a:moveTo>
                  <a:lnTo>
                    <a:pt x="14648560" y="0"/>
                  </a:lnTo>
                  <a:cubicBezTo>
                    <a:pt x="14657958" y="0"/>
                    <a:pt x="14665452" y="7620"/>
                    <a:pt x="14665452" y="16891"/>
                  </a:cubicBezTo>
                  <a:lnTo>
                    <a:pt x="14665452" y="1845691"/>
                  </a:lnTo>
                  <a:cubicBezTo>
                    <a:pt x="14665452" y="1855089"/>
                    <a:pt x="14657832" y="1862582"/>
                    <a:pt x="1464856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14648560" y="1828800"/>
                  </a:lnTo>
                  <a:lnTo>
                    <a:pt x="14648560" y="1845691"/>
                  </a:lnTo>
                  <a:lnTo>
                    <a:pt x="14631670" y="1845691"/>
                  </a:lnTo>
                  <a:lnTo>
                    <a:pt x="14631670" y="16891"/>
                  </a:lnTo>
                  <a:lnTo>
                    <a:pt x="14648560" y="16891"/>
                  </a:lnTo>
                  <a:lnTo>
                    <a:pt x="1464856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315200" y="1499616"/>
            <a:ext cx="10240556" cy="1279998"/>
            <a:chOff x="0" y="0"/>
            <a:chExt cx="13654075" cy="17066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654080" cy="1706667"/>
            </a:xfrm>
            <a:custGeom>
              <a:avLst/>
              <a:gdLst/>
              <a:ahLst/>
              <a:cxnLst/>
              <a:rect r="r" b="b" t="t" l="l"/>
              <a:pathLst>
                <a:path h="1706667" w="13654080">
                  <a:moveTo>
                    <a:pt x="0" y="0"/>
                  </a:moveTo>
                  <a:lnTo>
                    <a:pt x="13654080" y="0"/>
                  </a:lnTo>
                  <a:lnTo>
                    <a:pt x="13654080" y="1706667"/>
                  </a:lnTo>
                  <a:lnTo>
                    <a:pt x="0" y="170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8" r="0" b="-10588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3654075" cy="17638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47B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WorkSure?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D0D8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full-stack B2B enterprise platform enabling organisations to purchase and manage group insurance policies — with structured claims, tiered plans, and JWT role-based access.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936743" y="3004823"/>
            <a:ext cx="2585723" cy="1122683"/>
            <a:chOff x="0" y="0"/>
            <a:chExt cx="3447631" cy="14969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447542" cy="1496822"/>
            </a:xfrm>
            <a:custGeom>
              <a:avLst/>
              <a:gdLst/>
              <a:ahLst/>
              <a:cxnLst/>
              <a:rect r="r" b="b" t="t" l="l"/>
              <a:pathLst>
                <a:path h="1496822" w="344754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1479931"/>
                  </a:lnTo>
                  <a:cubicBezTo>
                    <a:pt x="3447542" y="1489329"/>
                    <a:pt x="3439922" y="1496822"/>
                    <a:pt x="3430651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3430651" y="1463040"/>
                  </a:lnTo>
                  <a:lnTo>
                    <a:pt x="3430651" y="1479931"/>
                  </a:lnTo>
                  <a:lnTo>
                    <a:pt x="3413760" y="1479931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949440" y="3017520"/>
            <a:ext cx="2560320" cy="1097280"/>
            <a:chOff x="0" y="0"/>
            <a:chExt cx="3413760" cy="1463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34137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Insurance Plans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57080" y="2992117"/>
            <a:ext cx="2611117" cy="1148077"/>
            <a:chOff x="0" y="0"/>
            <a:chExt cx="3481489" cy="153076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33909" y="33909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243F6A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81578" cy="1530858"/>
            </a:xfrm>
            <a:custGeom>
              <a:avLst/>
              <a:gdLst/>
              <a:ahLst/>
              <a:cxnLst/>
              <a:rect r="r" b="b" t="t" l="l"/>
              <a:pathLst>
                <a:path h="1530858" w="3481578">
                  <a:moveTo>
                    <a:pt x="33909" y="0"/>
                  </a:moveTo>
                  <a:lnTo>
                    <a:pt x="3447669" y="0"/>
                  </a:lnTo>
                  <a:cubicBezTo>
                    <a:pt x="3466338" y="0"/>
                    <a:pt x="3481578" y="15113"/>
                    <a:pt x="3481578" y="33909"/>
                  </a:cubicBezTo>
                  <a:lnTo>
                    <a:pt x="3481578" y="1496949"/>
                  </a:lnTo>
                  <a:cubicBezTo>
                    <a:pt x="3481578" y="1515618"/>
                    <a:pt x="3466465" y="1530858"/>
                    <a:pt x="3447669" y="1530858"/>
                  </a:cubicBezTo>
                  <a:lnTo>
                    <a:pt x="33909" y="1530858"/>
                  </a:lnTo>
                  <a:cubicBezTo>
                    <a:pt x="15240" y="1530858"/>
                    <a:pt x="0" y="1515745"/>
                    <a:pt x="0" y="149694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496949"/>
                  </a:lnTo>
                  <a:lnTo>
                    <a:pt x="33909" y="1496949"/>
                  </a:lnTo>
                  <a:lnTo>
                    <a:pt x="33909" y="1463040"/>
                  </a:lnTo>
                  <a:lnTo>
                    <a:pt x="3447669" y="1463040"/>
                  </a:lnTo>
                  <a:lnTo>
                    <a:pt x="3447669" y="1496949"/>
                  </a:lnTo>
                  <a:lnTo>
                    <a:pt x="3413760" y="1496949"/>
                  </a:lnTo>
                  <a:lnTo>
                    <a:pt x="3413760" y="33909"/>
                  </a:lnTo>
                  <a:lnTo>
                    <a:pt x="3447669" y="33909"/>
                  </a:lnTo>
                  <a:lnTo>
                    <a:pt x="344766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582483" y="3017520"/>
            <a:ext cx="2560320" cy="1097280"/>
            <a:chOff x="0" y="0"/>
            <a:chExt cx="3413760" cy="1463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4137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47B2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Policy Tiers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202820" y="3004823"/>
            <a:ext cx="2585723" cy="1122683"/>
            <a:chOff x="0" y="0"/>
            <a:chExt cx="3447631" cy="14969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447542" cy="1496822"/>
            </a:xfrm>
            <a:custGeom>
              <a:avLst/>
              <a:gdLst/>
              <a:ahLst/>
              <a:cxnLst/>
              <a:rect r="r" b="b" t="t" l="l"/>
              <a:pathLst>
                <a:path h="1496822" w="344754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1479931"/>
                  </a:lnTo>
                  <a:cubicBezTo>
                    <a:pt x="3447542" y="1489329"/>
                    <a:pt x="3439922" y="1496822"/>
                    <a:pt x="3430651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3430651" y="1463040"/>
                  </a:lnTo>
                  <a:lnTo>
                    <a:pt x="3430651" y="1479931"/>
                  </a:lnTo>
                  <a:lnTo>
                    <a:pt x="3413760" y="1479931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215517" y="3017520"/>
            <a:ext cx="2560320" cy="1097280"/>
            <a:chOff x="0" y="0"/>
            <a:chExt cx="3413760" cy="1463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34137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Roles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823157" y="2992117"/>
            <a:ext cx="2611117" cy="1148077"/>
            <a:chOff x="0" y="0"/>
            <a:chExt cx="3481489" cy="153076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33909" y="33909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243F6A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481578" cy="1530858"/>
            </a:xfrm>
            <a:custGeom>
              <a:avLst/>
              <a:gdLst/>
              <a:ahLst/>
              <a:cxnLst/>
              <a:rect r="r" b="b" t="t" l="l"/>
              <a:pathLst>
                <a:path h="1530858" w="3481578">
                  <a:moveTo>
                    <a:pt x="33909" y="0"/>
                  </a:moveTo>
                  <a:lnTo>
                    <a:pt x="3447669" y="0"/>
                  </a:lnTo>
                  <a:cubicBezTo>
                    <a:pt x="3466338" y="0"/>
                    <a:pt x="3481578" y="15113"/>
                    <a:pt x="3481578" y="33909"/>
                  </a:cubicBezTo>
                  <a:lnTo>
                    <a:pt x="3481578" y="1496949"/>
                  </a:lnTo>
                  <a:cubicBezTo>
                    <a:pt x="3481578" y="1515618"/>
                    <a:pt x="3466465" y="1530858"/>
                    <a:pt x="3447669" y="1530858"/>
                  </a:cubicBezTo>
                  <a:lnTo>
                    <a:pt x="33909" y="1530858"/>
                  </a:lnTo>
                  <a:cubicBezTo>
                    <a:pt x="15240" y="1530858"/>
                    <a:pt x="0" y="1515745"/>
                    <a:pt x="0" y="149694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496949"/>
                  </a:lnTo>
                  <a:lnTo>
                    <a:pt x="33909" y="1496949"/>
                  </a:lnTo>
                  <a:lnTo>
                    <a:pt x="33909" y="1463040"/>
                  </a:lnTo>
                  <a:lnTo>
                    <a:pt x="3447669" y="1463040"/>
                  </a:lnTo>
                  <a:lnTo>
                    <a:pt x="3447669" y="1496949"/>
                  </a:lnTo>
                  <a:lnTo>
                    <a:pt x="3413760" y="1496949"/>
                  </a:lnTo>
                  <a:lnTo>
                    <a:pt x="3413760" y="33909"/>
                  </a:lnTo>
                  <a:lnTo>
                    <a:pt x="3447669" y="33909"/>
                  </a:lnTo>
                  <a:lnTo>
                    <a:pt x="344766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4848561" y="3017520"/>
            <a:ext cx="2560320" cy="1097280"/>
            <a:chOff x="0" y="0"/>
            <a:chExt cx="3413760" cy="1463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4137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47B2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Claim Types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936743" y="4376423"/>
            <a:ext cx="5226682" cy="5923979"/>
            <a:chOff x="0" y="0"/>
            <a:chExt cx="6968909" cy="789863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6935089" cy="7864856"/>
            </a:xfrm>
            <a:custGeom>
              <a:avLst/>
              <a:gdLst/>
              <a:ahLst/>
              <a:cxnLst/>
              <a:rect r="r" b="b" t="t" l="l"/>
              <a:pathLst>
                <a:path h="7864856" w="6935089">
                  <a:moveTo>
                    <a:pt x="0" y="0"/>
                  </a:moveTo>
                  <a:lnTo>
                    <a:pt x="6935089" y="0"/>
                  </a:lnTo>
                  <a:lnTo>
                    <a:pt x="6935089" y="7864856"/>
                  </a:lnTo>
                  <a:lnTo>
                    <a:pt x="0" y="7864856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968872" cy="7898638"/>
            </a:xfrm>
            <a:custGeom>
              <a:avLst/>
              <a:gdLst/>
              <a:ahLst/>
              <a:cxnLst/>
              <a:rect r="r" b="b" t="t" l="l"/>
              <a:pathLst>
                <a:path h="7898638" w="6968872">
                  <a:moveTo>
                    <a:pt x="16891" y="0"/>
                  </a:moveTo>
                  <a:lnTo>
                    <a:pt x="6951980" y="0"/>
                  </a:lnTo>
                  <a:cubicBezTo>
                    <a:pt x="6961378" y="0"/>
                    <a:pt x="6968872" y="7620"/>
                    <a:pt x="6968872" y="16891"/>
                  </a:cubicBezTo>
                  <a:lnTo>
                    <a:pt x="6968872" y="7881747"/>
                  </a:lnTo>
                  <a:cubicBezTo>
                    <a:pt x="6968872" y="7891145"/>
                    <a:pt x="6961251" y="7898638"/>
                    <a:pt x="6951980" y="7898638"/>
                  </a:cubicBezTo>
                  <a:lnTo>
                    <a:pt x="16891" y="7898638"/>
                  </a:lnTo>
                  <a:cubicBezTo>
                    <a:pt x="7493" y="7898638"/>
                    <a:pt x="0" y="7891018"/>
                    <a:pt x="0" y="78817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81747"/>
                  </a:lnTo>
                  <a:lnTo>
                    <a:pt x="16891" y="7881747"/>
                  </a:lnTo>
                  <a:lnTo>
                    <a:pt x="16891" y="7864856"/>
                  </a:lnTo>
                  <a:lnTo>
                    <a:pt x="6951980" y="7864856"/>
                  </a:lnTo>
                  <a:lnTo>
                    <a:pt x="6951980" y="7881747"/>
                  </a:lnTo>
                  <a:lnTo>
                    <a:pt x="6935089" y="7881747"/>
                  </a:lnTo>
                  <a:lnTo>
                    <a:pt x="6935089" y="16891"/>
                  </a:lnTo>
                  <a:lnTo>
                    <a:pt x="6951980" y="16891"/>
                  </a:lnTo>
                  <a:lnTo>
                    <a:pt x="695198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7406640" y="4469130"/>
            <a:ext cx="4618796" cy="568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47B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Features</a:t>
            </a:r>
          </a:p>
          <a:p>
            <a:pPr algn="l">
              <a:lnSpc>
                <a:spcPts val="1679"/>
              </a:lnSpc>
            </a:pPr>
            <a:r>
              <a:rPr lang="en-US" sz="1399">
                <a:solidFill>
                  <a:srgbClr val="1A2B4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Tiered Policy Architecture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8899BB"/>
                </a:solidFill>
                <a:latin typeface="Calibri (MS)"/>
                <a:ea typeface="Calibri (MS)"/>
                <a:cs typeface="Calibri (MS)"/>
                <a:sym typeface="Calibri (MS)"/>
              </a:rPr>
              <a:t>9 plans across SME, Mid, Enterprise</a:t>
            </a:r>
          </a:p>
          <a:p>
            <a:pPr algn="l">
              <a:lnSpc>
                <a:spcPts val="1679"/>
              </a:lnSpc>
            </a:pPr>
            <a:r>
              <a:rPr lang="en-US" sz="1399">
                <a:solidFill>
                  <a:srgbClr val="1A2B4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Risk-Based Underwriting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8899BB"/>
                </a:solidFill>
                <a:latin typeface="Calibri (MS)"/>
                <a:ea typeface="Calibri (MS)"/>
                <a:cs typeface="Calibri (MS)"/>
                <a:sym typeface="Calibri (MS)"/>
              </a:rPr>
              <a:t>5-factor premium formula</a:t>
            </a:r>
          </a:p>
          <a:p>
            <a:pPr algn="l">
              <a:lnSpc>
                <a:spcPts val="1679"/>
              </a:lnSpc>
            </a:pPr>
            <a:r>
              <a:rPr lang="en-US" sz="1399">
                <a:solidFill>
                  <a:srgbClr val="1A2B4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Structured Claim Processing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8899BB"/>
                </a:solidFill>
                <a:latin typeface="Calibri (MS)"/>
                <a:ea typeface="Calibri (MS)"/>
                <a:cs typeface="Calibri (MS)"/>
                <a:sym typeface="Calibri (MS)"/>
              </a:rPr>
              <a:t>Health, Term Life, Accident claims</a:t>
            </a:r>
          </a:p>
          <a:p>
            <a:pPr algn="l">
              <a:lnSpc>
                <a:spcPts val="1679"/>
              </a:lnSpc>
            </a:pPr>
            <a:r>
              <a:rPr lang="en-US" sz="1399">
                <a:solidFill>
                  <a:srgbClr val="1A2B4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Dual Purchase Paths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8899BB"/>
                </a:solidFill>
                <a:latin typeface="Calibri (MS)"/>
                <a:ea typeface="Calibri (MS)"/>
                <a:cs typeface="Calibri (MS)"/>
                <a:sym typeface="Calibri (MS)"/>
              </a:rPr>
              <a:t>Recommend &amp; Direct Buy flows</a:t>
            </a:r>
          </a:p>
          <a:p>
            <a:pPr algn="l">
              <a:lnSpc>
                <a:spcPts val="1679"/>
              </a:lnSpc>
            </a:pPr>
            <a:r>
              <a:rPr lang="en-US" sz="1399">
                <a:solidFill>
                  <a:srgbClr val="1A2B4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Agent Commission Tracking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8899BB"/>
                </a:solidFill>
                <a:latin typeface="Calibri (MS)"/>
                <a:ea typeface="Calibri (MS)"/>
                <a:cs typeface="Calibri (MS)"/>
                <a:sym typeface="Calibri (MS)"/>
              </a:rPr>
              <a:t>Tier-based 5% / 7% / 10%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2475464" y="4376423"/>
            <a:ext cx="5458997" cy="2785396"/>
            <a:chOff x="0" y="0"/>
            <a:chExt cx="7278662" cy="371386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7244842" cy="3680079"/>
            </a:xfrm>
            <a:custGeom>
              <a:avLst/>
              <a:gdLst/>
              <a:ahLst/>
              <a:cxnLst/>
              <a:rect r="r" b="b" t="t" l="l"/>
              <a:pathLst>
                <a:path h="3680079" w="7244842">
                  <a:moveTo>
                    <a:pt x="0" y="0"/>
                  </a:moveTo>
                  <a:lnTo>
                    <a:pt x="7244842" y="0"/>
                  </a:lnTo>
                  <a:lnTo>
                    <a:pt x="7244842" y="3680079"/>
                  </a:lnTo>
                  <a:lnTo>
                    <a:pt x="0" y="3680079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278624" cy="3713861"/>
            </a:xfrm>
            <a:custGeom>
              <a:avLst/>
              <a:gdLst/>
              <a:ahLst/>
              <a:cxnLst/>
              <a:rect r="r" b="b" t="t" l="l"/>
              <a:pathLst>
                <a:path h="3713861" w="7278624">
                  <a:moveTo>
                    <a:pt x="16891" y="0"/>
                  </a:moveTo>
                  <a:lnTo>
                    <a:pt x="7261733" y="0"/>
                  </a:lnTo>
                  <a:cubicBezTo>
                    <a:pt x="7271131" y="0"/>
                    <a:pt x="7278624" y="7620"/>
                    <a:pt x="7278624" y="16891"/>
                  </a:cubicBezTo>
                  <a:lnTo>
                    <a:pt x="7278624" y="3696970"/>
                  </a:lnTo>
                  <a:cubicBezTo>
                    <a:pt x="7278624" y="3706368"/>
                    <a:pt x="7271003" y="3713861"/>
                    <a:pt x="7261733" y="3713861"/>
                  </a:cubicBezTo>
                  <a:lnTo>
                    <a:pt x="16891" y="3713861"/>
                  </a:lnTo>
                  <a:cubicBezTo>
                    <a:pt x="7493" y="3713861"/>
                    <a:pt x="0" y="3706241"/>
                    <a:pt x="0" y="369697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96970"/>
                  </a:lnTo>
                  <a:lnTo>
                    <a:pt x="16891" y="3696970"/>
                  </a:lnTo>
                  <a:lnTo>
                    <a:pt x="16891" y="3680079"/>
                  </a:lnTo>
                  <a:lnTo>
                    <a:pt x="7261733" y="3680079"/>
                  </a:lnTo>
                  <a:lnTo>
                    <a:pt x="7261733" y="3696970"/>
                  </a:lnTo>
                  <a:lnTo>
                    <a:pt x="7244842" y="3696970"/>
                  </a:lnTo>
                  <a:lnTo>
                    <a:pt x="7244842" y="16891"/>
                  </a:lnTo>
                  <a:lnTo>
                    <a:pt x="7261733" y="16891"/>
                  </a:lnTo>
                  <a:lnTo>
                    <a:pt x="726173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12945361" y="4469130"/>
            <a:ext cx="4847282" cy="256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47B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 Stack</a:t>
            </a:r>
          </a:p>
          <a:p>
            <a:pPr algn="l">
              <a:lnSpc>
                <a:spcPts val="1679"/>
              </a:lnSpc>
            </a:pPr>
            <a:r>
              <a:rPr lang="en-US" sz="1399">
                <a:solidFill>
                  <a:srgbClr val="1A2B4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  </a:t>
            </a:r>
            <a:r>
              <a:rPr lang="en-US" sz="2200">
                <a:solidFill>
                  <a:srgbClr val="D0D8E8"/>
                </a:solidFill>
                <a:latin typeface="Calibri (MS)"/>
                <a:ea typeface="Calibri (MS)"/>
                <a:cs typeface="Calibri (MS)"/>
                <a:sym typeface="Calibri (MS)"/>
              </a:rPr>
              <a:t>ASP.NET Core (.NET 8)</a:t>
            </a:r>
          </a:p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Frontend  </a:t>
            </a:r>
            <a:r>
              <a:rPr lang="en-US" sz="2200">
                <a:solidFill>
                  <a:srgbClr val="D0D8E8"/>
                </a:solidFill>
                <a:latin typeface="Calibri (MS)"/>
                <a:ea typeface="Calibri (MS)"/>
                <a:cs typeface="Calibri (MS)"/>
                <a:sym typeface="Calibri (MS)"/>
              </a:rPr>
              <a:t>Angular + Tailwind CSS</a:t>
            </a:r>
          </a:p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  </a:t>
            </a:r>
            <a:r>
              <a:rPr lang="en-US" sz="2200">
                <a:solidFill>
                  <a:srgbClr val="D0D8E8"/>
                </a:solidFill>
                <a:latin typeface="Calibri (MS)"/>
                <a:ea typeface="Calibri (MS)"/>
                <a:cs typeface="Calibri (MS)"/>
                <a:sym typeface="Calibri (MS)"/>
              </a:rPr>
              <a:t>SQL Server</a:t>
            </a:r>
          </a:p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Auth  </a:t>
            </a:r>
            <a:r>
              <a:rPr lang="en-US" sz="2200">
                <a:solidFill>
                  <a:srgbClr val="D0D8E8"/>
                </a:solidFill>
                <a:latin typeface="Calibri (MS)"/>
                <a:ea typeface="Calibri (MS)"/>
                <a:cs typeface="Calibri (MS)"/>
                <a:sym typeface="Calibri (MS)"/>
              </a:rPr>
              <a:t>JWT + Clean Architecture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2475464" y="7284425"/>
            <a:ext cx="5458997" cy="3015977"/>
            <a:chOff x="0" y="0"/>
            <a:chExt cx="7278662" cy="402130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7244842" cy="3987419"/>
            </a:xfrm>
            <a:custGeom>
              <a:avLst/>
              <a:gdLst/>
              <a:ahLst/>
              <a:cxnLst/>
              <a:rect r="r" b="b" t="t" l="l"/>
              <a:pathLst>
                <a:path h="3987419" w="7244842">
                  <a:moveTo>
                    <a:pt x="0" y="0"/>
                  </a:moveTo>
                  <a:lnTo>
                    <a:pt x="7244842" y="0"/>
                  </a:lnTo>
                  <a:lnTo>
                    <a:pt x="7244842" y="3987419"/>
                  </a:lnTo>
                  <a:lnTo>
                    <a:pt x="0" y="3987419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278624" cy="4021201"/>
            </a:xfrm>
            <a:custGeom>
              <a:avLst/>
              <a:gdLst/>
              <a:ahLst/>
              <a:cxnLst/>
              <a:rect r="r" b="b" t="t" l="l"/>
              <a:pathLst>
                <a:path h="4021201" w="7278624">
                  <a:moveTo>
                    <a:pt x="16891" y="0"/>
                  </a:moveTo>
                  <a:lnTo>
                    <a:pt x="7261733" y="0"/>
                  </a:lnTo>
                  <a:cubicBezTo>
                    <a:pt x="7271131" y="0"/>
                    <a:pt x="7278624" y="7620"/>
                    <a:pt x="7278624" y="16891"/>
                  </a:cubicBezTo>
                  <a:lnTo>
                    <a:pt x="7278624" y="4004310"/>
                  </a:lnTo>
                  <a:cubicBezTo>
                    <a:pt x="7278624" y="4013708"/>
                    <a:pt x="7271003" y="4021201"/>
                    <a:pt x="7261733" y="4021201"/>
                  </a:cubicBezTo>
                  <a:lnTo>
                    <a:pt x="16891" y="4021201"/>
                  </a:lnTo>
                  <a:cubicBezTo>
                    <a:pt x="7493" y="4021201"/>
                    <a:pt x="0" y="4013581"/>
                    <a:pt x="0" y="400431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04310"/>
                  </a:lnTo>
                  <a:lnTo>
                    <a:pt x="16891" y="4004310"/>
                  </a:lnTo>
                  <a:lnTo>
                    <a:pt x="16891" y="3987419"/>
                  </a:lnTo>
                  <a:lnTo>
                    <a:pt x="7261733" y="3987419"/>
                  </a:lnTo>
                  <a:lnTo>
                    <a:pt x="7261733" y="4004310"/>
                  </a:lnTo>
                  <a:lnTo>
                    <a:pt x="7244842" y="4004310"/>
                  </a:lnTo>
                  <a:lnTo>
                    <a:pt x="7244842" y="16891"/>
                  </a:lnTo>
                  <a:lnTo>
                    <a:pt x="7261733" y="16891"/>
                  </a:lnTo>
                  <a:lnTo>
                    <a:pt x="726173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2945361" y="7377132"/>
            <a:ext cx="4847282" cy="276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Goal</a:t>
            </a:r>
          </a:p>
          <a:p>
            <a:pPr algn="l">
              <a:lnSpc>
                <a:spcPts val="1679"/>
              </a:lnSpc>
            </a:pPr>
            <a:r>
              <a:rPr lang="en-US" sz="1399">
                <a:solidFill>
                  <a:srgbClr val="F47B2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Simulate a real-world enterprise insurance platform — from policy purchase to claim settlement — with full role-based workflows and automated underwriting logic.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329184"/>
            <a:ext cx="16459200" cy="950976"/>
            <a:chOff x="0" y="0"/>
            <a:chExt cx="21945600" cy="12679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94560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A2B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Overview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316736"/>
            <a:ext cx="16459200" cy="512064"/>
            <a:chOff x="0" y="0"/>
            <a:chExt cx="2194560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19456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WorkSure — A full-stack B2B Group Employee Insurance Platform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1998983"/>
            <a:ext cx="7706363" cy="7249163"/>
            <a:chOff x="0" y="0"/>
            <a:chExt cx="10275151" cy="96655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241281" cy="9631681"/>
            </a:xfrm>
            <a:custGeom>
              <a:avLst/>
              <a:gdLst/>
              <a:ahLst/>
              <a:cxnLst/>
              <a:rect r="r" b="b" t="t" l="l"/>
              <a:pathLst>
                <a:path h="9631681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75062" cy="9665462"/>
            </a:xfrm>
            <a:custGeom>
              <a:avLst/>
              <a:gdLst/>
              <a:ahLst/>
              <a:cxnLst/>
              <a:rect r="r" b="b" t="t" l="l"/>
              <a:pathLst>
                <a:path h="9665462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9648572"/>
                  </a:lnTo>
                  <a:cubicBezTo>
                    <a:pt x="10275062" y="9657969"/>
                    <a:pt x="10267442" y="9665462"/>
                    <a:pt x="10258172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10258172" y="9631680"/>
                  </a:lnTo>
                  <a:lnTo>
                    <a:pt x="10258172" y="9648572"/>
                  </a:lnTo>
                  <a:lnTo>
                    <a:pt x="10241280" y="9648572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8823" y="1998983"/>
            <a:ext cx="135131" cy="7249163"/>
            <a:chOff x="0" y="0"/>
            <a:chExt cx="180175" cy="96655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46304" cy="9631681"/>
            </a:xfrm>
            <a:custGeom>
              <a:avLst/>
              <a:gdLst/>
              <a:ahLst/>
              <a:cxnLst/>
              <a:rect r="r" b="b" t="t" l="l"/>
              <a:pathLst>
                <a:path h="9631681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0086" cy="9665462"/>
            </a:xfrm>
            <a:custGeom>
              <a:avLst/>
              <a:gdLst/>
              <a:ahLst/>
              <a:cxnLst/>
              <a:rect r="r" b="b" t="t" l="l"/>
              <a:pathLst>
                <a:path h="966546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9648572"/>
                  </a:lnTo>
                  <a:cubicBezTo>
                    <a:pt x="180086" y="9657969"/>
                    <a:pt x="172466" y="9665462"/>
                    <a:pt x="163195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163195" y="9631680"/>
                  </a:lnTo>
                  <a:lnTo>
                    <a:pt x="163195" y="9648572"/>
                  </a:lnTo>
                  <a:lnTo>
                    <a:pt x="146304" y="9648572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97280" y="2157984"/>
            <a:ext cx="7040880" cy="694944"/>
            <a:chOff x="0" y="0"/>
            <a:chExt cx="9387840" cy="926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87840" cy="926592"/>
            </a:xfrm>
            <a:custGeom>
              <a:avLst/>
              <a:gdLst/>
              <a:ahLst/>
              <a:cxnLst/>
              <a:rect r="r" b="b" t="t" l="l"/>
              <a:pathLst>
                <a:path h="926592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414" r="0" b="-14741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3878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The Problem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7280" y="3035808"/>
            <a:ext cx="7040880" cy="731520"/>
            <a:chOff x="0" y="0"/>
            <a:chExt cx="9387840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387840" cy="975360"/>
            </a:xfrm>
            <a:custGeom>
              <a:avLst/>
              <a:gdLst/>
              <a:ahLst/>
              <a:cxnLst/>
              <a:rect r="r" b="b" t="t" l="l"/>
              <a:pathLst>
                <a:path h="9753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387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  </a:t>
              </a: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Manual policy processing — errors &amp; delays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97280" y="3931920"/>
            <a:ext cx="7040880" cy="731520"/>
            <a:chOff x="0" y="0"/>
            <a:chExt cx="9387840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387840" cy="975360"/>
            </a:xfrm>
            <a:custGeom>
              <a:avLst/>
              <a:gdLst/>
              <a:ahLst/>
              <a:cxnLst/>
              <a:rect r="r" b="b" t="t" l="l"/>
              <a:pathLst>
                <a:path h="9753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387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  </a:t>
              </a: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tiered product structure for group insurance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7280" y="4828032"/>
            <a:ext cx="7040880" cy="731520"/>
            <a:chOff x="0" y="0"/>
            <a:chExt cx="9387840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387840" cy="975360"/>
            </a:xfrm>
            <a:custGeom>
              <a:avLst/>
              <a:gdLst/>
              <a:ahLst/>
              <a:cxnLst/>
              <a:rect r="r" b="b" t="t" l="l"/>
              <a:pathLst>
                <a:path h="9753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387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  </a:t>
              </a: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automated premium or risk calculation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7280" y="5724144"/>
            <a:ext cx="7040880" cy="731520"/>
            <a:chOff x="0" y="0"/>
            <a:chExt cx="9387840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387840" cy="975360"/>
            </a:xfrm>
            <a:custGeom>
              <a:avLst/>
              <a:gdLst/>
              <a:ahLst/>
              <a:cxnLst/>
              <a:rect r="r" b="b" t="t" l="l"/>
              <a:pathLst>
                <a:path h="9753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387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  </a:t>
              </a: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Unstructured claim settlements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97280" y="6620256"/>
            <a:ext cx="7040880" cy="731520"/>
            <a:chOff x="0" y="0"/>
            <a:chExt cx="9387840" cy="975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387840" cy="975360"/>
            </a:xfrm>
            <a:custGeom>
              <a:avLst/>
              <a:gdLst/>
              <a:ahLst/>
              <a:cxnLst/>
              <a:rect r="r" b="b" t="t" l="l"/>
              <a:pathLst>
                <a:path h="9753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387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  </a:t>
              </a: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agent assignment or commission tracking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97280" y="7516368"/>
            <a:ext cx="7040880" cy="731520"/>
            <a:chOff x="0" y="0"/>
            <a:chExt cx="9387840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387840" cy="975360"/>
            </a:xfrm>
            <a:custGeom>
              <a:avLst/>
              <a:gdLst/>
              <a:ahLst/>
              <a:cxnLst/>
              <a:rect r="r" b="b" t="t" l="l"/>
              <a:pathLst>
                <a:path h="9753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387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  </a:t>
              </a: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Poor employee coverage transparency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771383" y="1998983"/>
            <a:ext cx="7706363" cy="7249163"/>
            <a:chOff x="0" y="0"/>
            <a:chExt cx="10275151" cy="96655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0241281" cy="9631681"/>
            </a:xfrm>
            <a:custGeom>
              <a:avLst/>
              <a:gdLst/>
              <a:ahLst/>
              <a:cxnLst/>
              <a:rect r="r" b="b" t="t" l="l"/>
              <a:pathLst>
                <a:path h="9631681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75062" cy="9665462"/>
            </a:xfrm>
            <a:custGeom>
              <a:avLst/>
              <a:gdLst/>
              <a:ahLst/>
              <a:cxnLst/>
              <a:rect r="r" b="b" t="t" l="l"/>
              <a:pathLst>
                <a:path h="9665462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9648572"/>
                  </a:lnTo>
                  <a:cubicBezTo>
                    <a:pt x="10275062" y="9657969"/>
                    <a:pt x="10267442" y="9665462"/>
                    <a:pt x="10258172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10258172" y="9631680"/>
                  </a:lnTo>
                  <a:lnTo>
                    <a:pt x="10258172" y="9648572"/>
                  </a:lnTo>
                  <a:lnTo>
                    <a:pt x="10241280" y="9648572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771383" y="1998983"/>
            <a:ext cx="135131" cy="7249163"/>
            <a:chOff x="0" y="0"/>
            <a:chExt cx="180175" cy="966555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46304" cy="9631681"/>
            </a:xfrm>
            <a:custGeom>
              <a:avLst/>
              <a:gdLst/>
              <a:ahLst/>
              <a:cxnLst/>
              <a:rect r="r" b="b" t="t" l="l"/>
              <a:pathLst>
                <a:path h="9631681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9631681"/>
                  </a:lnTo>
                  <a:lnTo>
                    <a:pt x="0" y="9631681"/>
                  </a:ln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0086" cy="9665462"/>
            </a:xfrm>
            <a:custGeom>
              <a:avLst/>
              <a:gdLst/>
              <a:ahLst/>
              <a:cxnLst/>
              <a:rect r="r" b="b" t="t" l="l"/>
              <a:pathLst>
                <a:path h="966546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9648572"/>
                  </a:lnTo>
                  <a:cubicBezTo>
                    <a:pt x="180086" y="9657969"/>
                    <a:pt x="172466" y="9665462"/>
                    <a:pt x="163195" y="9665462"/>
                  </a:cubicBezTo>
                  <a:lnTo>
                    <a:pt x="16891" y="9665462"/>
                  </a:lnTo>
                  <a:cubicBezTo>
                    <a:pt x="7493" y="9665462"/>
                    <a:pt x="0" y="9657842"/>
                    <a:pt x="0" y="96485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48572"/>
                  </a:lnTo>
                  <a:lnTo>
                    <a:pt x="16891" y="9648572"/>
                  </a:lnTo>
                  <a:lnTo>
                    <a:pt x="16891" y="9631680"/>
                  </a:lnTo>
                  <a:lnTo>
                    <a:pt x="163195" y="9631680"/>
                  </a:lnTo>
                  <a:lnTo>
                    <a:pt x="163195" y="9648572"/>
                  </a:lnTo>
                  <a:lnTo>
                    <a:pt x="146304" y="9648572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149840" y="2157984"/>
            <a:ext cx="7040880" cy="694944"/>
            <a:chOff x="0" y="0"/>
            <a:chExt cx="9387840" cy="926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387840" cy="926592"/>
            </a:xfrm>
            <a:custGeom>
              <a:avLst/>
              <a:gdLst/>
              <a:ahLst/>
              <a:cxnLst/>
              <a:rect r="r" b="b" t="t" l="l"/>
              <a:pathLst>
                <a:path h="926592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414" r="0" b="-14741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3878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  Our Solution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149840" y="3035808"/>
            <a:ext cx="7040880" cy="731520"/>
            <a:chOff x="0" y="0"/>
            <a:chExt cx="9387840" cy="975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387840" cy="975360"/>
            </a:xfrm>
            <a:custGeom>
              <a:avLst/>
              <a:gdLst/>
              <a:ahLst/>
              <a:cxnLst/>
              <a:rect r="r" b="b" t="t" l="l"/>
              <a:pathLst>
                <a:path h="9753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387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  </a:t>
              </a: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 predefined plans across 3 smart tiers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149840" y="3931920"/>
            <a:ext cx="7040880" cy="731520"/>
            <a:chOff x="0" y="0"/>
            <a:chExt cx="9387840" cy="9753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387840" cy="975360"/>
            </a:xfrm>
            <a:custGeom>
              <a:avLst/>
              <a:gdLst/>
              <a:ahLst/>
              <a:cxnLst/>
              <a:rect r="r" b="b" t="t" l="l"/>
              <a:pathLst>
                <a:path h="9753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9387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  </a:t>
              </a: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5-factor risk-based premium underwriting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149840" y="4828032"/>
            <a:ext cx="7040880" cy="731520"/>
            <a:chOff x="0" y="0"/>
            <a:chExt cx="9387840" cy="9753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387840" cy="975360"/>
            </a:xfrm>
            <a:custGeom>
              <a:avLst/>
              <a:gdLst/>
              <a:ahLst/>
              <a:cxnLst/>
              <a:rect r="r" b="b" t="t" l="l"/>
              <a:pathLst>
                <a:path h="9753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9387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  </a:t>
              </a: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Dual purchase paths: Recommend &amp; Direct Buy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149840" y="5724144"/>
            <a:ext cx="7040880" cy="731520"/>
            <a:chOff x="0" y="0"/>
            <a:chExt cx="9387840" cy="9753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387840" cy="975360"/>
            </a:xfrm>
            <a:custGeom>
              <a:avLst/>
              <a:gdLst/>
              <a:ahLst/>
              <a:cxnLst/>
              <a:rect r="r" b="b" t="t" l="l"/>
              <a:pathLst>
                <a:path h="9753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9387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  </a:t>
              </a: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Structured claim processing with auto-payout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149840" y="6620256"/>
            <a:ext cx="7040880" cy="731520"/>
            <a:chOff x="0" y="0"/>
            <a:chExt cx="9387840" cy="9753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387840" cy="975360"/>
            </a:xfrm>
            <a:custGeom>
              <a:avLst/>
              <a:gdLst/>
              <a:ahLst/>
              <a:cxnLst/>
              <a:rect r="r" b="b" t="t" l="l"/>
              <a:pathLst>
                <a:path h="9753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9387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  </a:t>
              </a: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Tier-based agent commissions (5% / 7% / 10%)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149840" y="7516368"/>
            <a:ext cx="7040880" cy="731520"/>
            <a:chOff x="0" y="0"/>
            <a:chExt cx="9387840" cy="9753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387840" cy="975360"/>
            </a:xfrm>
            <a:custGeom>
              <a:avLst/>
              <a:gdLst/>
              <a:ahLst/>
              <a:cxnLst/>
              <a:rect r="r" b="b" t="t" l="l"/>
              <a:pathLst>
                <a:path h="9753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9387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  </a:t>
              </a: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employee lifecycle &amp; coverage tracking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449056" y="5120640"/>
            <a:ext cx="1280160" cy="1097280"/>
            <a:chOff x="0" y="0"/>
            <a:chExt cx="1706880" cy="14630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7068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14300"/>
              <a:ext cx="170688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47B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01703" y="9314183"/>
            <a:ext cx="3683003" cy="830075"/>
            <a:chOff x="0" y="0"/>
            <a:chExt cx="4910671" cy="110676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48768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910582" cy="1106680"/>
            </a:xfrm>
            <a:custGeom>
              <a:avLst/>
              <a:gdLst/>
              <a:ahLst/>
              <a:cxnLst/>
              <a:rect r="r" b="b" t="t" l="l"/>
              <a:pathLst>
                <a:path h="1106680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089787"/>
                  </a:lnTo>
                  <a:cubicBezTo>
                    <a:pt x="4910582" y="1099185"/>
                    <a:pt x="4902962" y="1106678"/>
                    <a:pt x="489369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4893691" y="1072896"/>
                  </a:lnTo>
                  <a:lnTo>
                    <a:pt x="4893691" y="1089787"/>
                  </a:lnTo>
                  <a:lnTo>
                    <a:pt x="4876800" y="1089787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14400" y="9326880"/>
            <a:ext cx="3657600" cy="475488"/>
            <a:chOff x="0" y="0"/>
            <a:chExt cx="4876800" cy="63398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876800" cy="633984"/>
            </a:xfrm>
            <a:custGeom>
              <a:avLst/>
              <a:gdLst/>
              <a:ahLst/>
              <a:cxnLst/>
              <a:rect r="r" b="b" t="t" l="l"/>
              <a:pathLst>
                <a:path h="63398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48768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47B2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14400" y="9802368"/>
            <a:ext cx="3657600" cy="329184"/>
            <a:chOff x="0" y="0"/>
            <a:chExt cx="4876800" cy="43891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876800" cy="438912"/>
            </a:xfrm>
            <a:custGeom>
              <a:avLst/>
              <a:gdLst/>
              <a:ahLst/>
              <a:cxnLst/>
              <a:rect r="r" b="b" t="t" l="l"/>
              <a:pathLst>
                <a:path h="43891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8768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Insurance Plans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016503" y="9314183"/>
            <a:ext cx="3683003" cy="830075"/>
            <a:chOff x="0" y="0"/>
            <a:chExt cx="4910671" cy="110676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48768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910582" cy="1106680"/>
            </a:xfrm>
            <a:custGeom>
              <a:avLst/>
              <a:gdLst/>
              <a:ahLst/>
              <a:cxnLst/>
              <a:rect r="r" b="b" t="t" l="l"/>
              <a:pathLst>
                <a:path h="1106680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089787"/>
                  </a:lnTo>
                  <a:cubicBezTo>
                    <a:pt x="4910582" y="1099185"/>
                    <a:pt x="4902962" y="1106678"/>
                    <a:pt x="489369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4893691" y="1072896"/>
                  </a:lnTo>
                  <a:lnTo>
                    <a:pt x="4893691" y="1089787"/>
                  </a:lnTo>
                  <a:lnTo>
                    <a:pt x="4876800" y="1089787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5029200" y="9326880"/>
            <a:ext cx="3657600" cy="475488"/>
            <a:chOff x="0" y="0"/>
            <a:chExt cx="4876800" cy="6339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876800" cy="633984"/>
            </a:xfrm>
            <a:custGeom>
              <a:avLst/>
              <a:gdLst/>
              <a:ahLst/>
              <a:cxnLst/>
              <a:rect r="r" b="b" t="t" l="l"/>
              <a:pathLst>
                <a:path h="63398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48768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47B2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5029200" y="9802368"/>
            <a:ext cx="3657600" cy="329184"/>
            <a:chOff x="0" y="0"/>
            <a:chExt cx="4876800" cy="43891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876800" cy="438912"/>
            </a:xfrm>
            <a:custGeom>
              <a:avLst/>
              <a:gdLst/>
              <a:ahLst/>
              <a:cxnLst/>
              <a:rect r="r" b="b" t="t" l="l"/>
              <a:pathLst>
                <a:path h="43891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48768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Roles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131303" y="9314183"/>
            <a:ext cx="3683003" cy="830075"/>
            <a:chOff x="0" y="0"/>
            <a:chExt cx="4910671" cy="110676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48768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910582" cy="1106680"/>
            </a:xfrm>
            <a:custGeom>
              <a:avLst/>
              <a:gdLst/>
              <a:ahLst/>
              <a:cxnLst/>
              <a:rect r="r" b="b" t="t" l="l"/>
              <a:pathLst>
                <a:path h="1106680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089787"/>
                  </a:lnTo>
                  <a:cubicBezTo>
                    <a:pt x="4910582" y="1099185"/>
                    <a:pt x="4902962" y="1106678"/>
                    <a:pt x="489369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4893691" y="1072896"/>
                  </a:lnTo>
                  <a:lnTo>
                    <a:pt x="4893691" y="1089787"/>
                  </a:lnTo>
                  <a:lnTo>
                    <a:pt x="4876800" y="1089787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144000" y="9326880"/>
            <a:ext cx="3657600" cy="475488"/>
            <a:chOff x="0" y="0"/>
            <a:chExt cx="4876800" cy="63398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876800" cy="633984"/>
            </a:xfrm>
            <a:custGeom>
              <a:avLst/>
              <a:gdLst/>
              <a:ahLst/>
              <a:cxnLst/>
              <a:rect r="r" b="b" t="t" l="l"/>
              <a:pathLst>
                <a:path h="63398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48768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47B2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144000" y="9802368"/>
            <a:ext cx="3657600" cy="329184"/>
            <a:chOff x="0" y="0"/>
            <a:chExt cx="4876800" cy="43891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876800" cy="438912"/>
            </a:xfrm>
            <a:custGeom>
              <a:avLst/>
              <a:gdLst/>
              <a:ahLst/>
              <a:cxnLst/>
              <a:rect r="r" b="b" t="t" l="l"/>
              <a:pathLst>
                <a:path h="43891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8768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Claim Types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246103" y="9314183"/>
            <a:ext cx="3683003" cy="830075"/>
            <a:chOff x="0" y="0"/>
            <a:chExt cx="4910671" cy="110676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48768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910582" cy="1106680"/>
            </a:xfrm>
            <a:custGeom>
              <a:avLst/>
              <a:gdLst/>
              <a:ahLst/>
              <a:cxnLst/>
              <a:rect r="r" b="b" t="t" l="l"/>
              <a:pathLst>
                <a:path h="1106680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089787"/>
                  </a:lnTo>
                  <a:cubicBezTo>
                    <a:pt x="4910582" y="1099185"/>
                    <a:pt x="4902962" y="1106678"/>
                    <a:pt x="489369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4893691" y="1072896"/>
                  </a:lnTo>
                  <a:lnTo>
                    <a:pt x="4893691" y="1089787"/>
                  </a:lnTo>
                  <a:lnTo>
                    <a:pt x="4876800" y="1089787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3258800" y="9326880"/>
            <a:ext cx="3657600" cy="475488"/>
            <a:chOff x="0" y="0"/>
            <a:chExt cx="4876800" cy="63398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876800" cy="633984"/>
            </a:xfrm>
            <a:custGeom>
              <a:avLst/>
              <a:gdLst/>
              <a:ahLst/>
              <a:cxnLst/>
              <a:rect r="r" b="b" t="t" l="l"/>
              <a:pathLst>
                <a:path h="63398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28575"/>
              <a:ext cx="487680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47B2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3258800" y="9802368"/>
            <a:ext cx="3657600" cy="329184"/>
            <a:chOff x="0" y="0"/>
            <a:chExt cx="4876800" cy="43891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876800" cy="438912"/>
            </a:xfrm>
            <a:custGeom>
              <a:avLst/>
              <a:gdLst/>
              <a:ahLst/>
              <a:cxnLst/>
              <a:rect r="r" b="b" t="t" l="l"/>
              <a:pathLst>
                <a:path h="43891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48768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Risk Factors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365760"/>
            <a:ext cx="16459200" cy="950976"/>
            <a:chOff x="0" y="0"/>
            <a:chExt cx="21945600" cy="12679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94560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A2B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User Roles &amp; Responsibilities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353312"/>
            <a:ext cx="16459200" cy="512064"/>
            <a:chOff x="0" y="0"/>
            <a:chExt cx="2194560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19456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Four distinct roles with role-based access control (JWT + RBAC)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9367" y="2035559"/>
            <a:ext cx="4048763" cy="7889243"/>
            <a:chOff x="0" y="0"/>
            <a:chExt cx="5398351" cy="105189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36448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98262" cy="10518901"/>
            </a:xfrm>
            <a:custGeom>
              <a:avLst/>
              <a:gdLst/>
              <a:ahLst/>
              <a:cxnLst/>
              <a:rect r="r" b="b" t="t" l="l"/>
              <a:pathLst>
                <a:path h="10518901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0502011"/>
                  </a:lnTo>
                  <a:cubicBezTo>
                    <a:pt x="5398262" y="10511409"/>
                    <a:pt x="5390642" y="10518901"/>
                    <a:pt x="5381371" y="10518901"/>
                  </a:cubicBezTo>
                  <a:lnTo>
                    <a:pt x="16891" y="10518901"/>
                  </a:lnTo>
                  <a:cubicBezTo>
                    <a:pt x="7493" y="10518901"/>
                    <a:pt x="0" y="10511282"/>
                    <a:pt x="0" y="10502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502011"/>
                  </a:lnTo>
                  <a:lnTo>
                    <a:pt x="16891" y="10502011"/>
                  </a:lnTo>
                  <a:lnTo>
                    <a:pt x="16891" y="10485120"/>
                  </a:lnTo>
                  <a:lnTo>
                    <a:pt x="5381371" y="10485120"/>
                  </a:lnTo>
                  <a:lnTo>
                    <a:pt x="5381371" y="10502011"/>
                  </a:lnTo>
                  <a:lnTo>
                    <a:pt x="5364480" y="1050201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99367" y="2035559"/>
            <a:ext cx="4048763" cy="1451867"/>
            <a:chOff x="0" y="0"/>
            <a:chExt cx="5398351" cy="19358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5364480" cy="1901952"/>
            </a:xfrm>
            <a:custGeom>
              <a:avLst/>
              <a:gdLst/>
              <a:ahLst/>
              <a:cxnLst/>
              <a:rect r="r" b="b" t="t" l="l"/>
              <a:pathLst>
                <a:path h="19019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98262" cy="1935734"/>
            </a:xfrm>
            <a:custGeom>
              <a:avLst/>
              <a:gdLst/>
              <a:ahLst/>
              <a:cxnLst/>
              <a:rect r="r" b="b" t="t" l="l"/>
              <a:pathLst>
                <a:path h="193573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918843"/>
                  </a:lnTo>
                  <a:cubicBezTo>
                    <a:pt x="5398262" y="1928241"/>
                    <a:pt x="5390642" y="1935734"/>
                    <a:pt x="538137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5381371" y="1901952"/>
                  </a:lnTo>
                  <a:lnTo>
                    <a:pt x="5381371" y="1918843"/>
                  </a:lnTo>
                  <a:lnTo>
                    <a:pt x="5364480" y="191884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12064" y="2084832"/>
            <a:ext cx="4023360" cy="731520"/>
            <a:chOff x="0" y="0"/>
            <a:chExt cx="536448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536448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👑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12064" y="2816352"/>
            <a:ext cx="4023360" cy="640080"/>
            <a:chOff x="0" y="0"/>
            <a:chExt cx="536448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53644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73687" y="3736343"/>
            <a:ext cx="135131" cy="135131"/>
            <a:chOff x="0" y="0"/>
            <a:chExt cx="180175" cy="1801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0086" cy="180088"/>
            </a:xfrm>
            <a:custGeom>
              <a:avLst/>
              <a:gdLst/>
              <a:ahLst/>
              <a:cxnLst/>
              <a:rect r="r" b="b" t="t" l="l"/>
              <a:pathLst>
                <a:path h="18008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3195"/>
                  </a:lnTo>
                  <a:cubicBezTo>
                    <a:pt x="180086" y="172593"/>
                    <a:pt x="172466" y="180086"/>
                    <a:pt x="16319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63195" y="146304"/>
                  </a:lnTo>
                  <a:lnTo>
                    <a:pt x="163195" y="163195"/>
                  </a:lnTo>
                  <a:lnTo>
                    <a:pt x="146304" y="1631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15568" y="3628644"/>
            <a:ext cx="3145536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Single predefined system admin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73687" y="4925063"/>
            <a:ext cx="135131" cy="135131"/>
            <a:chOff x="0" y="0"/>
            <a:chExt cx="180175" cy="18017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0086" cy="180088"/>
            </a:xfrm>
            <a:custGeom>
              <a:avLst/>
              <a:gdLst/>
              <a:ahLst/>
              <a:cxnLst/>
              <a:rect r="r" b="b" t="t" l="l"/>
              <a:pathLst>
                <a:path h="18008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3195"/>
                  </a:lnTo>
                  <a:cubicBezTo>
                    <a:pt x="180086" y="172593"/>
                    <a:pt x="172466" y="180086"/>
                    <a:pt x="16319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63195" y="146304"/>
                  </a:lnTo>
                  <a:lnTo>
                    <a:pt x="163195" y="163195"/>
                  </a:lnTo>
                  <a:lnTo>
                    <a:pt x="146304" y="1631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15568" y="4817364"/>
            <a:ext cx="3145536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Register Agents &amp; Claims Managers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73687" y="6113783"/>
            <a:ext cx="135131" cy="135131"/>
            <a:chOff x="0" y="0"/>
            <a:chExt cx="180175" cy="1801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0086" cy="180088"/>
            </a:xfrm>
            <a:custGeom>
              <a:avLst/>
              <a:gdLst/>
              <a:ahLst/>
              <a:cxnLst/>
              <a:rect r="r" b="b" t="t" l="l"/>
              <a:pathLst>
                <a:path h="18008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3195"/>
                  </a:lnTo>
                  <a:cubicBezTo>
                    <a:pt x="180086" y="172593"/>
                    <a:pt x="172466" y="180086"/>
                    <a:pt x="16319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63195" y="146304"/>
                  </a:lnTo>
                  <a:lnTo>
                    <a:pt x="163195" y="163195"/>
                  </a:lnTo>
                  <a:lnTo>
                    <a:pt x="146304" y="1631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115568" y="6006084"/>
            <a:ext cx="3145536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Manage all 9 policy plans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73687" y="7302503"/>
            <a:ext cx="135131" cy="135131"/>
            <a:chOff x="0" y="0"/>
            <a:chExt cx="180175" cy="1801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0086" cy="180088"/>
            </a:xfrm>
            <a:custGeom>
              <a:avLst/>
              <a:gdLst/>
              <a:ahLst/>
              <a:cxnLst/>
              <a:rect r="r" b="b" t="t" l="l"/>
              <a:pathLst>
                <a:path h="18008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3195"/>
                  </a:lnTo>
                  <a:cubicBezTo>
                    <a:pt x="180086" y="172593"/>
                    <a:pt x="172466" y="180086"/>
                    <a:pt x="16319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63195" y="146304"/>
                  </a:lnTo>
                  <a:lnTo>
                    <a:pt x="163195" y="163195"/>
                  </a:lnTo>
                  <a:lnTo>
                    <a:pt x="146304" y="1631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115568" y="7194804"/>
            <a:ext cx="3145536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View all companies, claims &amp; users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73687" y="8491223"/>
            <a:ext cx="135131" cy="135131"/>
            <a:chOff x="0" y="0"/>
            <a:chExt cx="180175" cy="18017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80086" cy="180088"/>
            </a:xfrm>
            <a:custGeom>
              <a:avLst/>
              <a:gdLst/>
              <a:ahLst/>
              <a:cxnLst/>
              <a:rect r="r" b="b" t="t" l="l"/>
              <a:pathLst>
                <a:path h="18008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3195"/>
                  </a:lnTo>
                  <a:cubicBezTo>
                    <a:pt x="180086" y="172593"/>
                    <a:pt x="172466" y="180086"/>
                    <a:pt x="16319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63195" y="146304"/>
                  </a:lnTo>
                  <a:lnTo>
                    <a:pt x="163195" y="163195"/>
                  </a:lnTo>
                  <a:lnTo>
                    <a:pt x="146304" y="1631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115568" y="8383524"/>
            <a:ext cx="3145536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Delete customers (no active policy)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4851911" y="2035559"/>
            <a:ext cx="4048763" cy="7889243"/>
            <a:chOff x="0" y="0"/>
            <a:chExt cx="5398351" cy="1051899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536448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98262" cy="10518901"/>
            </a:xfrm>
            <a:custGeom>
              <a:avLst/>
              <a:gdLst/>
              <a:ahLst/>
              <a:cxnLst/>
              <a:rect r="r" b="b" t="t" l="l"/>
              <a:pathLst>
                <a:path h="10518901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0502011"/>
                  </a:lnTo>
                  <a:cubicBezTo>
                    <a:pt x="5398262" y="10511409"/>
                    <a:pt x="5390642" y="10518901"/>
                    <a:pt x="5381371" y="10518901"/>
                  </a:cubicBezTo>
                  <a:lnTo>
                    <a:pt x="16891" y="10518901"/>
                  </a:lnTo>
                  <a:cubicBezTo>
                    <a:pt x="7493" y="10518901"/>
                    <a:pt x="0" y="10511282"/>
                    <a:pt x="0" y="10502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502011"/>
                  </a:lnTo>
                  <a:lnTo>
                    <a:pt x="16891" y="10502011"/>
                  </a:lnTo>
                  <a:lnTo>
                    <a:pt x="16891" y="10485120"/>
                  </a:lnTo>
                  <a:lnTo>
                    <a:pt x="5381371" y="10485120"/>
                  </a:lnTo>
                  <a:lnTo>
                    <a:pt x="5381371" y="10502011"/>
                  </a:lnTo>
                  <a:lnTo>
                    <a:pt x="5364480" y="1050201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4851911" y="2035559"/>
            <a:ext cx="4048763" cy="1451867"/>
            <a:chOff x="0" y="0"/>
            <a:chExt cx="5398351" cy="193582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5364480" cy="1901952"/>
            </a:xfrm>
            <a:custGeom>
              <a:avLst/>
              <a:gdLst/>
              <a:ahLst/>
              <a:cxnLst/>
              <a:rect r="r" b="b" t="t" l="l"/>
              <a:pathLst>
                <a:path h="19019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98262" cy="1935734"/>
            </a:xfrm>
            <a:custGeom>
              <a:avLst/>
              <a:gdLst/>
              <a:ahLst/>
              <a:cxnLst/>
              <a:rect r="r" b="b" t="t" l="l"/>
              <a:pathLst>
                <a:path h="193573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918843"/>
                  </a:lnTo>
                  <a:cubicBezTo>
                    <a:pt x="5398262" y="1928241"/>
                    <a:pt x="5390642" y="1935734"/>
                    <a:pt x="538137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5381371" y="1901952"/>
                  </a:lnTo>
                  <a:lnTo>
                    <a:pt x="5381371" y="1918843"/>
                  </a:lnTo>
                  <a:lnTo>
                    <a:pt x="5364480" y="191884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4864608" y="2084832"/>
            <a:ext cx="4023360" cy="731520"/>
            <a:chOff x="0" y="0"/>
            <a:chExt cx="5364480" cy="9753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76200"/>
              <a:ext cx="536448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🤝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4864608" y="2816352"/>
            <a:ext cx="4023360" cy="640080"/>
            <a:chOff x="0" y="0"/>
            <a:chExt cx="5364480" cy="8534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53644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126231" y="3736343"/>
            <a:ext cx="135131" cy="135131"/>
            <a:chOff x="0" y="0"/>
            <a:chExt cx="180175" cy="18017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0086" cy="180088"/>
            </a:xfrm>
            <a:custGeom>
              <a:avLst/>
              <a:gdLst/>
              <a:ahLst/>
              <a:cxnLst/>
              <a:rect r="r" b="b" t="t" l="l"/>
              <a:pathLst>
                <a:path h="18008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3195"/>
                  </a:lnTo>
                  <a:cubicBezTo>
                    <a:pt x="180086" y="172593"/>
                    <a:pt x="172466" y="180086"/>
                    <a:pt x="16319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63195" y="146304"/>
                  </a:lnTo>
                  <a:lnTo>
                    <a:pt x="163195" y="163195"/>
                  </a:lnTo>
                  <a:lnTo>
                    <a:pt x="146304" y="1631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5468112" y="3628644"/>
            <a:ext cx="3145536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Auto-assigned at first company interaction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5126231" y="4925063"/>
            <a:ext cx="135131" cy="135131"/>
            <a:chOff x="0" y="0"/>
            <a:chExt cx="180175" cy="18017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80086" cy="180088"/>
            </a:xfrm>
            <a:custGeom>
              <a:avLst/>
              <a:gdLst/>
              <a:ahLst/>
              <a:cxnLst/>
              <a:rect r="r" b="b" t="t" l="l"/>
              <a:pathLst>
                <a:path h="18008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3195"/>
                  </a:lnTo>
                  <a:cubicBezTo>
                    <a:pt x="180086" y="172593"/>
                    <a:pt x="172466" y="180086"/>
                    <a:pt x="16319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63195" y="146304"/>
                  </a:lnTo>
                  <a:lnTo>
                    <a:pt x="163195" y="163195"/>
                  </a:lnTo>
                  <a:lnTo>
                    <a:pt x="146304" y="1631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5468112" y="4817364"/>
            <a:ext cx="3145536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Handle recommendation requests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5126231" y="6113783"/>
            <a:ext cx="135131" cy="135131"/>
            <a:chOff x="0" y="0"/>
            <a:chExt cx="180175" cy="18017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80086" cy="180088"/>
            </a:xfrm>
            <a:custGeom>
              <a:avLst/>
              <a:gdLst/>
              <a:ahLst/>
              <a:cxnLst/>
              <a:rect r="r" b="b" t="t" l="l"/>
              <a:pathLst>
                <a:path h="18008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3195"/>
                  </a:lnTo>
                  <a:cubicBezTo>
                    <a:pt x="180086" y="172593"/>
                    <a:pt x="172466" y="180086"/>
                    <a:pt x="16319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63195" y="146304"/>
                  </a:lnTo>
                  <a:lnTo>
                    <a:pt x="163195" y="163195"/>
                  </a:lnTo>
                  <a:lnTo>
                    <a:pt x="146304" y="1631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5468112" y="6006084"/>
            <a:ext cx="3145536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Generate 5-factor premium quotes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5126231" y="7302503"/>
            <a:ext cx="135131" cy="135131"/>
            <a:chOff x="0" y="0"/>
            <a:chExt cx="180175" cy="18017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80086" cy="180088"/>
            </a:xfrm>
            <a:custGeom>
              <a:avLst/>
              <a:gdLst/>
              <a:ahLst/>
              <a:cxnLst/>
              <a:rect r="r" b="b" t="t" l="l"/>
              <a:pathLst>
                <a:path h="18008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3195"/>
                  </a:lnTo>
                  <a:cubicBezTo>
                    <a:pt x="180086" y="172593"/>
                    <a:pt x="172466" y="180086"/>
                    <a:pt x="16319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63195" y="146304"/>
                  </a:lnTo>
                  <a:lnTo>
                    <a:pt x="163195" y="163195"/>
                  </a:lnTo>
                  <a:lnTo>
                    <a:pt x="146304" y="1631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5468112" y="7194804"/>
            <a:ext cx="3145536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Send quote to customer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5126231" y="8491223"/>
            <a:ext cx="135131" cy="135131"/>
            <a:chOff x="0" y="0"/>
            <a:chExt cx="180175" cy="18017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80086" cy="180088"/>
            </a:xfrm>
            <a:custGeom>
              <a:avLst/>
              <a:gdLst/>
              <a:ahLst/>
              <a:cxnLst/>
              <a:rect r="r" b="b" t="t" l="l"/>
              <a:pathLst>
                <a:path h="18008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3195"/>
                  </a:lnTo>
                  <a:cubicBezTo>
                    <a:pt x="180086" y="172593"/>
                    <a:pt x="172466" y="180086"/>
                    <a:pt x="16319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63195" y="146304"/>
                  </a:lnTo>
                  <a:lnTo>
                    <a:pt x="163195" y="163195"/>
                  </a:lnTo>
                  <a:lnTo>
                    <a:pt x="146304" y="1631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5468112" y="8383524"/>
            <a:ext cx="3145536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Earn tier-based commission (5/7/10%)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9204455" y="2035559"/>
            <a:ext cx="4048763" cy="7889243"/>
            <a:chOff x="0" y="0"/>
            <a:chExt cx="5398351" cy="1051899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16891" y="16891"/>
              <a:ext cx="536448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398262" cy="10518901"/>
            </a:xfrm>
            <a:custGeom>
              <a:avLst/>
              <a:gdLst/>
              <a:ahLst/>
              <a:cxnLst/>
              <a:rect r="r" b="b" t="t" l="l"/>
              <a:pathLst>
                <a:path h="10518901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0502011"/>
                  </a:lnTo>
                  <a:cubicBezTo>
                    <a:pt x="5398262" y="10511409"/>
                    <a:pt x="5390642" y="10518901"/>
                    <a:pt x="5381371" y="10518901"/>
                  </a:cubicBezTo>
                  <a:lnTo>
                    <a:pt x="16891" y="10518901"/>
                  </a:lnTo>
                  <a:cubicBezTo>
                    <a:pt x="7493" y="10518901"/>
                    <a:pt x="0" y="10511282"/>
                    <a:pt x="0" y="10502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502011"/>
                  </a:lnTo>
                  <a:lnTo>
                    <a:pt x="16891" y="10502011"/>
                  </a:lnTo>
                  <a:lnTo>
                    <a:pt x="16891" y="10485120"/>
                  </a:lnTo>
                  <a:lnTo>
                    <a:pt x="5381371" y="10485120"/>
                  </a:lnTo>
                  <a:lnTo>
                    <a:pt x="5381371" y="10502011"/>
                  </a:lnTo>
                  <a:lnTo>
                    <a:pt x="5364480" y="1050201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204455" y="2035559"/>
            <a:ext cx="4048763" cy="1451867"/>
            <a:chOff x="0" y="0"/>
            <a:chExt cx="5398351" cy="193582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6891" y="16891"/>
              <a:ext cx="5364480" cy="1901952"/>
            </a:xfrm>
            <a:custGeom>
              <a:avLst/>
              <a:gdLst/>
              <a:ahLst/>
              <a:cxnLst/>
              <a:rect r="r" b="b" t="t" l="l"/>
              <a:pathLst>
                <a:path h="19019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398262" cy="1935734"/>
            </a:xfrm>
            <a:custGeom>
              <a:avLst/>
              <a:gdLst/>
              <a:ahLst/>
              <a:cxnLst/>
              <a:rect r="r" b="b" t="t" l="l"/>
              <a:pathLst>
                <a:path h="193573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918843"/>
                  </a:lnTo>
                  <a:cubicBezTo>
                    <a:pt x="5398262" y="1928241"/>
                    <a:pt x="5390642" y="1935734"/>
                    <a:pt x="538137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5381371" y="1901952"/>
                  </a:lnTo>
                  <a:lnTo>
                    <a:pt x="5381371" y="1918843"/>
                  </a:lnTo>
                  <a:lnTo>
                    <a:pt x="5364480" y="191884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217152" y="2084832"/>
            <a:ext cx="4023360" cy="731520"/>
            <a:chOff x="0" y="0"/>
            <a:chExt cx="5364480" cy="97536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76200"/>
              <a:ext cx="536448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⚖️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217152" y="2816352"/>
            <a:ext cx="4023360" cy="640080"/>
            <a:chOff x="0" y="0"/>
            <a:chExt cx="5364480" cy="8534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57150"/>
              <a:ext cx="53644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Claims Manager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478775" y="3736343"/>
            <a:ext cx="135131" cy="135131"/>
            <a:chOff x="0" y="0"/>
            <a:chExt cx="180175" cy="18017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80086" cy="180088"/>
            </a:xfrm>
            <a:custGeom>
              <a:avLst/>
              <a:gdLst/>
              <a:ahLst/>
              <a:cxnLst/>
              <a:rect r="r" b="b" t="t" l="l"/>
              <a:pathLst>
                <a:path h="18008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3195"/>
                  </a:lnTo>
                  <a:cubicBezTo>
                    <a:pt x="180086" y="172593"/>
                    <a:pt x="172466" y="180086"/>
                    <a:pt x="16319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63195" y="146304"/>
                  </a:lnTo>
                  <a:lnTo>
                    <a:pt x="163195" y="163195"/>
                  </a:lnTo>
                  <a:lnTo>
                    <a:pt x="146304" y="1631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90" id="90"/>
          <p:cNvSpPr txBox="true"/>
          <p:nvPr/>
        </p:nvSpPr>
        <p:spPr>
          <a:xfrm rot="0">
            <a:off x="9820656" y="3628644"/>
            <a:ext cx="3145536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Review all submitted claims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9478775" y="4925063"/>
            <a:ext cx="135131" cy="135131"/>
            <a:chOff x="0" y="0"/>
            <a:chExt cx="180175" cy="180175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80086" cy="180088"/>
            </a:xfrm>
            <a:custGeom>
              <a:avLst/>
              <a:gdLst/>
              <a:ahLst/>
              <a:cxnLst/>
              <a:rect r="r" b="b" t="t" l="l"/>
              <a:pathLst>
                <a:path h="18008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3195"/>
                  </a:lnTo>
                  <a:cubicBezTo>
                    <a:pt x="180086" y="172593"/>
                    <a:pt x="172466" y="180086"/>
                    <a:pt x="16319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63195" y="146304"/>
                  </a:lnTo>
                  <a:lnTo>
                    <a:pt x="163195" y="163195"/>
                  </a:lnTo>
                  <a:lnTo>
                    <a:pt x="146304" y="1631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94" id="94"/>
          <p:cNvSpPr txBox="true"/>
          <p:nvPr/>
        </p:nvSpPr>
        <p:spPr>
          <a:xfrm rot="0">
            <a:off x="9820656" y="4817364"/>
            <a:ext cx="3145536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Filter by company / type / status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9478775" y="6113783"/>
            <a:ext cx="135131" cy="135131"/>
            <a:chOff x="0" y="0"/>
            <a:chExt cx="180175" cy="18017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80086" cy="180088"/>
            </a:xfrm>
            <a:custGeom>
              <a:avLst/>
              <a:gdLst/>
              <a:ahLst/>
              <a:cxnLst/>
              <a:rect r="r" b="b" t="t" l="l"/>
              <a:pathLst>
                <a:path h="18008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3195"/>
                  </a:lnTo>
                  <a:cubicBezTo>
                    <a:pt x="180086" y="172593"/>
                    <a:pt x="172466" y="180086"/>
                    <a:pt x="16319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63195" y="146304"/>
                  </a:lnTo>
                  <a:lnTo>
                    <a:pt x="163195" y="163195"/>
                  </a:lnTo>
                  <a:lnTo>
                    <a:pt x="146304" y="1631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98" id="98"/>
          <p:cNvSpPr txBox="true"/>
          <p:nvPr/>
        </p:nvSpPr>
        <p:spPr>
          <a:xfrm rot="0">
            <a:off x="9820656" y="6006084"/>
            <a:ext cx="3145536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See requested vs approved amount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9478775" y="7302503"/>
            <a:ext cx="135131" cy="135131"/>
            <a:chOff x="0" y="0"/>
            <a:chExt cx="180175" cy="18017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80086" cy="180088"/>
            </a:xfrm>
            <a:custGeom>
              <a:avLst/>
              <a:gdLst/>
              <a:ahLst/>
              <a:cxnLst/>
              <a:rect r="r" b="b" t="t" l="l"/>
              <a:pathLst>
                <a:path h="18008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3195"/>
                  </a:lnTo>
                  <a:cubicBezTo>
                    <a:pt x="180086" y="172593"/>
                    <a:pt x="172466" y="180086"/>
                    <a:pt x="16319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63195" y="146304"/>
                  </a:lnTo>
                  <a:lnTo>
                    <a:pt x="163195" y="163195"/>
                  </a:lnTo>
                  <a:lnTo>
                    <a:pt x="146304" y="1631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102" id="102"/>
          <p:cNvSpPr txBox="true"/>
          <p:nvPr/>
        </p:nvSpPr>
        <p:spPr>
          <a:xfrm rot="0">
            <a:off x="9820656" y="7194804"/>
            <a:ext cx="3145536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Approve or reject with remarks</a:t>
            </a:r>
          </a:p>
        </p:txBody>
      </p:sp>
      <p:grpSp>
        <p:nvGrpSpPr>
          <p:cNvPr name="Group 103" id="103"/>
          <p:cNvGrpSpPr/>
          <p:nvPr/>
        </p:nvGrpSpPr>
        <p:grpSpPr>
          <a:xfrm rot="0">
            <a:off x="9478775" y="8491223"/>
            <a:ext cx="135131" cy="135131"/>
            <a:chOff x="0" y="0"/>
            <a:chExt cx="180175" cy="180175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80086" cy="180088"/>
            </a:xfrm>
            <a:custGeom>
              <a:avLst/>
              <a:gdLst/>
              <a:ahLst/>
              <a:cxnLst/>
              <a:rect r="r" b="b" t="t" l="l"/>
              <a:pathLst>
                <a:path h="18008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3195"/>
                  </a:lnTo>
                  <a:cubicBezTo>
                    <a:pt x="180086" y="172593"/>
                    <a:pt x="172466" y="180086"/>
                    <a:pt x="16319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63195" y="146304"/>
                  </a:lnTo>
                  <a:lnTo>
                    <a:pt x="163195" y="163195"/>
                  </a:lnTo>
                  <a:lnTo>
                    <a:pt x="146304" y="1631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106" id="106"/>
          <p:cNvSpPr txBox="true"/>
          <p:nvPr/>
        </p:nvSpPr>
        <p:spPr>
          <a:xfrm rot="0">
            <a:off x="9820656" y="8383524"/>
            <a:ext cx="3145536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System auto-calculates payout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13556999" y="2035559"/>
            <a:ext cx="4048763" cy="7889243"/>
            <a:chOff x="0" y="0"/>
            <a:chExt cx="5398351" cy="1051899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536448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398262" cy="10518901"/>
            </a:xfrm>
            <a:custGeom>
              <a:avLst/>
              <a:gdLst/>
              <a:ahLst/>
              <a:cxnLst/>
              <a:rect r="r" b="b" t="t" l="l"/>
              <a:pathLst>
                <a:path h="10518901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0502011"/>
                  </a:lnTo>
                  <a:cubicBezTo>
                    <a:pt x="5398262" y="10511409"/>
                    <a:pt x="5390642" y="10518901"/>
                    <a:pt x="5381371" y="10518901"/>
                  </a:cubicBezTo>
                  <a:lnTo>
                    <a:pt x="16891" y="10518901"/>
                  </a:lnTo>
                  <a:cubicBezTo>
                    <a:pt x="7493" y="10518901"/>
                    <a:pt x="0" y="10511282"/>
                    <a:pt x="0" y="10502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502011"/>
                  </a:lnTo>
                  <a:lnTo>
                    <a:pt x="16891" y="10502011"/>
                  </a:lnTo>
                  <a:lnTo>
                    <a:pt x="16891" y="10485120"/>
                  </a:lnTo>
                  <a:lnTo>
                    <a:pt x="5381371" y="10485120"/>
                  </a:lnTo>
                  <a:lnTo>
                    <a:pt x="5381371" y="10502011"/>
                  </a:lnTo>
                  <a:lnTo>
                    <a:pt x="5364480" y="1050201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3556999" y="2035559"/>
            <a:ext cx="4048763" cy="1451867"/>
            <a:chOff x="0" y="0"/>
            <a:chExt cx="5398351" cy="1935823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5364480" cy="1901952"/>
            </a:xfrm>
            <a:custGeom>
              <a:avLst/>
              <a:gdLst/>
              <a:ahLst/>
              <a:cxnLst/>
              <a:rect r="r" b="b" t="t" l="l"/>
              <a:pathLst>
                <a:path h="19019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398262" cy="1935734"/>
            </a:xfrm>
            <a:custGeom>
              <a:avLst/>
              <a:gdLst/>
              <a:ahLst/>
              <a:cxnLst/>
              <a:rect r="r" b="b" t="t" l="l"/>
              <a:pathLst>
                <a:path h="193573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918843"/>
                  </a:lnTo>
                  <a:cubicBezTo>
                    <a:pt x="5398262" y="1928241"/>
                    <a:pt x="5390642" y="1935734"/>
                    <a:pt x="538137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5381371" y="1901952"/>
                  </a:lnTo>
                  <a:lnTo>
                    <a:pt x="5381371" y="1918843"/>
                  </a:lnTo>
                  <a:lnTo>
                    <a:pt x="5364480" y="1918843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3569696" y="2084832"/>
            <a:ext cx="4023360" cy="731520"/>
            <a:chOff x="0" y="0"/>
            <a:chExt cx="5364480" cy="97536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76200"/>
              <a:ext cx="536448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🏢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3569696" y="2816352"/>
            <a:ext cx="4023360" cy="640080"/>
            <a:chOff x="0" y="0"/>
            <a:chExt cx="5364480" cy="85344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57150"/>
              <a:ext cx="53644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 (HR)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3831319" y="3736343"/>
            <a:ext cx="135131" cy="135131"/>
            <a:chOff x="0" y="0"/>
            <a:chExt cx="180175" cy="180175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80086" cy="180088"/>
            </a:xfrm>
            <a:custGeom>
              <a:avLst/>
              <a:gdLst/>
              <a:ahLst/>
              <a:cxnLst/>
              <a:rect r="r" b="b" t="t" l="l"/>
              <a:pathLst>
                <a:path h="18008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3195"/>
                  </a:lnTo>
                  <a:cubicBezTo>
                    <a:pt x="180086" y="172593"/>
                    <a:pt x="172466" y="180086"/>
                    <a:pt x="16319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63195" y="146304"/>
                  </a:lnTo>
                  <a:lnTo>
                    <a:pt x="163195" y="163195"/>
                  </a:lnTo>
                  <a:lnTo>
                    <a:pt x="146304" y="1631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sp>
        <p:nvSpPr>
          <p:cNvPr name="TextBox 122" id="122"/>
          <p:cNvSpPr txBox="true"/>
          <p:nvPr/>
        </p:nvSpPr>
        <p:spPr>
          <a:xfrm rot="0">
            <a:off x="14173200" y="3628644"/>
            <a:ext cx="3145536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Register company &amp; view all plans</a:t>
            </a:r>
          </a:p>
        </p:txBody>
      </p:sp>
      <p:grpSp>
        <p:nvGrpSpPr>
          <p:cNvPr name="Group 123" id="123"/>
          <p:cNvGrpSpPr/>
          <p:nvPr/>
        </p:nvGrpSpPr>
        <p:grpSpPr>
          <a:xfrm rot="0">
            <a:off x="13831319" y="4925063"/>
            <a:ext cx="135131" cy="135131"/>
            <a:chOff x="0" y="0"/>
            <a:chExt cx="180175" cy="180175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80086" cy="180088"/>
            </a:xfrm>
            <a:custGeom>
              <a:avLst/>
              <a:gdLst/>
              <a:ahLst/>
              <a:cxnLst/>
              <a:rect r="r" b="b" t="t" l="l"/>
              <a:pathLst>
                <a:path h="18008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3195"/>
                  </a:lnTo>
                  <a:cubicBezTo>
                    <a:pt x="180086" y="172593"/>
                    <a:pt x="172466" y="180086"/>
                    <a:pt x="16319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63195" y="146304"/>
                  </a:lnTo>
                  <a:lnTo>
                    <a:pt x="163195" y="163195"/>
                  </a:lnTo>
                  <a:lnTo>
                    <a:pt x="146304" y="1631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sp>
        <p:nvSpPr>
          <p:cNvPr name="TextBox 126" id="126"/>
          <p:cNvSpPr txBox="true"/>
          <p:nvPr/>
        </p:nvSpPr>
        <p:spPr>
          <a:xfrm rot="0">
            <a:off x="14173200" y="4817364"/>
            <a:ext cx="3145536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Choose Recommend or Direct Buy path</a:t>
            </a:r>
          </a:p>
        </p:txBody>
      </p:sp>
      <p:grpSp>
        <p:nvGrpSpPr>
          <p:cNvPr name="Group 127" id="127"/>
          <p:cNvGrpSpPr/>
          <p:nvPr/>
        </p:nvGrpSpPr>
        <p:grpSpPr>
          <a:xfrm rot="0">
            <a:off x="13831319" y="6113783"/>
            <a:ext cx="135131" cy="135131"/>
            <a:chOff x="0" y="0"/>
            <a:chExt cx="180175" cy="180175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80086" cy="180088"/>
            </a:xfrm>
            <a:custGeom>
              <a:avLst/>
              <a:gdLst/>
              <a:ahLst/>
              <a:cxnLst/>
              <a:rect r="r" b="b" t="t" l="l"/>
              <a:pathLst>
                <a:path h="18008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3195"/>
                  </a:lnTo>
                  <a:cubicBezTo>
                    <a:pt x="180086" y="172593"/>
                    <a:pt x="172466" y="180086"/>
                    <a:pt x="16319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63195" y="146304"/>
                  </a:lnTo>
                  <a:lnTo>
                    <a:pt x="163195" y="163195"/>
                  </a:lnTo>
                  <a:lnTo>
                    <a:pt x="146304" y="1631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sp>
        <p:nvSpPr>
          <p:cNvPr name="TextBox 130" id="130"/>
          <p:cNvSpPr txBox="true"/>
          <p:nvPr/>
        </p:nvSpPr>
        <p:spPr>
          <a:xfrm rot="0">
            <a:off x="14173200" y="6006084"/>
            <a:ext cx="3145536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Manage employee records</a:t>
            </a:r>
          </a:p>
        </p:txBody>
      </p:sp>
      <p:grpSp>
        <p:nvGrpSpPr>
          <p:cNvPr name="Group 131" id="131"/>
          <p:cNvGrpSpPr/>
          <p:nvPr/>
        </p:nvGrpSpPr>
        <p:grpSpPr>
          <a:xfrm rot="0">
            <a:off x="13831319" y="7302503"/>
            <a:ext cx="135131" cy="135131"/>
            <a:chOff x="0" y="0"/>
            <a:chExt cx="180175" cy="180175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80086" cy="180088"/>
            </a:xfrm>
            <a:custGeom>
              <a:avLst/>
              <a:gdLst/>
              <a:ahLst/>
              <a:cxnLst/>
              <a:rect r="r" b="b" t="t" l="l"/>
              <a:pathLst>
                <a:path h="18008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3195"/>
                  </a:lnTo>
                  <a:cubicBezTo>
                    <a:pt x="180086" y="172593"/>
                    <a:pt x="172466" y="180086"/>
                    <a:pt x="16319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63195" y="146304"/>
                  </a:lnTo>
                  <a:lnTo>
                    <a:pt x="163195" y="163195"/>
                  </a:lnTo>
                  <a:lnTo>
                    <a:pt x="146304" y="1631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sp>
        <p:nvSpPr>
          <p:cNvPr name="TextBox 134" id="134"/>
          <p:cNvSpPr txBox="true"/>
          <p:nvPr/>
        </p:nvSpPr>
        <p:spPr>
          <a:xfrm rot="0">
            <a:off x="14173200" y="7194804"/>
            <a:ext cx="3145536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Submit claims for employees</a:t>
            </a:r>
          </a:p>
        </p:txBody>
      </p:sp>
      <p:grpSp>
        <p:nvGrpSpPr>
          <p:cNvPr name="Group 135" id="135"/>
          <p:cNvGrpSpPr/>
          <p:nvPr/>
        </p:nvGrpSpPr>
        <p:grpSpPr>
          <a:xfrm rot="0">
            <a:off x="13831319" y="8491223"/>
            <a:ext cx="135131" cy="135131"/>
            <a:chOff x="0" y="0"/>
            <a:chExt cx="180175" cy="180175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16891" y="16891"/>
              <a:ext cx="146304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180086" cy="180088"/>
            </a:xfrm>
            <a:custGeom>
              <a:avLst/>
              <a:gdLst/>
              <a:ahLst/>
              <a:cxnLst/>
              <a:rect r="r" b="b" t="t" l="l"/>
              <a:pathLst>
                <a:path h="18008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3195"/>
                  </a:lnTo>
                  <a:cubicBezTo>
                    <a:pt x="180086" y="172593"/>
                    <a:pt x="172466" y="180086"/>
                    <a:pt x="16319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63195" y="146304"/>
                  </a:lnTo>
                  <a:lnTo>
                    <a:pt x="163195" y="163195"/>
                  </a:lnTo>
                  <a:lnTo>
                    <a:pt x="146304" y="16319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sp>
        <p:nvSpPr>
          <p:cNvPr name="TextBox 138" id="138"/>
          <p:cNvSpPr txBox="true"/>
          <p:nvPr/>
        </p:nvSpPr>
        <p:spPr>
          <a:xfrm rot="0">
            <a:off x="14173200" y="8383524"/>
            <a:ext cx="3145536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Track claim status &amp; payout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292608"/>
            <a:ext cx="16459200" cy="877824"/>
            <a:chOff x="0" y="0"/>
            <a:chExt cx="21945600" cy="11704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94560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A2B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Policy Architecture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207008"/>
            <a:ext cx="16459200" cy="475488"/>
            <a:chOff x="0" y="0"/>
            <a:chExt cx="21945600" cy="6339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482" r="0" b="-62448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945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 predefined plans across 3 tiers — matched by company size  |  All plans have 1-year duration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9367" y="1816103"/>
            <a:ext cx="5694683" cy="683771"/>
            <a:chOff x="0" y="0"/>
            <a:chExt cx="7592911" cy="9116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559040" cy="877824"/>
            </a:xfrm>
            <a:custGeom>
              <a:avLst/>
              <a:gdLst/>
              <a:ahLst/>
              <a:cxnLst/>
              <a:rect r="r" b="b" t="t" l="l"/>
              <a:pathLst>
                <a:path h="87782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592822" cy="911608"/>
            </a:xfrm>
            <a:custGeom>
              <a:avLst/>
              <a:gdLst/>
              <a:ahLst/>
              <a:cxnLst/>
              <a:rect r="r" b="b" t="t" l="l"/>
              <a:pathLst>
                <a:path h="911608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894715"/>
                  </a:lnTo>
                  <a:cubicBezTo>
                    <a:pt x="7592822" y="904113"/>
                    <a:pt x="7585202" y="911606"/>
                    <a:pt x="757593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7575931" y="877824"/>
                  </a:lnTo>
                  <a:lnTo>
                    <a:pt x="7575931" y="894715"/>
                  </a:lnTo>
                  <a:lnTo>
                    <a:pt x="7559040" y="894715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12064" y="1828800"/>
            <a:ext cx="5669280" cy="658368"/>
            <a:chOff x="0" y="0"/>
            <a:chExt cx="7559040" cy="8778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59040" cy="877824"/>
            </a:xfrm>
            <a:custGeom>
              <a:avLst/>
              <a:gdLst/>
              <a:ahLst/>
              <a:cxnLst/>
              <a:rect r="r" b="b" t="t" l="l"/>
              <a:pathLst>
                <a:path h="87782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787" r="0" b="-11778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5590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ESSENTIAL  (Min 10 emp)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97831" y="1816103"/>
            <a:ext cx="5694683" cy="683771"/>
            <a:chOff x="0" y="0"/>
            <a:chExt cx="7592911" cy="9116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559040" cy="877824"/>
            </a:xfrm>
            <a:custGeom>
              <a:avLst/>
              <a:gdLst/>
              <a:ahLst/>
              <a:cxnLst/>
              <a:rect r="r" b="b" t="t" l="l"/>
              <a:pathLst>
                <a:path h="87782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592822" cy="911608"/>
            </a:xfrm>
            <a:custGeom>
              <a:avLst/>
              <a:gdLst/>
              <a:ahLst/>
              <a:cxnLst/>
              <a:rect r="r" b="b" t="t" l="l"/>
              <a:pathLst>
                <a:path h="911608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894715"/>
                  </a:lnTo>
                  <a:cubicBezTo>
                    <a:pt x="7592822" y="904113"/>
                    <a:pt x="7585202" y="911606"/>
                    <a:pt x="757593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7575931" y="877824"/>
                  </a:lnTo>
                  <a:lnTo>
                    <a:pt x="7575931" y="894715"/>
                  </a:lnTo>
                  <a:lnTo>
                    <a:pt x="7559040" y="894715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510528" y="1828800"/>
            <a:ext cx="5669280" cy="658368"/>
            <a:chOff x="0" y="0"/>
            <a:chExt cx="7559040" cy="8778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59040" cy="877824"/>
            </a:xfrm>
            <a:custGeom>
              <a:avLst/>
              <a:gdLst/>
              <a:ahLst/>
              <a:cxnLst/>
              <a:rect r="r" b="b" t="t" l="l"/>
              <a:pathLst>
                <a:path h="87782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787" r="0" b="-11778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5590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ENHANCED  (Min 80 emp)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496295" y="1816103"/>
            <a:ext cx="5694683" cy="683771"/>
            <a:chOff x="0" y="0"/>
            <a:chExt cx="7592911" cy="9116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7559040" cy="877824"/>
            </a:xfrm>
            <a:custGeom>
              <a:avLst/>
              <a:gdLst/>
              <a:ahLst/>
              <a:cxnLst/>
              <a:rect r="r" b="b" t="t" l="l"/>
              <a:pathLst>
                <a:path h="87782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C45A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92822" cy="911608"/>
            </a:xfrm>
            <a:custGeom>
              <a:avLst/>
              <a:gdLst/>
              <a:ahLst/>
              <a:cxnLst/>
              <a:rect r="r" b="b" t="t" l="l"/>
              <a:pathLst>
                <a:path h="911608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894715"/>
                  </a:lnTo>
                  <a:cubicBezTo>
                    <a:pt x="7592822" y="904113"/>
                    <a:pt x="7585202" y="911606"/>
                    <a:pt x="757593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7575931" y="877824"/>
                  </a:lnTo>
                  <a:lnTo>
                    <a:pt x="7575931" y="894715"/>
                  </a:lnTo>
                  <a:lnTo>
                    <a:pt x="7559040" y="894715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45A0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508992" y="1828800"/>
            <a:ext cx="5669280" cy="658368"/>
            <a:chOff x="0" y="0"/>
            <a:chExt cx="7559040" cy="8778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59040" cy="877824"/>
            </a:xfrm>
            <a:custGeom>
              <a:avLst/>
              <a:gdLst/>
              <a:ahLst/>
              <a:cxnLst/>
              <a:rect r="r" b="b" t="t" l="l"/>
              <a:pathLst>
                <a:path h="877824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787" r="0" b="-11778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75590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ENTERPRISE  (Min 200 emp)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99367" y="2511047"/>
            <a:ext cx="17289275" cy="647195"/>
            <a:chOff x="0" y="0"/>
            <a:chExt cx="23052367" cy="86292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23018497" cy="829056"/>
            </a:xfrm>
            <a:custGeom>
              <a:avLst/>
              <a:gdLst/>
              <a:ahLst/>
              <a:cxnLst/>
              <a:rect r="r" b="b" t="t" l="l"/>
              <a:pathLst>
                <a:path h="82905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E8EDF5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052278" cy="862840"/>
            </a:xfrm>
            <a:custGeom>
              <a:avLst/>
              <a:gdLst/>
              <a:ahLst/>
              <a:cxnLst/>
              <a:rect r="r" b="b" t="t" l="l"/>
              <a:pathLst>
                <a:path h="86284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845947"/>
                  </a:lnTo>
                  <a:cubicBezTo>
                    <a:pt x="23052278" y="855345"/>
                    <a:pt x="23044658" y="862838"/>
                    <a:pt x="23035388" y="862838"/>
                  </a:cubicBezTo>
                  <a:lnTo>
                    <a:pt x="16891" y="862838"/>
                  </a:lnTo>
                  <a:cubicBezTo>
                    <a:pt x="7620" y="862965"/>
                    <a:pt x="0" y="855345"/>
                    <a:pt x="0" y="8459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45947"/>
                  </a:lnTo>
                  <a:lnTo>
                    <a:pt x="16891" y="845947"/>
                  </a:lnTo>
                  <a:lnTo>
                    <a:pt x="16891" y="829056"/>
                  </a:lnTo>
                  <a:lnTo>
                    <a:pt x="23035388" y="829056"/>
                  </a:lnTo>
                  <a:lnTo>
                    <a:pt x="23035388" y="845947"/>
                  </a:lnTo>
                  <a:lnTo>
                    <a:pt x="23018497" y="84594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48640" y="2560320"/>
            <a:ext cx="1188720" cy="548640"/>
            <a:chOff x="0" y="0"/>
            <a:chExt cx="158496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8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584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773936" y="2560320"/>
            <a:ext cx="2011680" cy="548640"/>
            <a:chOff x="0" y="0"/>
            <a:chExt cx="268224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682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Health Cover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822192" y="2560320"/>
            <a:ext cx="1316736" cy="548640"/>
            <a:chOff x="0" y="0"/>
            <a:chExt cx="1755648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55648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75564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Life Mult.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175504" y="2560320"/>
            <a:ext cx="1316736" cy="548640"/>
            <a:chOff x="0" y="0"/>
            <a:chExt cx="1755648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55648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75564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Life Cap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528816" y="2560320"/>
            <a:ext cx="1792224" cy="548640"/>
            <a:chOff x="0" y="0"/>
            <a:chExt cx="2389632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389632" cy="731520"/>
            </a:xfrm>
            <a:custGeom>
              <a:avLst/>
              <a:gdLst/>
              <a:ahLst/>
              <a:cxnLst/>
              <a:rect r="r" b="b" t="t" l="l"/>
              <a:pathLst>
                <a:path h="731520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51" r="0" b="-1365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38963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Accident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357616" y="2560320"/>
            <a:ext cx="1755648" cy="548640"/>
            <a:chOff x="0" y="0"/>
            <a:chExt cx="2340864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340864" cy="731520"/>
            </a:xfrm>
            <a:custGeom>
              <a:avLst/>
              <a:gdLst/>
              <a:ahLst/>
              <a:cxnLst/>
              <a:rect r="r" b="b" t="t" l="l"/>
              <a:pathLst>
                <a:path h="731520" w="2340864">
                  <a:moveTo>
                    <a:pt x="0" y="0"/>
                  </a:moveTo>
                  <a:lnTo>
                    <a:pt x="2340864" y="0"/>
                  </a:lnTo>
                  <a:lnTo>
                    <a:pt x="234086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340864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Rate/Emp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149840" y="2560320"/>
            <a:ext cx="1188720" cy="548640"/>
            <a:chOff x="0" y="0"/>
            <a:chExt cx="158496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84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584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375136" y="2560320"/>
            <a:ext cx="1920240" cy="548640"/>
            <a:chOff x="0" y="0"/>
            <a:chExt cx="256032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560320" cy="731520"/>
            </a:xfrm>
            <a:custGeom>
              <a:avLst/>
              <a:gdLst/>
              <a:ahLst/>
              <a:cxnLst/>
              <a:rect r="r" b="b" t="t" l="l"/>
              <a:pathLst>
                <a:path h="73152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5603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Health Cover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331952" y="2560320"/>
            <a:ext cx="1280160" cy="548640"/>
            <a:chOff x="0" y="0"/>
            <a:chExt cx="170688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0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7068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Life Mult.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648688" y="2560320"/>
            <a:ext cx="1280160" cy="548640"/>
            <a:chOff x="0" y="0"/>
            <a:chExt cx="170688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70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7068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Life Cap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5965424" y="2560320"/>
            <a:ext cx="1773936" cy="548640"/>
            <a:chOff x="0" y="0"/>
            <a:chExt cx="2365248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365248" cy="731520"/>
            </a:xfrm>
            <a:custGeom>
              <a:avLst/>
              <a:gdLst/>
              <a:ahLst/>
              <a:cxnLst/>
              <a:rect r="r" b="b" t="t" l="l"/>
              <a:pathLst>
                <a:path h="731520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001" r="0" b="-130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36524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Rate/Emp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996421" y="2498341"/>
            <a:ext cx="50797" cy="7548877"/>
            <a:chOff x="0" y="0"/>
            <a:chExt cx="67729" cy="1006516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33909"/>
              <a:ext cx="67691" cy="9997440"/>
            </a:xfrm>
            <a:custGeom>
              <a:avLst/>
              <a:gdLst/>
              <a:ahLst/>
              <a:cxnLst/>
              <a:rect r="r" b="b" t="t" l="l"/>
              <a:pathLst>
                <a:path h="9997440" w="67691">
                  <a:moveTo>
                    <a:pt x="67691" y="0"/>
                  </a:moveTo>
                  <a:lnTo>
                    <a:pt x="67691" y="9997440"/>
                  </a:lnTo>
                  <a:lnTo>
                    <a:pt x="0" y="9997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499367" y="3169415"/>
            <a:ext cx="9498587" cy="830075"/>
            <a:chOff x="0" y="0"/>
            <a:chExt cx="12664783" cy="110676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12630912" cy="1072896"/>
            </a:xfrm>
            <a:custGeom>
              <a:avLst/>
              <a:gdLst/>
              <a:ahLst/>
              <a:cxnLst/>
              <a:rect r="r" b="b" t="t" l="l"/>
              <a:pathLst>
                <a:path h="1072896" w="12630912">
                  <a:moveTo>
                    <a:pt x="0" y="0"/>
                  </a:moveTo>
                  <a:lnTo>
                    <a:pt x="12630912" y="0"/>
                  </a:lnTo>
                  <a:lnTo>
                    <a:pt x="12630912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2664694" cy="1106680"/>
            </a:xfrm>
            <a:custGeom>
              <a:avLst/>
              <a:gdLst/>
              <a:ahLst/>
              <a:cxnLst/>
              <a:rect r="r" b="b" t="t" l="l"/>
              <a:pathLst>
                <a:path h="1106680" w="12664694">
                  <a:moveTo>
                    <a:pt x="16891" y="0"/>
                  </a:moveTo>
                  <a:lnTo>
                    <a:pt x="12647803" y="0"/>
                  </a:lnTo>
                  <a:cubicBezTo>
                    <a:pt x="12657201" y="0"/>
                    <a:pt x="12664694" y="7620"/>
                    <a:pt x="12664694" y="16891"/>
                  </a:cubicBezTo>
                  <a:lnTo>
                    <a:pt x="12664694" y="1089787"/>
                  </a:lnTo>
                  <a:cubicBezTo>
                    <a:pt x="12664694" y="1099185"/>
                    <a:pt x="12657074" y="1106678"/>
                    <a:pt x="12647803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12647803" y="1072896"/>
                  </a:lnTo>
                  <a:lnTo>
                    <a:pt x="12647803" y="1089787"/>
                  </a:lnTo>
                  <a:lnTo>
                    <a:pt x="12630912" y="1089787"/>
                  </a:lnTo>
                  <a:lnTo>
                    <a:pt x="12630912" y="16891"/>
                  </a:lnTo>
                  <a:lnTo>
                    <a:pt x="12647803" y="16891"/>
                  </a:lnTo>
                  <a:lnTo>
                    <a:pt x="12647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535943" y="3315719"/>
            <a:ext cx="1159259" cy="537467"/>
            <a:chOff x="0" y="0"/>
            <a:chExt cx="1545679" cy="71662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64748B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545590" cy="716536"/>
            </a:xfrm>
            <a:custGeom>
              <a:avLst/>
              <a:gdLst/>
              <a:ahLst/>
              <a:cxnLst/>
              <a:rect r="r" b="b" t="t" l="l"/>
              <a:pathLst>
                <a:path h="716536" w="1545590">
                  <a:moveTo>
                    <a:pt x="16891" y="0"/>
                  </a:moveTo>
                  <a:lnTo>
                    <a:pt x="1528699" y="0"/>
                  </a:lnTo>
                  <a:cubicBezTo>
                    <a:pt x="1538097" y="0"/>
                    <a:pt x="1545590" y="7620"/>
                    <a:pt x="1545590" y="16891"/>
                  </a:cubicBezTo>
                  <a:lnTo>
                    <a:pt x="1545590" y="699643"/>
                  </a:lnTo>
                  <a:cubicBezTo>
                    <a:pt x="1545590" y="709041"/>
                    <a:pt x="1537970" y="716534"/>
                    <a:pt x="1528699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528699" y="682752"/>
                  </a:lnTo>
                  <a:lnTo>
                    <a:pt x="1528699" y="699643"/>
                  </a:lnTo>
                  <a:lnTo>
                    <a:pt x="1511808" y="699643"/>
                  </a:lnTo>
                  <a:lnTo>
                    <a:pt x="1511808" y="16891"/>
                  </a:lnTo>
                  <a:lnTo>
                    <a:pt x="1528699" y="16891"/>
                  </a:lnTo>
                  <a:lnTo>
                    <a:pt x="15286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548640" y="3328416"/>
            <a:ext cx="1133856" cy="512064"/>
            <a:chOff x="0" y="0"/>
            <a:chExt cx="1511808" cy="68275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151180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773936" y="3182112"/>
            <a:ext cx="2011680" cy="841248"/>
            <a:chOff x="0" y="0"/>
            <a:chExt cx="2682240" cy="112166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6822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54" t="0" r="-3654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268224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₹2,00,000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3822192" y="3182112"/>
            <a:ext cx="1316736" cy="841248"/>
            <a:chOff x="0" y="0"/>
            <a:chExt cx="1755648" cy="112166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7556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971" t="0" r="-31971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1755648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5175504" y="3182112"/>
            <a:ext cx="1316736" cy="841248"/>
            <a:chOff x="0" y="0"/>
            <a:chExt cx="1755648" cy="112166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7556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971" t="0" r="-31971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1755648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528816" y="3182112"/>
            <a:ext cx="1792224" cy="841248"/>
            <a:chOff x="0" y="0"/>
            <a:chExt cx="2389632" cy="112166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389632" cy="1121664"/>
            </a:xfrm>
            <a:custGeom>
              <a:avLst/>
              <a:gdLst/>
              <a:ahLst/>
              <a:cxnLst/>
              <a:rect r="r" b="b" t="t" l="l"/>
              <a:pathLst>
                <a:path h="1121664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224" t="0" r="-10224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2389632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8357616" y="3182112"/>
            <a:ext cx="1755648" cy="841248"/>
            <a:chOff x="0" y="0"/>
            <a:chExt cx="2340864" cy="112166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3408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2340864">
                  <a:moveTo>
                    <a:pt x="0" y="0"/>
                  </a:moveTo>
                  <a:lnTo>
                    <a:pt x="2340864" y="0"/>
                  </a:lnTo>
                  <a:lnTo>
                    <a:pt x="2340864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478" t="0" r="-11478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2340864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₹3,000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499367" y="4010663"/>
            <a:ext cx="9498587" cy="830075"/>
            <a:chOff x="0" y="0"/>
            <a:chExt cx="12664783" cy="1106767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6891" y="16891"/>
              <a:ext cx="12630912" cy="1072896"/>
            </a:xfrm>
            <a:custGeom>
              <a:avLst/>
              <a:gdLst/>
              <a:ahLst/>
              <a:cxnLst/>
              <a:rect r="r" b="b" t="t" l="l"/>
              <a:pathLst>
                <a:path h="1072896" w="12630912">
                  <a:moveTo>
                    <a:pt x="0" y="0"/>
                  </a:moveTo>
                  <a:lnTo>
                    <a:pt x="12630912" y="0"/>
                  </a:lnTo>
                  <a:lnTo>
                    <a:pt x="12630912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2664694" cy="1106680"/>
            </a:xfrm>
            <a:custGeom>
              <a:avLst/>
              <a:gdLst/>
              <a:ahLst/>
              <a:cxnLst/>
              <a:rect r="r" b="b" t="t" l="l"/>
              <a:pathLst>
                <a:path h="1106680" w="12664694">
                  <a:moveTo>
                    <a:pt x="16891" y="0"/>
                  </a:moveTo>
                  <a:lnTo>
                    <a:pt x="12647803" y="0"/>
                  </a:lnTo>
                  <a:cubicBezTo>
                    <a:pt x="12657201" y="0"/>
                    <a:pt x="12664694" y="7620"/>
                    <a:pt x="12664694" y="16891"/>
                  </a:cubicBezTo>
                  <a:lnTo>
                    <a:pt x="12664694" y="1089787"/>
                  </a:lnTo>
                  <a:cubicBezTo>
                    <a:pt x="12664694" y="1099185"/>
                    <a:pt x="12657074" y="1106678"/>
                    <a:pt x="12647803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12647803" y="1072896"/>
                  </a:lnTo>
                  <a:lnTo>
                    <a:pt x="12647803" y="1089787"/>
                  </a:lnTo>
                  <a:lnTo>
                    <a:pt x="12630912" y="1089787"/>
                  </a:lnTo>
                  <a:lnTo>
                    <a:pt x="12630912" y="16891"/>
                  </a:lnTo>
                  <a:lnTo>
                    <a:pt x="12647803" y="16891"/>
                  </a:lnTo>
                  <a:lnTo>
                    <a:pt x="12647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535943" y="4156967"/>
            <a:ext cx="1159259" cy="537467"/>
            <a:chOff x="0" y="0"/>
            <a:chExt cx="1545679" cy="716623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6891" y="16891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545590" cy="716536"/>
            </a:xfrm>
            <a:custGeom>
              <a:avLst/>
              <a:gdLst/>
              <a:ahLst/>
              <a:cxnLst/>
              <a:rect r="r" b="b" t="t" l="l"/>
              <a:pathLst>
                <a:path h="716536" w="1545590">
                  <a:moveTo>
                    <a:pt x="16891" y="0"/>
                  </a:moveTo>
                  <a:lnTo>
                    <a:pt x="1528699" y="0"/>
                  </a:lnTo>
                  <a:cubicBezTo>
                    <a:pt x="1538097" y="0"/>
                    <a:pt x="1545590" y="7620"/>
                    <a:pt x="1545590" y="16891"/>
                  </a:cubicBezTo>
                  <a:lnTo>
                    <a:pt x="1545590" y="699643"/>
                  </a:lnTo>
                  <a:cubicBezTo>
                    <a:pt x="1545590" y="709041"/>
                    <a:pt x="1537970" y="716534"/>
                    <a:pt x="1528699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528699" y="682752"/>
                  </a:lnTo>
                  <a:lnTo>
                    <a:pt x="1528699" y="699643"/>
                  </a:lnTo>
                  <a:lnTo>
                    <a:pt x="1511808" y="699643"/>
                  </a:lnTo>
                  <a:lnTo>
                    <a:pt x="1511808" y="16891"/>
                  </a:lnTo>
                  <a:lnTo>
                    <a:pt x="1528699" y="16891"/>
                  </a:lnTo>
                  <a:lnTo>
                    <a:pt x="15286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48640" y="4169664"/>
            <a:ext cx="1133856" cy="512064"/>
            <a:chOff x="0" y="0"/>
            <a:chExt cx="1511808" cy="68275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151180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Plus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773936" y="4023360"/>
            <a:ext cx="2011680" cy="841248"/>
            <a:chOff x="0" y="0"/>
            <a:chExt cx="2682240" cy="112166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6822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54" t="0" r="-3654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268224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₹3,00,000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3822192" y="4023360"/>
            <a:ext cx="1316736" cy="841248"/>
            <a:chOff x="0" y="0"/>
            <a:chExt cx="1755648" cy="112166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7556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971" t="0" r="-31971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47625"/>
              <a:ext cx="1755648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47B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2×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5175504" y="4023360"/>
            <a:ext cx="1316736" cy="841248"/>
            <a:chOff x="0" y="0"/>
            <a:chExt cx="1755648" cy="112166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7556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971" t="0" r="-31971" b="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47625"/>
              <a:ext cx="1755648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₹10L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6528816" y="4023360"/>
            <a:ext cx="1792224" cy="841248"/>
            <a:chOff x="0" y="0"/>
            <a:chExt cx="2389632" cy="112166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389632" cy="1121664"/>
            </a:xfrm>
            <a:custGeom>
              <a:avLst/>
              <a:gdLst/>
              <a:ahLst/>
              <a:cxnLst/>
              <a:rect r="r" b="b" t="t" l="l"/>
              <a:pathLst>
                <a:path h="1121664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224" t="0" r="-10224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47625"/>
              <a:ext cx="2389632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8357616" y="4023360"/>
            <a:ext cx="1755648" cy="841248"/>
            <a:chOff x="0" y="0"/>
            <a:chExt cx="2340864" cy="1121664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3408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2340864">
                  <a:moveTo>
                    <a:pt x="0" y="0"/>
                  </a:moveTo>
                  <a:lnTo>
                    <a:pt x="2340864" y="0"/>
                  </a:lnTo>
                  <a:lnTo>
                    <a:pt x="2340864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478" t="0" r="-11478" b="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47625"/>
              <a:ext cx="2340864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₹5,000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499367" y="4851911"/>
            <a:ext cx="9498587" cy="830075"/>
            <a:chOff x="0" y="0"/>
            <a:chExt cx="12664783" cy="1106767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16891" y="16891"/>
              <a:ext cx="12630912" cy="1072896"/>
            </a:xfrm>
            <a:custGeom>
              <a:avLst/>
              <a:gdLst/>
              <a:ahLst/>
              <a:cxnLst/>
              <a:rect r="r" b="b" t="t" l="l"/>
              <a:pathLst>
                <a:path h="1072896" w="12630912">
                  <a:moveTo>
                    <a:pt x="0" y="0"/>
                  </a:moveTo>
                  <a:lnTo>
                    <a:pt x="12630912" y="0"/>
                  </a:lnTo>
                  <a:lnTo>
                    <a:pt x="12630912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2664694" cy="1106680"/>
            </a:xfrm>
            <a:custGeom>
              <a:avLst/>
              <a:gdLst/>
              <a:ahLst/>
              <a:cxnLst/>
              <a:rect r="r" b="b" t="t" l="l"/>
              <a:pathLst>
                <a:path h="1106680" w="12664694">
                  <a:moveTo>
                    <a:pt x="16891" y="0"/>
                  </a:moveTo>
                  <a:lnTo>
                    <a:pt x="12647803" y="0"/>
                  </a:lnTo>
                  <a:cubicBezTo>
                    <a:pt x="12657201" y="0"/>
                    <a:pt x="12664694" y="7620"/>
                    <a:pt x="12664694" y="16891"/>
                  </a:cubicBezTo>
                  <a:lnTo>
                    <a:pt x="12664694" y="1089787"/>
                  </a:lnTo>
                  <a:cubicBezTo>
                    <a:pt x="12664694" y="1099185"/>
                    <a:pt x="12657074" y="1106678"/>
                    <a:pt x="12647803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12647803" y="1072896"/>
                  </a:lnTo>
                  <a:lnTo>
                    <a:pt x="12647803" y="1089787"/>
                  </a:lnTo>
                  <a:lnTo>
                    <a:pt x="12630912" y="1089787"/>
                  </a:lnTo>
                  <a:lnTo>
                    <a:pt x="12630912" y="16891"/>
                  </a:lnTo>
                  <a:lnTo>
                    <a:pt x="12647803" y="16891"/>
                  </a:lnTo>
                  <a:lnTo>
                    <a:pt x="12647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535943" y="4998215"/>
            <a:ext cx="1159259" cy="537467"/>
            <a:chOff x="0" y="0"/>
            <a:chExt cx="1545679" cy="716623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16891" y="16891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545590" cy="716536"/>
            </a:xfrm>
            <a:custGeom>
              <a:avLst/>
              <a:gdLst/>
              <a:ahLst/>
              <a:cxnLst/>
              <a:rect r="r" b="b" t="t" l="l"/>
              <a:pathLst>
                <a:path h="716536" w="1545590">
                  <a:moveTo>
                    <a:pt x="16891" y="0"/>
                  </a:moveTo>
                  <a:lnTo>
                    <a:pt x="1528699" y="0"/>
                  </a:lnTo>
                  <a:cubicBezTo>
                    <a:pt x="1538097" y="0"/>
                    <a:pt x="1545590" y="7620"/>
                    <a:pt x="1545590" y="16891"/>
                  </a:cubicBezTo>
                  <a:lnTo>
                    <a:pt x="1545590" y="699643"/>
                  </a:lnTo>
                  <a:cubicBezTo>
                    <a:pt x="1545590" y="709041"/>
                    <a:pt x="1537970" y="716534"/>
                    <a:pt x="1528699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528699" y="682752"/>
                  </a:lnTo>
                  <a:lnTo>
                    <a:pt x="1528699" y="699643"/>
                  </a:lnTo>
                  <a:lnTo>
                    <a:pt x="1511808" y="699643"/>
                  </a:lnTo>
                  <a:lnTo>
                    <a:pt x="1511808" y="16891"/>
                  </a:lnTo>
                  <a:lnTo>
                    <a:pt x="1528699" y="16891"/>
                  </a:lnTo>
                  <a:lnTo>
                    <a:pt x="15286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548640" y="5010912"/>
            <a:ext cx="1133856" cy="512064"/>
            <a:chOff x="0" y="0"/>
            <a:chExt cx="1511808" cy="68275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151180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773936" y="4864608"/>
            <a:ext cx="2011680" cy="841248"/>
            <a:chOff x="0" y="0"/>
            <a:chExt cx="2682240" cy="1121664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6822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54" t="0" r="-3654" b="0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47625"/>
              <a:ext cx="268224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₹4,00,000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3822192" y="4864608"/>
            <a:ext cx="1316736" cy="841248"/>
            <a:chOff x="0" y="0"/>
            <a:chExt cx="1755648" cy="1121664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7556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971" t="0" r="-31971" b="0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47625"/>
              <a:ext cx="1755648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47B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3×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5175504" y="4864608"/>
            <a:ext cx="1316736" cy="841248"/>
            <a:chOff x="0" y="0"/>
            <a:chExt cx="1755648" cy="1121664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17556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971" t="0" r="-31971" b="0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47625"/>
              <a:ext cx="1755648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₹15L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6528816" y="4864608"/>
            <a:ext cx="1792224" cy="841248"/>
            <a:chOff x="0" y="0"/>
            <a:chExt cx="2389632" cy="1121664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2389632" cy="1121664"/>
            </a:xfrm>
            <a:custGeom>
              <a:avLst/>
              <a:gdLst/>
              <a:ahLst/>
              <a:cxnLst/>
              <a:rect r="r" b="b" t="t" l="l"/>
              <a:pathLst>
                <a:path h="1121664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224" t="0" r="-10224" b="0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38100"/>
              <a:ext cx="2389632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₹2,00,000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8357616" y="4864608"/>
            <a:ext cx="1755648" cy="841248"/>
            <a:chOff x="0" y="0"/>
            <a:chExt cx="2340864" cy="1121664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3408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2340864">
                  <a:moveTo>
                    <a:pt x="0" y="0"/>
                  </a:moveTo>
                  <a:lnTo>
                    <a:pt x="2340864" y="0"/>
                  </a:lnTo>
                  <a:lnTo>
                    <a:pt x="2340864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478" t="0" r="-11478" b="0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47625"/>
              <a:ext cx="2340864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₹7,000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0045703" y="3169415"/>
            <a:ext cx="7742939" cy="830075"/>
            <a:chOff x="0" y="0"/>
            <a:chExt cx="10323919" cy="1106767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16891" y="16891"/>
              <a:ext cx="102900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0323830" cy="1106680"/>
            </a:xfrm>
            <a:custGeom>
              <a:avLst/>
              <a:gdLst/>
              <a:ahLst/>
              <a:cxnLst/>
              <a:rect r="r" b="b" t="t" l="l"/>
              <a:pathLst>
                <a:path h="1106680" w="10323830">
                  <a:moveTo>
                    <a:pt x="16891" y="0"/>
                  </a:moveTo>
                  <a:lnTo>
                    <a:pt x="10306939" y="0"/>
                  </a:lnTo>
                  <a:cubicBezTo>
                    <a:pt x="10316337" y="0"/>
                    <a:pt x="10323830" y="7620"/>
                    <a:pt x="10323830" y="16891"/>
                  </a:cubicBezTo>
                  <a:lnTo>
                    <a:pt x="10323830" y="1089787"/>
                  </a:lnTo>
                  <a:cubicBezTo>
                    <a:pt x="10323830" y="1099185"/>
                    <a:pt x="10316210" y="1106678"/>
                    <a:pt x="10306939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10306939" y="1072896"/>
                  </a:lnTo>
                  <a:lnTo>
                    <a:pt x="10306939" y="1089787"/>
                  </a:lnTo>
                  <a:lnTo>
                    <a:pt x="10290048" y="1089787"/>
                  </a:lnTo>
                  <a:lnTo>
                    <a:pt x="10290048" y="16891"/>
                  </a:lnTo>
                  <a:lnTo>
                    <a:pt x="10306939" y="16891"/>
                  </a:lnTo>
                  <a:lnTo>
                    <a:pt x="10306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10173719" y="3315719"/>
            <a:ext cx="1159259" cy="537467"/>
            <a:chOff x="0" y="0"/>
            <a:chExt cx="1545679" cy="716623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16891" y="16891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64748B"/>
            </a:solidFill>
          </p:spPr>
        </p:sp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545590" cy="716536"/>
            </a:xfrm>
            <a:custGeom>
              <a:avLst/>
              <a:gdLst/>
              <a:ahLst/>
              <a:cxnLst/>
              <a:rect r="r" b="b" t="t" l="l"/>
              <a:pathLst>
                <a:path h="716536" w="1545590">
                  <a:moveTo>
                    <a:pt x="16891" y="0"/>
                  </a:moveTo>
                  <a:lnTo>
                    <a:pt x="1528699" y="0"/>
                  </a:lnTo>
                  <a:cubicBezTo>
                    <a:pt x="1538097" y="0"/>
                    <a:pt x="1545590" y="7620"/>
                    <a:pt x="1545590" y="16891"/>
                  </a:cubicBezTo>
                  <a:lnTo>
                    <a:pt x="1545590" y="699643"/>
                  </a:lnTo>
                  <a:cubicBezTo>
                    <a:pt x="1545590" y="709041"/>
                    <a:pt x="1537970" y="716534"/>
                    <a:pt x="1528699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528699" y="682752"/>
                  </a:lnTo>
                  <a:lnTo>
                    <a:pt x="1528699" y="699643"/>
                  </a:lnTo>
                  <a:lnTo>
                    <a:pt x="1511808" y="699643"/>
                  </a:lnTo>
                  <a:lnTo>
                    <a:pt x="1511808" y="16891"/>
                  </a:lnTo>
                  <a:lnTo>
                    <a:pt x="1528699" y="16891"/>
                  </a:lnTo>
                  <a:lnTo>
                    <a:pt x="15286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10186416" y="3328416"/>
            <a:ext cx="1133856" cy="512064"/>
            <a:chOff x="0" y="0"/>
            <a:chExt cx="1511808" cy="682752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151180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11375136" y="3182112"/>
            <a:ext cx="1920240" cy="841248"/>
            <a:chOff x="0" y="0"/>
            <a:chExt cx="2560320" cy="1121664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25603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09" t="0" r="-6209" b="0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47625"/>
              <a:ext cx="256032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₹3,00,000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13331952" y="3182112"/>
            <a:ext cx="1280160" cy="841248"/>
            <a:chOff x="0" y="0"/>
            <a:chExt cx="1706880" cy="1121664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7068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313" t="0" r="-34313" b="0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47625"/>
              <a:ext cx="170688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14648688" y="3182112"/>
            <a:ext cx="1280160" cy="841248"/>
            <a:chOff x="0" y="0"/>
            <a:chExt cx="1706880" cy="1121664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17068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313" t="0" r="-34313" b="0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47625"/>
              <a:ext cx="170688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15965424" y="3182112"/>
            <a:ext cx="1773936" cy="841248"/>
            <a:chOff x="0" y="0"/>
            <a:chExt cx="2365248" cy="1121664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23652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844" t="0" r="-10844" b="0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47625"/>
              <a:ext cx="2365248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₹6,500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10045703" y="4010663"/>
            <a:ext cx="7742939" cy="830075"/>
            <a:chOff x="0" y="0"/>
            <a:chExt cx="10323919" cy="1106767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16891" y="16891"/>
              <a:ext cx="102900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0323830" cy="1106680"/>
            </a:xfrm>
            <a:custGeom>
              <a:avLst/>
              <a:gdLst/>
              <a:ahLst/>
              <a:cxnLst/>
              <a:rect r="r" b="b" t="t" l="l"/>
              <a:pathLst>
                <a:path h="1106680" w="10323830">
                  <a:moveTo>
                    <a:pt x="16891" y="0"/>
                  </a:moveTo>
                  <a:lnTo>
                    <a:pt x="10306939" y="0"/>
                  </a:lnTo>
                  <a:cubicBezTo>
                    <a:pt x="10316337" y="0"/>
                    <a:pt x="10323830" y="7620"/>
                    <a:pt x="10323830" y="16891"/>
                  </a:cubicBezTo>
                  <a:lnTo>
                    <a:pt x="10323830" y="1089787"/>
                  </a:lnTo>
                  <a:cubicBezTo>
                    <a:pt x="10323830" y="1099185"/>
                    <a:pt x="10316210" y="1106678"/>
                    <a:pt x="10306939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10306939" y="1072896"/>
                  </a:lnTo>
                  <a:lnTo>
                    <a:pt x="10306939" y="1089787"/>
                  </a:lnTo>
                  <a:lnTo>
                    <a:pt x="10290048" y="1089787"/>
                  </a:lnTo>
                  <a:lnTo>
                    <a:pt x="10290048" y="16891"/>
                  </a:lnTo>
                  <a:lnTo>
                    <a:pt x="10306939" y="16891"/>
                  </a:lnTo>
                  <a:lnTo>
                    <a:pt x="10306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0173719" y="4156967"/>
            <a:ext cx="1159259" cy="537467"/>
            <a:chOff x="0" y="0"/>
            <a:chExt cx="1545679" cy="716623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16891" y="16891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1545590" cy="716536"/>
            </a:xfrm>
            <a:custGeom>
              <a:avLst/>
              <a:gdLst/>
              <a:ahLst/>
              <a:cxnLst/>
              <a:rect r="r" b="b" t="t" l="l"/>
              <a:pathLst>
                <a:path h="716536" w="1545590">
                  <a:moveTo>
                    <a:pt x="16891" y="0"/>
                  </a:moveTo>
                  <a:lnTo>
                    <a:pt x="1528699" y="0"/>
                  </a:lnTo>
                  <a:cubicBezTo>
                    <a:pt x="1538097" y="0"/>
                    <a:pt x="1545590" y="7620"/>
                    <a:pt x="1545590" y="16891"/>
                  </a:cubicBezTo>
                  <a:lnTo>
                    <a:pt x="1545590" y="699643"/>
                  </a:lnTo>
                  <a:cubicBezTo>
                    <a:pt x="1545590" y="709041"/>
                    <a:pt x="1537970" y="716534"/>
                    <a:pt x="1528699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528699" y="682752"/>
                  </a:lnTo>
                  <a:lnTo>
                    <a:pt x="1528699" y="699643"/>
                  </a:lnTo>
                  <a:lnTo>
                    <a:pt x="1511808" y="699643"/>
                  </a:lnTo>
                  <a:lnTo>
                    <a:pt x="1511808" y="16891"/>
                  </a:lnTo>
                  <a:lnTo>
                    <a:pt x="1528699" y="16891"/>
                  </a:lnTo>
                  <a:lnTo>
                    <a:pt x="15286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0186416" y="4169664"/>
            <a:ext cx="1133856" cy="512064"/>
            <a:chOff x="0" y="0"/>
            <a:chExt cx="1511808" cy="682752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168" id="168"/>
            <p:cNvSpPr txBox="true"/>
            <p:nvPr/>
          </p:nvSpPr>
          <p:spPr>
            <a:xfrm>
              <a:off x="0" y="-38100"/>
              <a:ext cx="151180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Plus</a:t>
              </a:r>
            </a:p>
          </p:txBody>
        </p:sp>
      </p:grpSp>
      <p:grpSp>
        <p:nvGrpSpPr>
          <p:cNvPr name="Group 169" id="169"/>
          <p:cNvGrpSpPr/>
          <p:nvPr/>
        </p:nvGrpSpPr>
        <p:grpSpPr>
          <a:xfrm rot="0">
            <a:off x="11375136" y="4023360"/>
            <a:ext cx="1920240" cy="841248"/>
            <a:chOff x="0" y="0"/>
            <a:chExt cx="2560320" cy="1121664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25603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09" t="0" r="-6209" b="0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47625"/>
              <a:ext cx="256032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₹4,00,000</a:t>
              </a:r>
            </a:p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13331952" y="4023360"/>
            <a:ext cx="1280160" cy="841248"/>
            <a:chOff x="0" y="0"/>
            <a:chExt cx="1706880" cy="1121664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17068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313" t="0" r="-34313" b="0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-47625"/>
              <a:ext cx="170688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47B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3×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14648688" y="4023360"/>
            <a:ext cx="1280160" cy="841248"/>
            <a:chOff x="0" y="0"/>
            <a:chExt cx="1706880" cy="1121664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17068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313" t="0" r="-34313" b="0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-47625"/>
              <a:ext cx="170688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₹40L</a:t>
              </a:r>
            </a:p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15965424" y="4023360"/>
            <a:ext cx="1773936" cy="841248"/>
            <a:chOff x="0" y="0"/>
            <a:chExt cx="2365248" cy="1121664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23652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844" t="0" r="-10844" b="0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-47625"/>
              <a:ext cx="2365248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₹9,500</a:t>
              </a: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10045703" y="4851911"/>
            <a:ext cx="7742939" cy="830075"/>
            <a:chOff x="0" y="0"/>
            <a:chExt cx="10323919" cy="1106767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16891" y="16891"/>
              <a:ext cx="10290048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10323830" cy="1106680"/>
            </a:xfrm>
            <a:custGeom>
              <a:avLst/>
              <a:gdLst/>
              <a:ahLst/>
              <a:cxnLst/>
              <a:rect r="r" b="b" t="t" l="l"/>
              <a:pathLst>
                <a:path h="1106680" w="10323830">
                  <a:moveTo>
                    <a:pt x="16891" y="0"/>
                  </a:moveTo>
                  <a:lnTo>
                    <a:pt x="10306939" y="0"/>
                  </a:lnTo>
                  <a:cubicBezTo>
                    <a:pt x="10316337" y="0"/>
                    <a:pt x="10323830" y="7620"/>
                    <a:pt x="10323830" y="16891"/>
                  </a:cubicBezTo>
                  <a:lnTo>
                    <a:pt x="10323830" y="1089787"/>
                  </a:lnTo>
                  <a:cubicBezTo>
                    <a:pt x="10323830" y="1099185"/>
                    <a:pt x="10316210" y="1106678"/>
                    <a:pt x="10306939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10306939" y="1072896"/>
                  </a:lnTo>
                  <a:lnTo>
                    <a:pt x="10306939" y="1089787"/>
                  </a:lnTo>
                  <a:lnTo>
                    <a:pt x="10290048" y="1089787"/>
                  </a:lnTo>
                  <a:lnTo>
                    <a:pt x="10290048" y="16891"/>
                  </a:lnTo>
                  <a:lnTo>
                    <a:pt x="10306939" y="16891"/>
                  </a:lnTo>
                  <a:lnTo>
                    <a:pt x="10306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4" id="184"/>
          <p:cNvGrpSpPr/>
          <p:nvPr/>
        </p:nvGrpSpPr>
        <p:grpSpPr>
          <a:xfrm rot="0">
            <a:off x="10173719" y="4998215"/>
            <a:ext cx="1159259" cy="537467"/>
            <a:chOff x="0" y="0"/>
            <a:chExt cx="1545679" cy="716623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16891" y="16891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1545590" cy="716536"/>
            </a:xfrm>
            <a:custGeom>
              <a:avLst/>
              <a:gdLst/>
              <a:ahLst/>
              <a:cxnLst/>
              <a:rect r="r" b="b" t="t" l="l"/>
              <a:pathLst>
                <a:path h="716536" w="1545590">
                  <a:moveTo>
                    <a:pt x="16891" y="0"/>
                  </a:moveTo>
                  <a:lnTo>
                    <a:pt x="1528699" y="0"/>
                  </a:lnTo>
                  <a:cubicBezTo>
                    <a:pt x="1538097" y="0"/>
                    <a:pt x="1545590" y="7620"/>
                    <a:pt x="1545590" y="16891"/>
                  </a:cubicBezTo>
                  <a:lnTo>
                    <a:pt x="1545590" y="699643"/>
                  </a:lnTo>
                  <a:cubicBezTo>
                    <a:pt x="1545590" y="709041"/>
                    <a:pt x="1537970" y="716534"/>
                    <a:pt x="1528699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528699" y="682752"/>
                  </a:lnTo>
                  <a:lnTo>
                    <a:pt x="1528699" y="699643"/>
                  </a:lnTo>
                  <a:lnTo>
                    <a:pt x="1511808" y="699643"/>
                  </a:lnTo>
                  <a:lnTo>
                    <a:pt x="1511808" y="16891"/>
                  </a:lnTo>
                  <a:lnTo>
                    <a:pt x="1528699" y="16891"/>
                  </a:lnTo>
                  <a:lnTo>
                    <a:pt x="15286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187" id="187"/>
          <p:cNvGrpSpPr/>
          <p:nvPr/>
        </p:nvGrpSpPr>
        <p:grpSpPr>
          <a:xfrm rot="0">
            <a:off x="10186416" y="5010912"/>
            <a:ext cx="1133856" cy="512064"/>
            <a:chOff x="0" y="0"/>
            <a:chExt cx="1511808" cy="682752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189" id="189"/>
            <p:cNvSpPr txBox="true"/>
            <p:nvPr/>
          </p:nvSpPr>
          <p:spPr>
            <a:xfrm>
              <a:off x="0" y="-38100"/>
              <a:ext cx="151180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</a:t>
              </a:r>
            </a:p>
          </p:txBody>
        </p:sp>
      </p:grpSp>
      <p:grpSp>
        <p:nvGrpSpPr>
          <p:cNvPr name="Group 190" id="190"/>
          <p:cNvGrpSpPr/>
          <p:nvPr/>
        </p:nvGrpSpPr>
        <p:grpSpPr>
          <a:xfrm rot="0">
            <a:off x="11375136" y="4864608"/>
            <a:ext cx="1920240" cy="841248"/>
            <a:chOff x="0" y="0"/>
            <a:chExt cx="2560320" cy="1121664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25603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09" t="0" r="-6209" b="0"/>
              </a:stretch>
            </a:blipFill>
          </p:spPr>
        </p:sp>
        <p:sp>
          <p:nvSpPr>
            <p:cNvPr name="TextBox 192" id="192"/>
            <p:cNvSpPr txBox="true"/>
            <p:nvPr/>
          </p:nvSpPr>
          <p:spPr>
            <a:xfrm>
              <a:off x="0" y="-47625"/>
              <a:ext cx="256032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₹5,00,000</a:t>
              </a:r>
            </a:p>
          </p:txBody>
        </p:sp>
      </p:grpSp>
      <p:grpSp>
        <p:nvGrpSpPr>
          <p:cNvPr name="Group 193" id="193"/>
          <p:cNvGrpSpPr/>
          <p:nvPr/>
        </p:nvGrpSpPr>
        <p:grpSpPr>
          <a:xfrm rot="0">
            <a:off x="13331952" y="4864608"/>
            <a:ext cx="1280160" cy="841248"/>
            <a:chOff x="0" y="0"/>
            <a:chExt cx="1706880" cy="1121664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17068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313" t="0" r="-34313" b="0"/>
              </a:stretch>
            </a:blipFill>
          </p:spPr>
        </p:sp>
        <p:sp>
          <p:nvSpPr>
            <p:cNvPr name="TextBox 195" id="195"/>
            <p:cNvSpPr txBox="true"/>
            <p:nvPr/>
          </p:nvSpPr>
          <p:spPr>
            <a:xfrm>
              <a:off x="0" y="-47625"/>
              <a:ext cx="170688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47B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4×</a:t>
              </a:r>
            </a:p>
          </p:txBody>
        </p:sp>
      </p:grpSp>
      <p:grpSp>
        <p:nvGrpSpPr>
          <p:cNvPr name="Group 196" id="196"/>
          <p:cNvGrpSpPr/>
          <p:nvPr/>
        </p:nvGrpSpPr>
        <p:grpSpPr>
          <a:xfrm rot="0">
            <a:off x="14648688" y="4864608"/>
            <a:ext cx="1280160" cy="841248"/>
            <a:chOff x="0" y="0"/>
            <a:chExt cx="1706880" cy="1121664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17068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313" t="0" r="-34313" b="0"/>
              </a:stretch>
            </a:blipFill>
          </p:spPr>
        </p:sp>
        <p:sp>
          <p:nvSpPr>
            <p:cNvPr name="TextBox 198" id="198"/>
            <p:cNvSpPr txBox="true"/>
            <p:nvPr/>
          </p:nvSpPr>
          <p:spPr>
            <a:xfrm>
              <a:off x="0" y="-47625"/>
              <a:ext cx="170688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₹50L</a:t>
              </a:r>
            </a:p>
          </p:txBody>
        </p:sp>
      </p:grpSp>
      <p:grpSp>
        <p:nvGrpSpPr>
          <p:cNvPr name="Group 199" id="199"/>
          <p:cNvGrpSpPr/>
          <p:nvPr/>
        </p:nvGrpSpPr>
        <p:grpSpPr>
          <a:xfrm rot="0">
            <a:off x="15965424" y="4864608"/>
            <a:ext cx="1773936" cy="841248"/>
            <a:chOff x="0" y="0"/>
            <a:chExt cx="2365248" cy="1121664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2365248" cy="1121664"/>
            </a:xfrm>
            <a:custGeom>
              <a:avLst/>
              <a:gdLst/>
              <a:ahLst/>
              <a:cxnLst/>
              <a:rect r="r" b="b" t="t" l="l"/>
              <a:pathLst>
                <a:path h="1121664" w="2365248">
                  <a:moveTo>
                    <a:pt x="0" y="0"/>
                  </a:moveTo>
                  <a:lnTo>
                    <a:pt x="2365248" y="0"/>
                  </a:lnTo>
                  <a:lnTo>
                    <a:pt x="2365248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844" t="0" r="-10844" b="0"/>
              </a:stretch>
            </a:blipFill>
          </p:spPr>
        </p:sp>
        <p:sp>
          <p:nvSpPr>
            <p:cNvPr name="TextBox 201" id="201"/>
            <p:cNvSpPr txBox="true"/>
            <p:nvPr/>
          </p:nvSpPr>
          <p:spPr>
            <a:xfrm>
              <a:off x="0" y="-47625"/>
              <a:ext cx="2365248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₹12,500</a:t>
              </a:r>
            </a:p>
          </p:txBody>
        </p:sp>
      </p:grpSp>
      <p:grpSp>
        <p:nvGrpSpPr>
          <p:cNvPr name="Group 202" id="202"/>
          <p:cNvGrpSpPr/>
          <p:nvPr/>
        </p:nvGrpSpPr>
        <p:grpSpPr>
          <a:xfrm rot="0">
            <a:off x="499367" y="5912615"/>
            <a:ext cx="17289275" cy="647195"/>
            <a:chOff x="0" y="0"/>
            <a:chExt cx="23052367" cy="862927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16891" y="16891"/>
              <a:ext cx="23018497" cy="829056"/>
            </a:xfrm>
            <a:custGeom>
              <a:avLst/>
              <a:gdLst/>
              <a:ahLst/>
              <a:cxnLst/>
              <a:rect r="r" b="b" t="t" l="l"/>
              <a:pathLst>
                <a:path h="82905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C45A00"/>
            </a:solidFill>
          </p:spPr>
        </p:sp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23052278" cy="862840"/>
            </a:xfrm>
            <a:custGeom>
              <a:avLst/>
              <a:gdLst/>
              <a:ahLst/>
              <a:cxnLst/>
              <a:rect r="r" b="b" t="t" l="l"/>
              <a:pathLst>
                <a:path h="86284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845947"/>
                  </a:lnTo>
                  <a:cubicBezTo>
                    <a:pt x="23052278" y="855345"/>
                    <a:pt x="23044658" y="862838"/>
                    <a:pt x="23035388" y="862838"/>
                  </a:cubicBezTo>
                  <a:lnTo>
                    <a:pt x="16891" y="862838"/>
                  </a:lnTo>
                  <a:cubicBezTo>
                    <a:pt x="7620" y="862965"/>
                    <a:pt x="0" y="855345"/>
                    <a:pt x="0" y="8459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45947"/>
                  </a:lnTo>
                  <a:lnTo>
                    <a:pt x="16891" y="845947"/>
                  </a:lnTo>
                  <a:lnTo>
                    <a:pt x="16891" y="829056"/>
                  </a:lnTo>
                  <a:lnTo>
                    <a:pt x="23035388" y="829056"/>
                  </a:lnTo>
                  <a:lnTo>
                    <a:pt x="23035388" y="845947"/>
                  </a:lnTo>
                  <a:lnTo>
                    <a:pt x="23018497" y="84594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45A00"/>
            </a:solidFill>
          </p:spPr>
        </p:sp>
      </p:grpSp>
      <p:grpSp>
        <p:nvGrpSpPr>
          <p:cNvPr name="Group 205" id="205"/>
          <p:cNvGrpSpPr/>
          <p:nvPr/>
        </p:nvGrpSpPr>
        <p:grpSpPr>
          <a:xfrm rot="0">
            <a:off x="640080" y="5925312"/>
            <a:ext cx="17007840" cy="621792"/>
            <a:chOff x="0" y="0"/>
            <a:chExt cx="22677120" cy="829056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22677120" cy="829056"/>
            </a:xfrm>
            <a:custGeom>
              <a:avLst/>
              <a:gdLst/>
              <a:ahLst/>
              <a:cxnLst/>
              <a:rect r="r" b="b" t="t" l="l"/>
              <a:pathLst>
                <a:path h="829056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2973" r="0" b="-482973"/>
              </a:stretch>
            </a:blipFill>
          </p:spPr>
        </p:sp>
        <p:sp>
          <p:nvSpPr>
            <p:cNvPr name="TextBox 207" id="207"/>
            <p:cNvSpPr txBox="true"/>
            <p:nvPr/>
          </p:nvSpPr>
          <p:spPr>
            <a:xfrm>
              <a:off x="0" y="-47625"/>
              <a:ext cx="226771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ENTERPRISE  (Min 200 employees)  —  Plans 7, 8, 9</a:t>
              </a:r>
            </a:p>
          </p:txBody>
        </p:sp>
      </p:grpSp>
      <p:grpSp>
        <p:nvGrpSpPr>
          <p:cNvPr name="Group 208" id="208"/>
          <p:cNvGrpSpPr/>
          <p:nvPr/>
        </p:nvGrpSpPr>
        <p:grpSpPr>
          <a:xfrm rot="0">
            <a:off x="499367" y="6570983"/>
            <a:ext cx="17289275" cy="537467"/>
            <a:chOff x="0" y="0"/>
            <a:chExt cx="23052367" cy="716623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16891" y="16891"/>
              <a:ext cx="23018497" cy="682752"/>
            </a:xfrm>
            <a:custGeom>
              <a:avLst/>
              <a:gdLst/>
              <a:ahLst/>
              <a:cxnLst/>
              <a:rect r="r" b="b" t="t" l="l"/>
              <a:pathLst>
                <a:path h="682752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E8EDF5"/>
            </a:solidFill>
          </p:spPr>
        </p:sp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23052278" cy="716536"/>
            </a:xfrm>
            <a:custGeom>
              <a:avLst/>
              <a:gdLst/>
              <a:ahLst/>
              <a:cxnLst/>
              <a:rect r="r" b="b" t="t" l="l"/>
              <a:pathLst>
                <a:path h="71653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699643"/>
                  </a:lnTo>
                  <a:cubicBezTo>
                    <a:pt x="23052278" y="709041"/>
                    <a:pt x="23044658" y="716534"/>
                    <a:pt x="23035388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3035388" y="682752"/>
                  </a:lnTo>
                  <a:lnTo>
                    <a:pt x="23035388" y="699643"/>
                  </a:lnTo>
                  <a:lnTo>
                    <a:pt x="23018497" y="699643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11" id="211"/>
          <p:cNvGrpSpPr/>
          <p:nvPr/>
        </p:nvGrpSpPr>
        <p:grpSpPr>
          <a:xfrm rot="0">
            <a:off x="548640" y="6620256"/>
            <a:ext cx="1188720" cy="438912"/>
            <a:chOff x="0" y="0"/>
            <a:chExt cx="1584960" cy="585216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1584960" cy="585216"/>
            </a:xfrm>
            <a:custGeom>
              <a:avLst/>
              <a:gdLst/>
              <a:ahLst/>
              <a:cxnLst/>
              <a:rect r="r" b="b" t="t" l="l"/>
              <a:pathLst>
                <a:path h="585216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1" r="0" b="-2771"/>
              </a:stretch>
            </a:blipFill>
          </p:spPr>
        </p:sp>
        <p:sp>
          <p:nvSpPr>
            <p:cNvPr name="TextBox 213" id="213"/>
            <p:cNvSpPr txBox="true"/>
            <p:nvPr/>
          </p:nvSpPr>
          <p:spPr>
            <a:xfrm>
              <a:off x="0" y="-38100"/>
              <a:ext cx="15849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</a:t>
              </a:r>
            </a:p>
          </p:txBody>
        </p:sp>
      </p:grpSp>
      <p:grpSp>
        <p:nvGrpSpPr>
          <p:cNvPr name="Group 214" id="214"/>
          <p:cNvGrpSpPr/>
          <p:nvPr/>
        </p:nvGrpSpPr>
        <p:grpSpPr>
          <a:xfrm rot="0">
            <a:off x="1773936" y="6620256"/>
            <a:ext cx="2560320" cy="438912"/>
            <a:chOff x="0" y="0"/>
            <a:chExt cx="3413760" cy="585216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3413760" cy="585216"/>
            </a:xfrm>
            <a:custGeom>
              <a:avLst/>
              <a:gdLst/>
              <a:ahLst/>
              <a:cxnLst/>
              <a:rect r="r" b="b" t="t" l="l"/>
              <a:pathLst>
                <a:path h="585216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216" id="216"/>
            <p:cNvSpPr txBox="true"/>
            <p:nvPr/>
          </p:nvSpPr>
          <p:spPr>
            <a:xfrm>
              <a:off x="0" y="-38100"/>
              <a:ext cx="34137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Health Cover</a:t>
              </a:r>
            </a:p>
          </p:txBody>
        </p:sp>
      </p:grpSp>
      <p:grpSp>
        <p:nvGrpSpPr>
          <p:cNvPr name="Group 217" id="217"/>
          <p:cNvGrpSpPr/>
          <p:nvPr/>
        </p:nvGrpSpPr>
        <p:grpSpPr>
          <a:xfrm rot="0">
            <a:off x="4370832" y="6620256"/>
            <a:ext cx="1828800" cy="438912"/>
            <a:chOff x="0" y="0"/>
            <a:chExt cx="2438400" cy="585216"/>
          </a:xfrm>
        </p:grpSpPr>
        <p:sp>
          <p:nvSpPr>
            <p:cNvPr name="Freeform 218" id="218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19" id="219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Life Mult.</a:t>
              </a:r>
            </a:p>
          </p:txBody>
        </p:sp>
      </p:grpSp>
      <p:grpSp>
        <p:nvGrpSpPr>
          <p:cNvPr name="Group 220" id="220"/>
          <p:cNvGrpSpPr/>
          <p:nvPr/>
        </p:nvGrpSpPr>
        <p:grpSpPr>
          <a:xfrm rot="0">
            <a:off x="6236208" y="6620256"/>
            <a:ext cx="2011680" cy="438912"/>
            <a:chOff x="0" y="0"/>
            <a:chExt cx="2682240" cy="585216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2682240" cy="585216"/>
            </a:xfrm>
            <a:custGeom>
              <a:avLst/>
              <a:gdLst/>
              <a:ahLst/>
              <a:cxnLst/>
              <a:rect r="r" b="b" t="t" l="l"/>
              <a:pathLst>
                <a:path h="585216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306" r="0" b="-39306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-38100"/>
              <a:ext cx="26822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Life Cap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8284464" y="6620256"/>
            <a:ext cx="2743200" cy="438912"/>
            <a:chOff x="0" y="0"/>
            <a:chExt cx="3657600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657600" cy="585216"/>
            </a:xfrm>
            <a:custGeom>
              <a:avLst/>
              <a:gdLst/>
              <a:ahLst/>
              <a:cxnLst/>
              <a:rect r="r" b="b" t="t" l="l"/>
              <a:pathLst>
                <a:path h="58521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-38100"/>
              <a:ext cx="36576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Accident Cover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11064240" y="6620256"/>
            <a:ext cx="1828800" cy="438912"/>
            <a:chOff x="0" y="0"/>
            <a:chExt cx="2438400" cy="58521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Rate / Emp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12929616" y="6620256"/>
            <a:ext cx="1828800" cy="438912"/>
            <a:chOff x="0" y="0"/>
            <a:chExt cx="2438400" cy="585216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2438400" cy="585216"/>
            </a:xfrm>
            <a:custGeom>
              <a:avLst/>
              <a:gdLst/>
              <a:ahLst/>
              <a:cxnLst/>
              <a:rect r="r" b="b" t="t" l="l"/>
              <a:pathLst>
                <a:path h="585216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-38100"/>
              <a:ext cx="2438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 Factor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14794992" y="6620256"/>
            <a:ext cx="2926080" cy="438912"/>
            <a:chOff x="0" y="0"/>
            <a:chExt cx="3901440" cy="585216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3901440" cy="585216"/>
            </a:xfrm>
            <a:custGeom>
              <a:avLst/>
              <a:gdLst/>
              <a:ahLst/>
              <a:cxnLst/>
              <a:rect r="r" b="b" t="t" l="l"/>
              <a:pathLst>
                <a:path h="585216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34" id="234"/>
            <p:cNvSpPr txBox="true"/>
            <p:nvPr/>
          </p:nvSpPr>
          <p:spPr>
            <a:xfrm>
              <a:off x="0" y="-38100"/>
              <a:ext cx="39014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Coverage</a:t>
              </a:r>
            </a:p>
          </p:txBody>
        </p:sp>
      </p:grpSp>
      <p:grpSp>
        <p:nvGrpSpPr>
          <p:cNvPr name="Group 235" id="235"/>
          <p:cNvGrpSpPr/>
          <p:nvPr/>
        </p:nvGrpSpPr>
        <p:grpSpPr>
          <a:xfrm rot="0">
            <a:off x="499367" y="7083047"/>
            <a:ext cx="17289275" cy="830075"/>
            <a:chOff x="0" y="0"/>
            <a:chExt cx="23052367" cy="1106767"/>
          </a:xfrm>
        </p:grpSpPr>
        <p:sp>
          <p:nvSpPr>
            <p:cNvPr name="Freeform 236" id="236"/>
            <p:cNvSpPr/>
            <p:nvPr/>
          </p:nvSpPr>
          <p:spPr>
            <a:xfrm flipH="false" flipV="false" rot="0">
              <a:off x="16891" y="16891"/>
              <a:ext cx="23018497" cy="1072896"/>
            </a:xfrm>
            <a:custGeom>
              <a:avLst/>
              <a:gdLst/>
              <a:ahLst/>
              <a:cxnLst/>
              <a:rect r="r" b="b" t="t" l="l"/>
              <a:pathLst>
                <a:path h="107289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23052278" cy="1106680"/>
            </a:xfrm>
            <a:custGeom>
              <a:avLst/>
              <a:gdLst/>
              <a:ahLst/>
              <a:cxnLst/>
              <a:rect r="r" b="b" t="t" l="l"/>
              <a:pathLst>
                <a:path h="110668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089787"/>
                  </a:lnTo>
                  <a:cubicBezTo>
                    <a:pt x="23052278" y="1099185"/>
                    <a:pt x="23044658" y="1106678"/>
                    <a:pt x="23035388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23035388" y="1072896"/>
                  </a:lnTo>
                  <a:lnTo>
                    <a:pt x="23035388" y="1089787"/>
                  </a:lnTo>
                  <a:lnTo>
                    <a:pt x="23018497" y="108978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38" id="238"/>
          <p:cNvGrpSpPr/>
          <p:nvPr/>
        </p:nvGrpSpPr>
        <p:grpSpPr>
          <a:xfrm rot="0">
            <a:off x="535943" y="7229351"/>
            <a:ext cx="1159259" cy="537467"/>
            <a:chOff x="0" y="0"/>
            <a:chExt cx="1545679" cy="716623"/>
          </a:xfrm>
        </p:grpSpPr>
        <p:sp>
          <p:nvSpPr>
            <p:cNvPr name="Freeform 239" id="239"/>
            <p:cNvSpPr/>
            <p:nvPr/>
          </p:nvSpPr>
          <p:spPr>
            <a:xfrm flipH="false" flipV="false" rot="0">
              <a:off x="16891" y="16891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64748B"/>
            </a:solidFill>
          </p:spPr>
        </p:sp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1545590" cy="716536"/>
            </a:xfrm>
            <a:custGeom>
              <a:avLst/>
              <a:gdLst/>
              <a:ahLst/>
              <a:cxnLst/>
              <a:rect r="r" b="b" t="t" l="l"/>
              <a:pathLst>
                <a:path h="716536" w="1545590">
                  <a:moveTo>
                    <a:pt x="16891" y="0"/>
                  </a:moveTo>
                  <a:lnTo>
                    <a:pt x="1528699" y="0"/>
                  </a:lnTo>
                  <a:cubicBezTo>
                    <a:pt x="1538097" y="0"/>
                    <a:pt x="1545590" y="7620"/>
                    <a:pt x="1545590" y="16891"/>
                  </a:cubicBezTo>
                  <a:lnTo>
                    <a:pt x="1545590" y="699643"/>
                  </a:lnTo>
                  <a:cubicBezTo>
                    <a:pt x="1545590" y="709041"/>
                    <a:pt x="1537970" y="716534"/>
                    <a:pt x="1528699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528699" y="682752"/>
                  </a:lnTo>
                  <a:lnTo>
                    <a:pt x="1528699" y="699643"/>
                  </a:lnTo>
                  <a:lnTo>
                    <a:pt x="1511808" y="699643"/>
                  </a:lnTo>
                  <a:lnTo>
                    <a:pt x="1511808" y="16891"/>
                  </a:lnTo>
                  <a:lnTo>
                    <a:pt x="1528699" y="16891"/>
                  </a:lnTo>
                  <a:lnTo>
                    <a:pt x="15286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241" id="241"/>
          <p:cNvGrpSpPr/>
          <p:nvPr/>
        </p:nvGrpSpPr>
        <p:grpSpPr>
          <a:xfrm rot="0">
            <a:off x="548640" y="7242048"/>
            <a:ext cx="1133856" cy="512064"/>
            <a:chOff x="0" y="0"/>
            <a:chExt cx="1511808" cy="682752"/>
          </a:xfrm>
        </p:grpSpPr>
        <p:sp>
          <p:nvSpPr>
            <p:cNvPr name="Freeform 242" id="242"/>
            <p:cNvSpPr/>
            <p:nvPr/>
          </p:nvSpPr>
          <p:spPr>
            <a:xfrm flipH="false" flipV="false" rot="0">
              <a:off x="0" y="0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243" id="243"/>
            <p:cNvSpPr txBox="true"/>
            <p:nvPr/>
          </p:nvSpPr>
          <p:spPr>
            <a:xfrm>
              <a:off x="0" y="-38100"/>
              <a:ext cx="151180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</a:t>
              </a:r>
            </a:p>
          </p:txBody>
        </p:sp>
      </p:grpSp>
      <p:grpSp>
        <p:nvGrpSpPr>
          <p:cNvPr name="Group 244" id="244"/>
          <p:cNvGrpSpPr/>
          <p:nvPr/>
        </p:nvGrpSpPr>
        <p:grpSpPr>
          <a:xfrm rot="0">
            <a:off x="1773936" y="7095744"/>
            <a:ext cx="2560320" cy="841248"/>
            <a:chOff x="0" y="0"/>
            <a:chExt cx="3413760" cy="1121664"/>
          </a:xfrm>
        </p:grpSpPr>
        <p:sp>
          <p:nvSpPr>
            <p:cNvPr name="Freeform 245" id="245"/>
            <p:cNvSpPr/>
            <p:nvPr/>
          </p:nvSpPr>
          <p:spPr>
            <a:xfrm flipH="false" flipV="false" rot="0">
              <a:off x="0" y="0"/>
              <a:ext cx="3413760" cy="1121664"/>
            </a:xfrm>
            <a:custGeom>
              <a:avLst/>
              <a:gdLst/>
              <a:ahLst/>
              <a:cxnLst/>
              <a:rect r="r" b="b" t="t" l="l"/>
              <a:pathLst>
                <a:path h="1121664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02" r="0" b="-9302"/>
              </a:stretch>
            </a:blipFill>
          </p:spPr>
        </p:sp>
        <p:sp>
          <p:nvSpPr>
            <p:cNvPr name="TextBox 246" id="246"/>
            <p:cNvSpPr txBox="true"/>
            <p:nvPr/>
          </p:nvSpPr>
          <p:spPr>
            <a:xfrm>
              <a:off x="0" y="-47625"/>
              <a:ext cx="341376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₹5,00,000</a:t>
              </a:r>
            </a:p>
          </p:txBody>
        </p:sp>
      </p:grpSp>
      <p:grpSp>
        <p:nvGrpSpPr>
          <p:cNvPr name="Group 247" id="247"/>
          <p:cNvGrpSpPr/>
          <p:nvPr/>
        </p:nvGrpSpPr>
        <p:grpSpPr>
          <a:xfrm rot="0">
            <a:off x="4370832" y="7095744"/>
            <a:ext cx="1828800" cy="841248"/>
            <a:chOff x="0" y="0"/>
            <a:chExt cx="2438400" cy="1121664"/>
          </a:xfrm>
        </p:grpSpPr>
        <p:sp>
          <p:nvSpPr>
            <p:cNvPr name="Freeform 248" id="248"/>
            <p:cNvSpPr/>
            <p:nvPr/>
          </p:nvSpPr>
          <p:spPr>
            <a:xfrm flipH="false" flipV="false" rot="0">
              <a:off x="0" y="0"/>
              <a:ext cx="24384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19" t="0" r="-9019" b="0"/>
              </a:stretch>
            </a:blipFill>
          </p:spPr>
        </p:sp>
        <p:sp>
          <p:nvSpPr>
            <p:cNvPr name="TextBox 249" id="249"/>
            <p:cNvSpPr txBox="true"/>
            <p:nvPr/>
          </p:nvSpPr>
          <p:spPr>
            <a:xfrm>
              <a:off x="0" y="-47625"/>
              <a:ext cx="243840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</a:t>
              </a:r>
            </a:p>
          </p:txBody>
        </p:sp>
      </p:grpSp>
      <p:grpSp>
        <p:nvGrpSpPr>
          <p:cNvPr name="Group 250" id="250"/>
          <p:cNvGrpSpPr/>
          <p:nvPr/>
        </p:nvGrpSpPr>
        <p:grpSpPr>
          <a:xfrm rot="0">
            <a:off x="6236208" y="7095744"/>
            <a:ext cx="2011680" cy="841248"/>
            <a:chOff x="0" y="0"/>
            <a:chExt cx="2682240" cy="1121664"/>
          </a:xfrm>
        </p:grpSpPr>
        <p:sp>
          <p:nvSpPr>
            <p:cNvPr name="Freeform 251" id="251"/>
            <p:cNvSpPr/>
            <p:nvPr/>
          </p:nvSpPr>
          <p:spPr>
            <a:xfrm flipH="false" flipV="false" rot="0">
              <a:off x="0" y="0"/>
              <a:ext cx="26822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54" t="0" r="-3654" b="0"/>
              </a:stretch>
            </a:blipFill>
          </p:spPr>
        </p:sp>
        <p:sp>
          <p:nvSpPr>
            <p:cNvPr name="TextBox 252" id="252"/>
            <p:cNvSpPr txBox="true"/>
            <p:nvPr/>
          </p:nvSpPr>
          <p:spPr>
            <a:xfrm>
              <a:off x="0" y="-47625"/>
              <a:ext cx="268224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</a:t>
              </a:r>
            </a:p>
          </p:txBody>
        </p:sp>
      </p:grpSp>
      <p:grpSp>
        <p:nvGrpSpPr>
          <p:cNvPr name="Group 253" id="253"/>
          <p:cNvGrpSpPr/>
          <p:nvPr/>
        </p:nvGrpSpPr>
        <p:grpSpPr>
          <a:xfrm rot="0">
            <a:off x="8284464" y="7095744"/>
            <a:ext cx="2743200" cy="841248"/>
            <a:chOff x="0" y="0"/>
            <a:chExt cx="3657600" cy="1121664"/>
          </a:xfrm>
        </p:grpSpPr>
        <p:sp>
          <p:nvSpPr>
            <p:cNvPr name="Freeform 254" id="254"/>
            <p:cNvSpPr/>
            <p:nvPr/>
          </p:nvSpPr>
          <p:spPr>
            <a:xfrm flipH="false" flipV="false" rot="0">
              <a:off x="0" y="0"/>
              <a:ext cx="36576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38" r="0" b="-13538"/>
              </a:stretch>
            </a:blipFill>
          </p:spPr>
        </p:sp>
        <p:sp>
          <p:nvSpPr>
            <p:cNvPr name="TextBox 255" id="255"/>
            <p:cNvSpPr txBox="true"/>
            <p:nvPr/>
          </p:nvSpPr>
          <p:spPr>
            <a:xfrm>
              <a:off x="0" y="-47625"/>
              <a:ext cx="365760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</a:t>
              </a:r>
            </a:p>
          </p:txBody>
        </p:sp>
      </p:grpSp>
      <p:grpSp>
        <p:nvGrpSpPr>
          <p:cNvPr name="Group 256" id="256"/>
          <p:cNvGrpSpPr/>
          <p:nvPr/>
        </p:nvGrpSpPr>
        <p:grpSpPr>
          <a:xfrm rot="0">
            <a:off x="11064240" y="7095744"/>
            <a:ext cx="1828800" cy="841248"/>
            <a:chOff x="0" y="0"/>
            <a:chExt cx="2438400" cy="1121664"/>
          </a:xfrm>
        </p:grpSpPr>
        <p:sp>
          <p:nvSpPr>
            <p:cNvPr name="Freeform 257" id="257"/>
            <p:cNvSpPr/>
            <p:nvPr/>
          </p:nvSpPr>
          <p:spPr>
            <a:xfrm flipH="false" flipV="false" rot="0">
              <a:off x="0" y="0"/>
              <a:ext cx="24384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19" t="0" r="-9019" b="0"/>
              </a:stretch>
            </a:blipFill>
          </p:spPr>
        </p:sp>
        <p:sp>
          <p:nvSpPr>
            <p:cNvPr name="TextBox 258" id="258"/>
            <p:cNvSpPr txBox="true"/>
            <p:nvPr/>
          </p:nvSpPr>
          <p:spPr>
            <a:xfrm>
              <a:off x="0" y="-47625"/>
              <a:ext cx="243840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₹12,000</a:t>
              </a:r>
            </a:p>
          </p:txBody>
        </p:sp>
      </p:grpSp>
      <p:grpSp>
        <p:nvGrpSpPr>
          <p:cNvPr name="Group 259" id="259"/>
          <p:cNvGrpSpPr/>
          <p:nvPr/>
        </p:nvGrpSpPr>
        <p:grpSpPr>
          <a:xfrm rot="0">
            <a:off x="12929616" y="7095744"/>
            <a:ext cx="1828800" cy="841248"/>
            <a:chOff x="0" y="0"/>
            <a:chExt cx="2438400" cy="1121664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24384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19" t="0" r="-9019" b="0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-47625"/>
              <a:ext cx="243840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1.05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4794992" y="7095744"/>
            <a:ext cx="2926080" cy="841248"/>
            <a:chOff x="0" y="0"/>
            <a:chExt cx="3901440" cy="1121664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014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74" r="0" b="-17774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-38100"/>
              <a:ext cx="3901440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Health only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499367" y="7924295"/>
            <a:ext cx="17289275" cy="830075"/>
            <a:chOff x="0" y="0"/>
            <a:chExt cx="23052367" cy="1106767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16891" y="16891"/>
              <a:ext cx="23018497" cy="1072896"/>
            </a:xfrm>
            <a:custGeom>
              <a:avLst/>
              <a:gdLst/>
              <a:ahLst/>
              <a:cxnLst/>
              <a:rect r="r" b="b" t="t" l="l"/>
              <a:pathLst>
                <a:path h="107289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67" id="267"/>
            <p:cNvSpPr/>
            <p:nvPr/>
          </p:nvSpPr>
          <p:spPr>
            <a:xfrm flipH="false" flipV="false" rot="0">
              <a:off x="0" y="0"/>
              <a:ext cx="23052278" cy="1106680"/>
            </a:xfrm>
            <a:custGeom>
              <a:avLst/>
              <a:gdLst/>
              <a:ahLst/>
              <a:cxnLst/>
              <a:rect r="r" b="b" t="t" l="l"/>
              <a:pathLst>
                <a:path h="110668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089787"/>
                  </a:lnTo>
                  <a:cubicBezTo>
                    <a:pt x="23052278" y="1099185"/>
                    <a:pt x="23044658" y="1106678"/>
                    <a:pt x="23035388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23035388" y="1072896"/>
                  </a:lnTo>
                  <a:lnTo>
                    <a:pt x="23035388" y="1089787"/>
                  </a:lnTo>
                  <a:lnTo>
                    <a:pt x="23018497" y="108978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68" id="268"/>
          <p:cNvGrpSpPr/>
          <p:nvPr/>
        </p:nvGrpSpPr>
        <p:grpSpPr>
          <a:xfrm rot="0">
            <a:off x="535943" y="8070599"/>
            <a:ext cx="1159259" cy="537467"/>
            <a:chOff x="0" y="0"/>
            <a:chExt cx="1545679" cy="716623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16891" y="16891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270" id="270"/>
            <p:cNvSpPr/>
            <p:nvPr/>
          </p:nvSpPr>
          <p:spPr>
            <a:xfrm flipH="false" flipV="false" rot="0">
              <a:off x="0" y="0"/>
              <a:ext cx="1545590" cy="716536"/>
            </a:xfrm>
            <a:custGeom>
              <a:avLst/>
              <a:gdLst/>
              <a:ahLst/>
              <a:cxnLst/>
              <a:rect r="r" b="b" t="t" l="l"/>
              <a:pathLst>
                <a:path h="716536" w="1545590">
                  <a:moveTo>
                    <a:pt x="16891" y="0"/>
                  </a:moveTo>
                  <a:lnTo>
                    <a:pt x="1528699" y="0"/>
                  </a:lnTo>
                  <a:cubicBezTo>
                    <a:pt x="1538097" y="0"/>
                    <a:pt x="1545590" y="7620"/>
                    <a:pt x="1545590" y="16891"/>
                  </a:cubicBezTo>
                  <a:lnTo>
                    <a:pt x="1545590" y="699643"/>
                  </a:lnTo>
                  <a:cubicBezTo>
                    <a:pt x="1545590" y="709041"/>
                    <a:pt x="1537970" y="716534"/>
                    <a:pt x="1528699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528699" y="682752"/>
                  </a:lnTo>
                  <a:lnTo>
                    <a:pt x="1528699" y="699643"/>
                  </a:lnTo>
                  <a:lnTo>
                    <a:pt x="1511808" y="699643"/>
                  </a:lnTo>
                  <a:lnTo>
                    <a:pt x="1511808" y="16891"/>
                  </a:lnTo>
                  <a:lnTo>
                    <a:pt x="1528699" y="16891"/>
                  </a:lnTo>
                  <a:lnTo>
                    <a:pt x="15286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271" id="271"/>
          <p:cNvGrpSpPr/>
          <p:nvPr/>
        </p:nvGrpSpPr>
        <p:grpSpPr>
          <a:xfrm rot="0">
            <a:off x="548640" y="8083296"/>
            <a:ext cx="1133856" cy="512064"/>
            <a:chOff x="0" y="0"/>
            <a:chExt cx="1511808" cy="682752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0" y="0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273" id="273"/>
            <p:cNvSpPr txBox="true"/>
            <p:nvPr/>
          </p:nvSpPr>
          <p:spPr>
            <a:xfrm>
              <a:off x="0" y="-38100"/>
              <a:ext cx="151180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Plus</a:t>
              </a:r>
            </a:p>
          </p:txBody>
        </p:sp>
      </p:grpSp>
      <p:grpSp>
        <p:nvGrpSpPr>
          <p:cNvPr name="Group 274" id="274"/>
          <p:cNvGrpSpPr/>
          <p:nvPr/>
        </p:nvGrpSpPr>
        <p:grpSpPr>
          <a:xfrm rot="0">
            <a:off x="1773936" y="7936992"/>
            <a:ext cx="2560320" cy="841248"/>
            <a:chOff x="0" y="0"/>
            <a:chExt cx="3413760" cy="1121664"/>
          </a:xfrm>
        </p:grpSpPr>
        <p:sp>
          <p:nvSpPr>
            <p:cNvPr name="Freeform 275" id="275"/>
            <p:cNvSpPr/>
            <p:nvPr/>
          </p:nvSpPr>
          <p:spPr>
            <a:xfrm flipH="false" flipV="false" rot="0">
              <a:off x="0" y="0"/>
              <a:ext cx="3413760" cy="1121664"/>
            </a:xfrm>
            <a:custGeom>
              <a:avLst/>
              <a:gdLst/>
              <a:ahLst/>
              <a:cxnLst/>
              <a:rect r="r" b="b" t="t" l="l"/>
              <a:pathLst>
                <a:path h="1121664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02" r="0" b="-9302"/>
              </a:stretch>
            </a:blipFill>
          </p:spPr>
        </p:sp>
        <p:sp>
          <p:nvSpPr>
            <p:cNvPr name="TextBox 276" id="276"/>
            <p:cNvSpPr txBox="true"/>
            <p:nvPr/>
          </p:nvSpPr>
          <p:spPr>
            <a:xfrm>
              <a:off x="0" y="-47625"/>
              <a:ext cx="341376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₹7,00,000</a:t>
              </a:r>
            </a:p>
          </p:txBody>
        </p:sp>
      </p:grpSp>
      <p:grpSp>
        <p:nvGrpSpPr>
          <p:cNvPr name="Group 277" id="277"/>
          <p:cNvGrpSpPr/>
          <p:nvPr/>
        </p:nvGrpSpPr>
        <p:grpSpPr>
          <a:xfrm rot="0">
            <a:off x="4370832" y="7936992"/>
            <a:ext cx="1828800" cy="841248"/>
            <a:chOff x="0" y="0"/>
            <a:chExt cx="2438400" cy="1121664"/>
          </a:xfrm>
        </p:grpSpPr>
        <p:sp>
          <p:nvSpPr>
            <p:cNvPr name="Freeform 278" id="278"/>
            <p:cNvSpPr/>
            <p:nvPr/>
          </p:nvSpPr>
          <p:spPr>
            <a:xfrm flipH="false" flipV="false" rot="0">
              <a:off x="0" y="0"/>
              <a:ext cx="24384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19" t="0" r="-9019" b="0"/>
              </a:stretch>
            </a:blipFill>
          </p:spPr>
        </p:sp>
        <p:sp>
          <p:nvSpPr>
            <p:cNvPr name="TextBox 279" id="279"/>
            <p:cNvSpPr txBox="true"/>
            <p:nvPr/>
          </p:nvSpPr>
          <p:spPr>
            <a:xfrm>
              <a:off x="0" y="-47625"/>
              <a:ext cx="243840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47B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4×</a:t>
              </a:r>
            </a:p>
          </p:txBody>
        </p:sp>
      </p:grpSp>
      <p:grpSp>
        <p:nvGrpSpPr>
          <p:cNvPr name="Group 280" id="280"/>
          <p:cNvGrpSpPr/>
          <p:nvPr/>
        </p:nvGrpSpPr>
        <p:grpSpPr>
          <a:xfrm rot="0">
            <a:off x="6236208" y="7936992"/>
            <a:ext cx="2011680" cy="841248"/>
            <a:chOff x="0" y="0"/>
            <a:chExt cx="2682240" cy="1121664"/>
          </a:xfrm>
        </p:grpSpPr>
        <p:sp>
          <p:nvSpPr>
            <p:cNvPr name="Freeform 281" id="281"/>
            <p:cNvSpPr/>
            <p:nvPr/>
          </p:nvSpPr>
          <p:spPr>
            <a:xfrm flipH="false" flipV="false" rot="0">
              <a:off x="0" y="0"/>
              <a:ext cx="26822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54" t="0" r="-3654" b="0"/>
              </a:stretch>
            </a:blipFill>
          </p:spPr>
        </p:sp>
        <p:sp>
          <p:nvSpPr>
            <p:cNvPr name="TextBox 282" id="282"/>
            <p:cNvSpPr txBox="true"/>
            <p:nvPr/>
          </p:nvSpPr>
          <p:spPr>
            <a:xfrm>
              <a:off x="0" y="-47625"/>
              <a:ext cx="268224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₹1Cr</a:t>
              </a:r>
            </a:p>
          </p:txBody>
        </p:sp>
      </p:grpSp>
      <p:grpSp>
        <p:nvGrpSpPr>
          <p:cNvPr name="Group 283" id="283"/>
          <p:cNvGrpSpPr/>
          <p:nvPr/>
        </p:nvGrpSpPr>
        <p:grpSpPr>
          <a:xfrm rot="0">
            <a:off x="8284464" y="7936992"/>
            <a:ext cx="2743200" cy="841248"/>
            <a:chOff x="0" y="0"/>
            <a:chExt cx="3657600" cy="1121664"/>
          </a:xfrm>
        </p:grpSpPr>
        <p:sp>
          <p:nvSpPr>
            <p:cNvPr name="Freeform 284" id="284"/>
            <p:cNvSpPr/>
            <p:nvPr/>
          </p:nvSpPr>
          <p:spPr>
            <a:xfrm flipH="false" flipV="false" rot="0">
              <a:off x="0" y="0"/>
              <a:ext cx="36576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38" r="0" b="-13538"/>
              </a:stretch>
            </a:blipFill>
          </p:spPr>
        </p:sp>
        <p:sp>
          <p:nvSpPr>
            <p:cNvPr name="TextBox 285" id="285"/>
            <p:cNvSpPr txBox="true"/>
            <p:nvPr/>
          </p:nvSpPr>
          <p:spPr>
            <a:xfrm>
              <a:off x="0" y="-47625"/>
              <a:ext cx="365760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</a:t>
              </a:r>
            </a:p>
          </p:txBody>
        </p:sp>
      </p:grpSp>
      <p:grpSp>
        <p:nvGrpSpPr>
          <p:cNvPr name="Group 286" id="286"/>
          <p:cNvGrpSpPr/>
          <p:nvPr/>
        </p:nvGrpSpPr>
        <p:grpSpPr>
          <a:xfrm rot="0">
            <a:off x="11064240" y="7936992"/>
            <a:ext cx="1828800" cy="841248"/>
            <a:chOff x="0" y="0"/>
            <a:chExt cx="2438400" cy="1121664"/>
          </a:xfrm>
        </p:grpSpPr>
        <p:sp>
          <p:nvSpPr>
            <p:cNvPr name="Freeform 287" id="287"/>
            <p:cNvSpPr/>
            <p:nvPr/>
          </p:nvSpPr>
          <p:spPr>
            <a:xfrm flipH="false" flipV="false" rot="0">
              <a:off x="0" y="0"/>
              <a:ext cx="24384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19" t="0" r="-9019" b="0"/>
              </a:stretch>
            </a:blipFill>
          </p:spPr>
        </p:sp>
        <p:sp>
          <p:nvSpPr>
            <p:cNvPr name="TextBox 288" id="288"/>
            <p:cNvSpPr txBox="true"/>
            <p:nvPr/>
          </p:nvSpPr>
          <p:spPr>
            <a:xfrm>
              <a:off x="0" y="-47625"/>
              <a:ext cx="243840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₹16,000</a:t>
              </a:r>
            </a:p>
          </p:txBody>
        </p:sp>
      </p:grpSp>
      <p:grpSp>
        <p:nvGrpSpPr>
          <p:cNvPr name="Group 289" id="289"/>
          <p:cNvGrpSpPr/>
          <p:nvPr/>
        </p:nvGrpSpPr>
        <p:grpSpPr>
          <a:xfrm rot="0">
            <a:off x="12929616" y="7936992"/>
            <a:ext cx="1828800" cy="841248"/>
            <a:chOff x="0" y="0"/>
            <a:chExt cx="2438400" cy="1121664"/>
          </a:xfrm>
        </p:grpSpPr>
        <p:sp>
          <p:nvSpPr>
            <p:cNvPr name="Freeform 290" id="290"/>
            <p:cNvSpPr/>
            <p:nvPr/>
          </p:nvSpPr>
          <p:spPr>
            <a:xfrm flipH="false" flipV="false" rot="0">
              <a:off x="0" y="0"/>
              <a:ext cx="24384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19" t="0" r="-9019" b="0"/>
              </a:stretch>
            </a:blipFill>
          </p:spPr>
        </p:sp>
        <p:sp>
          <p:nvSpPr>
            <p:cNvPr name="TextBox 291" id="291"/>
            <p:cNvSpPr txBox="true"/>
            <p:nvPr/>
          </p:nvSpPr>
          <p:spPr>
            <a:xfrm>
              <a:off x="0" y="-47625"/>
              <a:ext cx="243840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1.10</a:t>
              </a:r>
            </a:p>
          </p:txBody>
        </p:sp>
      </p:grpSp>
      <p:grpSp>
        <p:nvGrpSpPr>
          <p:cNvPr name="Group 292" id="292"/>
          <p:cNvGrpSpPr/>
          <p:nvPr/>
        </p:nvGrpSpPr>
        <p:grpSpPr>
          <a:xfrm rot="0">
            <a:off x="14794992" y="7936992"/>
            <a:ext cx="2926080" cy="841248"/>
            <a:chOff x="0" y="0"/>
            <a:chExt cx="3901440" cy="1121664"/>
          </a:xfrm>
        </p:grpSpPr>
        <p:sp>
          <p:nvSpPr>
            <p:cNvPr name="Freeform 293" id="293"/>
            <p:cNvSpPr/>
            <p:nvPr/>
          </p:nvSpPr>
          <p:spPr>
            <a:xfrm flipH="false" flipV="false" rot="0">
              <a:off x="0" y="0"/>
              <a:ext cx="39014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74" r="0" b="-17774"/>
              </a:stretch>
            </a:blipFill>
          </p:spPr>
        </p:sp>
        <p:sp>
          <p:nvSpPr>
            <p:cNvPr name="TextBox 294" id="294"/>
            <p:cNvSpPr txBox="true"/>
            <p:nvPr/>
          </p:nvSpPr>
          <p:spPr>
            <a:xfrm>
              <a:off x="0" y="-38100"/>
              <a:ext cx="3901440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Health + Life</a:t>
              </a:r>
            </a:p>
          </p:txBody>
        </p:sp>
      </p:grpSp>
      <p:grpSp>
        <p:nvGrpSpPr>
          <p:cNvPr name="Group 295" id="295"/>
          <p:cNvGrpSpPr/>
          <p:nvPr/>
        </p:nvGrpSpPr>
        <p:grpSpPr>
          <a:xfrm rot="0">
            <a:off x="499367" y="8765543"/>
            <a:ext cx="17289275" cy="830075"/>
            <a:chOff x="0" y="0"/>
            <a:chExt cx="23052367" cy="1106767"/>
          </a:xfrm>
        </p:grpSpPr>
        <p:sp>
          <p:nvSpPr>
            <p:cNvPr name="Freeform 296" id="296"/>
            <p:cNvSpPr/>
            <p:nvPr/>
          </p:nvSpPr>
          <p:spPr>
            <a:xfrm flipH="false" flipV="false" rot="0">
              <a:off x="16891" y="16891"/>
              <a:ext cx="23018497" cy="1072896"/>
            </a:xfrm>
            <a:custGeom>
              <a:avLst/>
              <a:gdLst/>
              <a:ahLst/>
              <a:cxnLst/>
              <a:rect r="r" b="b" t="t" l="l"/>
              <a:pathLst>
                <a:path h="107289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23052278" cy="1106680"/>
            </a:xfrm>
            <a:custGeom>
              <a:avLst/>
              <a:gdLst/>
              <a:ahLst/>
              <a:cxnLst/>
              <a:rect r="r" b="b" t="t" l="l"/>
              <a:pathLst>
                <a:path h="110668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089787"/>
                  </a:lnTo>
                  <a:cubicBezTo>
                    <a:pt x="23052278" y="1099185"/>
                    <a:pt x="23044658" y="1106678"/>
                    <a:pt x="23035388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23035388" y="1072896"/>
                  </a:lnTo>
                  <a:lnTo>
                    <a:pt x="23035388" y="1089787"/>
                  </a:lnTo>
                  <a:lnTo>
                    <a:pt x="23018497" y="108978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535943" y="8911847"/>
            <a:ext cx="1159259" cy="537467"/>
            <a:chOff x="0" y="0"/>
            <a:chExt cx="1545679" cy="716623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16891" y="16891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300" id="300"/>
            <p:cNvSpPr/>
            <p:nvPr/>
          </p:nvSpPr>
          <p:spPr>
            <a:xfrm flipH="false" flipV="false" rot="0">
              <a:off x="0" y="0"/>
              <a:ext cx="1545590" cy="716536"/>
            </a:xfrm>
            <a:custGeom>
              <a:avLst/>
              <a:gdLst/>
              <a:ahLst/>
              <a:cxnLst/>
              <a:rect r="r" b="b" t="t" l="l"/>
              <a:pathLst>
                <a:path h="716536" w="1545590">
                  <a:moveTo>
                    <a:pt x="16891" y="0"/>
                  </a:moveTo>
                  <a:lnTo>
                    <a:pt x="1528699" y="0"/>
                  </a:lnTo>
                  <a:cubicBezTo>
                    <a:pt x="1538097" y="0"/>
                    <a:pt x="1545590" y="7620"/>
                    <a:pt x="1545590" y="16891"/>
                  </a:cubicBezTo>
                  <a:lnTo>
                    <a:pt x="1545590" y="699643"/>
                  </a:lnTo>
                  <a:cubicBezTo>
                    <a:pt x="1545590" y="709041"/>
                    <a:pt x="1537970" y="716534"/>
                    <a:pt x="1528699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528699" y="682752"/>
                  </a:lnTo>
                  <a:lnTo>
                    <a:pt x="1528699" y="699643"/>
                  </a:lnTo>
                  <a:lnTo>
                    <a:pt x="1511808" y="699643"/>
                  </a:lnTo>
                  <a:lnTo>
                    <a:pt x="1511808" y="16891"/>
                  </a:lnTo>
                  <a:lnTo>
                    <a:pt x="1528699" y="16891"/>
                  </a:lnTo>
                  <a:lnTo>
                    <a:pt x="15286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301" id="301"/>
          <p:cNvGrpSpPr/>
          <p:nvPr/>
        </p:nvGrpSpPr>
        <p:grpSpPr>
          <a:xfrm rot="0">
            <a:off x="548640" y="8924544"/>
            <a:ext cx="1133856" cy="512064"/>
            <a:chOff x="0" y="0"/>
            <a:chExt cx="1511808" cy="682752"/>
          </a:xfrm>
        </p:grpSpPr>
        <p:sp>
          <p:nvSpPr>
            <p:cNvPr name="Freeform 302" id="302"/>
            <p:cNvSpPr/>
            <p:nvPr/>
          </p:nvSpPr>
          <p:spPr>
            <a:xfrm flipH="false" flipV="false" rot="0">
              <a:off x="0" y="0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303" id="303"/>
            <p:cNvSpPr txBox="true"/>
            <p:nvPr/>
          </p:nvSpPr>
          <p:spPr>
            <a:xfrm>
              <a:off x="0" y="-38100"/>
              <a:ext cx="151180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</a:t>
              </a:r>
            </a:p>
          </p:txBody>
        </p:sp>
      </p:grpSp>
      <p:grpSp>
        <p:nvGrpSpPr>
          <p:cNvPr name="Group 304" id="304"/>
          <p:cNvGrpSpPr/>
          <p:nvPr/>
        </p:nvGrpSpPr>
        <p:grpSpPr>
          <a:xfrm rot="0">
            <a:off x="1773936" y="8778240"/>
            <a:ext cx="2560320" cy="841248"/>
            <a:chOff x="0" y="0"/>
            <a:chExt cx="3413760" cy="1121664"/>
          </a:xfrm>
        </p:grpSpPr>
        <p:sp>
          <p:nvSpPr>
            <p:cNvPr name="Freeform 305" id="305"/>
            <p:cNvSpPr/>
            <p:nvPr/>
          </p:nvSpPr>
          <p:spPr>
            <a:xfrm flipH="false" flipV="false" rot="0">
              <a:off x="0" y="0"/>
              <a:ext cx="3413760" cy="1121664"/>
            </a:xfrm>
            <a:custGeom>
              <a:avLst/>
              <a:gdLst/>
              <a:ahLst/>
              <a:cxnLst/>
              <a:rect r="r" b="b" t="t" l="l"/>
              <a:pathLst>
                <a:path h="1121664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02" r="0" b="-9302"/>
              </a:stretch>
            </a:blipFill>
          </p:spPr>
        </p:sp>
        <p:sp>
          <p:nvSpPr>
            <p:cNvPr name="TextBox 306" id="306"/>
            <p:cNvSpPr txBox="true"/>
            <p:nvPr/>
          </p:nvSpPr>
          <p:spPr>
            <a:xfrm>
              <a:off x="0" y="-47625"/>
              <a:ext cx="341376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₹10,00,000</a:t>
              </a:r>
            </a:p>
          </p:txBody>
        </p:sp>
      </p:grpSp>
      <p:grpSp>
        <p:nvGrpSpPr>
          <p:cNvPr name="Group 307" id="307"/>
          <p:cNvGrpSpPr/>
          <p:nvPr/>
        </p:nvGrpSpPr>
        <p:grpSpPr>
          <a:xfrm rot="0">
            <a:off x="4370832" y="8778240"/>
            <a:ext cx="1828800" cy="841248"/>
            <a:chOff x="0" y="0"/>
            <a:chExt cx="2438400" cy="1121664"/>
          </a:xfrm>
        </p:grpSpPr>
        <p:sp>
          <p:nvSpPr>
            <p:cNvPr name="Freeform 308" id="308"/>
            <p:cNvSpPr/>
            <p:nvPr/>
          </p:nvSpPr>
          <p:spPr>
            <a:xfrm flipH="false" flipV="false" rot="0">
              <a:off x="0" y="0"/>
              <a:ext cx="24384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19" t="0" r="-9019" b="0"/>
              </a:stretch>
            </a:blipFill>
          </p:spPr>
        </p:sp>
        <p:sp>
          <p:nvSpPr>
            <p:cNvPr name="TextBox 309" id="309"/>
            <p:cNvSpPr txBox="true"/>
            <p:nvPr/>
          </p:nvSpPr>
          <p:spPr>
            <a:xfrm>
              <a:off x="0" y="-47625"/>
              <a:ext cx="243840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47B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5×</a:t>
              </a:r>
            </a:p>
          </p:txBody>
        </p:sp>
      </p:grpSp>
      <p:grpSp>
        <p:nvGrpSpPr>
          <p:cNvPr name="Group 310" id="310"/>
          <p:cNvGrpSpPr/>
          <p:nvPr/>
        </p:nvGrpSpPr>
        <p:grpSpPr>
          <a:xfrm rot="0">
            <a:off x="6236208" y="8778240"/>
            <a:ext cx="2011680" cy="841248"/>
            <a:chOff x="0" y="0"/>
            <a:chExt cx="2682240" cy="1121664"/>
          </a:xfrm>
        </p:grpSpPr>
        <p:sp>
          <p:nvSpPr>
            <p:cNvPr name="Freeform 311" id="311"/>
            <p:cNvSpPr/>
            <p:nvPr/>
          </p:nvSpPr>
          <p:spPr>
            <a:xfrm flipH="false" flipV="false" rot="0">
              <a:off x="0" y="0"/>
              <a:ext cx="26822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54" t="0" r="-3654" b="0"/>
              </a:stretch>
            </a:blipFill>
          </p:spPr>
        </p:sp>
        <p:sp>
          <p:nvSpPr>
            <p:cNvPr name="TextBox 312" id="312"/>
            <p:cNvSpPr txBox="true"/>
            <p:nvPr/>
          </p:nvSpPr>
          <p:spPr>
            <a:xfrm>
              <a:off x="0" y="-47625"/>
              <a:ext cx="268224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₹1.5Cr</a:t>
              </a:r>
            </a:p>
          </p:txBody>
        </p:sp>
      </p:grpSp>
      <p:grpSp>
        <p:nvGrpSpPr>
          <p:cNvPr name="Group 313" id="313"/>
          <p:cNvGrpSpPr/>
          <p:nvPr/>
        </p:nvGrpSpPr>
        <p:grpSpPr>
          <a:xfrm rot="0">
            <a:off x="8284464" y="8778240"/>
            <a:ext cx="2743200" cy="841248"/>
            <a:chOff x="0" y="0"/>
            <a:chExt cx="3657600" cy="1121664"/>
          </a:xfrm>
        </p:grpSpPr>
        <p:sp>
          <p:nvSpPr>
            <p:cNvPr name="Freeform 314" id="314"/>
            <p:cNvSpPr/>
            <p:nvPr/>
          </p:nvSpPr>
          <p:spPr>
            <a:xfrm flipH="false" flipV="false" rot="0">
              <a:off x="0" y="0"/>
              <a:ext cx="36576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38" r="0" b="-13538"/>
              </a:stretch>
            </a:blipFill>
          </p:spPr>
        </p:sp>
        <p:sp>
          <p:nvSpPr>
            <p:cNvPr name="TextBox 315" id="315"/>
            <p:cNvSpPr txBox="true"/>
            <p:nvPr/>
          </p:nvSpPr>
          <p:spPr>
            <a:xfrm>
              <a:off x="0" y="-38100"/>
              <a:ext cx="3657600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₹10,00,000</a:t>
              </a:r>
            </a:p>
          </p:txBody>
        </p:sp>
      </p:grpSp>
      <p:grpSp>
        <p:nvGrpSpPr>
          <p:cNvPr name="Group 316" id="316"/>
          <p:cNvGrpSpPr/>
          <p:nvPr/>
        </p:nvGrpSpPr>
        <p:grpSpPr>
          <a:xfrm rot="0">
            <a:off x="11064240" y="8778240"/>
            <a:ext cx="1828800" cy="841248"/>
            <a:chOff x="0" y="0"/>
            <a:chExt cx="2438400" cy="1121664"/>
          </a:xfrm>
        </p:grpSpPr>
        <p:sp>
          <p:nvSpPr>
            <p:cNvPr name="Freeform 317" id="317"/>
            <p:cNvSpPr/>
            <p:nvPr/>
          </p:nvSpPr>
          <p:spPr>
            <a:xfrm flipH="false" flipV="false" rot="0">
              <a:off x="0" y="0"/>
              <a:ext cx="24384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19" t="0" r="-9019" b="0"/>
              </a:stretch>
            </a:blipFill>
          </p:spPr>
        </p:sp>
        <p:sp>
          <p:nvSpPr>
            <p:cNvPr name="TextBox 318" id="318"/>
            <p:cNvSpPr txBox="true"/>
            <p:nvPr/>
          </p:nvSpPr>
          <p:spPr>
            <a:xfrm>
              <a:off x="0" y="-47625"/>
              <a:ext cx="243840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₹21,000</a:t>
              </a:r>
            </a:p>
          </p:txBody>
        </p:sp>
      </p:grpSp>
      <p:grpSp>
        <p:nvGrpSpPr>
          <p:cNvPr name="Group 319" id="319"/>
          <p:cNvGrpSpPr/>
          <p:nvPr/>
        </p:nvGrpSpPr>
        <p:grpSpPr>
          <a:xfrm rot="0">
            <a:off x="12929616" y="8778240"/>
            <a:ext cx="1828800" cy="841248"/>
            <a:chOff x="0" y="0"/>
            <a:chExt cx="2438400" cy="1121664"/>
          </a:xfrm>
        </p:grpSpPr>
        <p:sp>
          <p:nvSpPr>
            <p:cNvPr name="Freeform 320" id="320"/>
            <p:cNvSpPr/>
            <p:nvPr/>
          </p:nvSpPr>
          <p:spPr>
            <a:xfrm flipH="false" flipV="false" rot="0">
              <a:off x="0" y="0"/>
              <a:ext cx="24384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19" t="0" r="-9019" b="0"/>
              </a:stretch>
            </a:blipFill>
          </p:spPr>
        </p:sp>
        <p:sp>
          <p:nvSpPr>
            <p:cNvPr name="TextBox 321" id="321"/>
            <p:cNvSpPr txBox="true"/>
            <p:nvPr/>
          </p:nvSpPr>
          <p:spPr>
            <a:xfrm>
              <a:off x="0" y="-47625"/>
              <a:ext cx="243840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1.15</a:t>
              </a:r>
            </a:p>
          </p:txBody>
        </p:sp>
      </p:grpSp>
      <p:grpSp>
        <p:nvGrpSpPr>
          <p:cNvPr name="Group 322" id="322"/>
          <p:cNvGrpSpPr/>
          <p:nvPr/>
        </p:nvGrpSpPr>
        <p:grpSpPr>
          <a:xfrm rot="0">
            <a:off x="14794992" y="8778240"/>
            <a:ext cx="2926080" cy="841248"/>
            <a:chOff x="0" y="0"/>
            <a:chExt cx="3901440" cy="1121664"/>
          </a:xfrm>
        </p:grpSpPr>
        <p:sp>
          <p:nvSpPr>
            <p:cNvPr name="Freeform 323" id="323"/>
            <p:cNvSpPr/>
            <p:nvPr/>
          </p:nvSpPr>
          <p:spPr>
            <a:xfrm flipH="false" flipV="false" rot="0">
              <a:off x="0" y="0"/>
              <a:ext cx="39014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74" r="0" b="-17774"/>
              </a:stretch>
            </a:blipFill>
          </p:spPr>
        </p:sp>
        <p:sp>
          <p:nvSpPr>
            <p:cNvPr name="TextBox 324" id="324"/>
            <p:cNvSpPr txBox="true"/>
            <p:nvPr/>
          </p:nvSpPr>
          <p:spPr>
            <a:xfrm>
              <a:off x="0" y="-38100"/>
              <a:ext cx="3901440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47B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Health + Life + Accident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329184"/>
            <a:ext cx="16459200" cy="950976"/>
            <a:chOff x="0" y="0"/>
            <a:chExt cx="21945600" cy="12679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94560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A2B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Policy Selection Paths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316736"/>
            <a:ext cx="16459200" cy="512064"/>
            <a:chOff x="0" y="0"/>
            <a:chExt cx="2194560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19456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Two ways for a company to purchase a group insurance policy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1962407"/>
            <a:ext cx="7980683" cy="7980683"/>
            <a:chOff x="0" y="0"/>
            <a:chExt cx="10640911" cy="106409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607040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0607040"/>
                  </a:lnTo>
                  <a:lnTo>
                    <a:pt x="0" y="10607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40822" cy="10640822"/>
            </a:xfrm>
            <a:custGeom>
              <a:avLst/>
              <a:gdLst/>
              <a:ahLst/>
              <a:cxnLst/>
              <a:rect r="r" b="b" t="t" l="l"/>
              <a:pathLst>
                <a:path h="10640822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10623931"/>
                  </a:lnTo>
                  <a:cubicBezTo>
                    <a:pt x="10640822" y="10633329"/>
                    <a:pt x="10633202" y="10640822"/>
                    <a:pt x="10623931" y="10640822"/>
                  </a:cubicBezTo>
                  <a:lnTo>
                    <a:pt x="16891" y="10640822"/>
                  </a:lnTo>
                  <a:cubicBezTo>
                    <a:pt x="7493" y="10640822"/>
                    <a:pt x="0" y="10633202"/>
                    <a:pt x="0" y="10623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623931"/>
                  </a:lnTo>
                  <a:lnTo>
                    <a:pt x="16891" y="10623931"/>
                  </a:lnTo>
                  <a:lnTo>
                    <a:pt x="16891" y="10607040"/>
                  </a:lnTo>
                  <a:lnTo>
                    <a:pt x="10623931" y="10607040"/>
                  </a:lnTo>
                  <a:lnTo>
                    <a:pt x="10623931" y="10623931"/>
                  </a:lnTo>
                  <a:lnTo>
                    <a:pt x="10607040" y="1062393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1962407"/>
            <a:ext cx="7980683" cy="976379"/>
            <a:chOff x="0" y="0"/>
            <a:chExt cx="10640911" cy="13018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06070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40822" cy="1301750"/>
            </a:xfrm>
            <a:custGeom>
              <a:avLst/>
              <a:gdLst/>
              <a:ahLst/>
              <a:cxnLst/>
              <a:rect r="r" b="b" t="t" l="l"/>
              <a:pathLst>
                <a:path h="1301750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1284859"/>
                  </a:lnTo>
                  <a:cubicBezTo>
                    <a:pt x="10640822" y="1294257"/>
                    <a:pt x="10633202" y="1301750"/>
                    <a:pt x="1062393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0623931" y="1267968"/>
                  </a:lnTo>
                  <a:lnTo>
                    <a:pt x="10623931" y="1284859"/>
                  </a:lnTo>
                  <a:lnTo>
                    <a:pt x="10607040" y="1284859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68096" y="2011680"/>
            <a:ext cx="7498080" cy="877824"/>
            <a:chOff x="0" y="0"/>
            <a:chExt cx="9997440" cy="11704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997440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PATH A  —  Recommendation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0263" y="3096263"/>
            <a:ext cx="574043" cy="574043"/>
            <a:chOff x="0" y="0"/>
            <a:chExt cx="765391" cy="7653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3108960"/>
            <a:ext cx="548640" cy="548640"/>
            <a:chOff x="0" y="0"/>
            <a:chExt cx="73152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54480" y="3108960"/>
            <a:ext cx="6675120" cy="658368"/>
            <a:chOff x="0" y="0"/>
            <a:chExt cx="8900160" cy="8778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00160" cy="877824"/>
            </a:xfrm>
            <a:custGeom>
              <a:avLst/>
              <a:gdLst/>
              <a:ahLst/>
              <a:cxnLst/>
              <a:rect r="r" b="b" t="t" l="l"/>
              <a:pathLst>
                <a:path h="877824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556" r="0" b="-14755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890016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 submits company size &amp; industry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69086" y="3638550"/>
            <a:ext cx="38100" cy="294132"/>
            <a:chOff x="0" y="0"/>
            <a:chExt cx="50800" cy="39217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25400"/>
              <a:ext cx="50800" cy="341376"/>
            </a:xfrm>
            <a:custGeom>
              <a:avLst/>
              <a:gdLst/>
              <a:ahLst/>
              <a:cxnLst/>
              <a:rect r="r" b="b" t="t" l="l"/>
              <a:pathLst>
                <a:path h="341376" w="50800">
                  <a:moveTo>
                    <a:pt x="50800" y="0"/>
                  </a:moveTo>
                  <a:lnTo>
                    <a:pt x="50800" y="341376"/>
                  </a:lnTo>
                  <a:lnTo>
                    <a:pt x="0" y="3413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10263" y="3900935"/>
            <a:ext cx="574043" cy="574043"/>
            <a:chOff x="0" y="0"/>
            <a:chExt cx="765391" cy="76539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3913632"/>
            <a:ext cx="548640" cy="548640"/>
            <a:chOff x="0" y="0"/>
            <a:chExt cx="73152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54480" y="3913632"/>
            <a:ext cx="6675120" cy="658368"/>
            <a:chOff x="0" y="0"/>
            <a:chExt cx="8900160" cy="87782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900160" cy="877824"/>
            </a:xfrm>
            <a:custGeom>
              <a:avLst/>
              <a:gdLst/>
              <a:ahLst/>
              <a:cxnLst/>
              <a:rect r="r" b="b" t="t" l="l"/>
              <a:pathLst>
                <a:path h="877824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556" r="0" b="-14755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890016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 auto-assigned to the company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69086" y="4443222"/>
            <a:ext cx="38100" cy="294132"/>
            <a:chOff x="0" y="0"/>
            <a:chExt cx="50800" cy="39217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25400"/>
              <a:ext cx="50800" cy="341376"/>
            </a:xfrm>
            <a:custGeom>
              <a:avLst/>
              <a:gdLst/>
              <a:ahLst/>
              <a:cxnLst/>
              <a:rect r="r" b="b" t="t" l="l"/>
              <a:pathLst>
                <a:path h="341376" w="50800">
                  <a:moveTo>
                    <a:pt x="50800" y="0"/>
                  </a:moveTo>
                  <a:lnTo>
                    <a:pt x="50800" y="341376"/>
                  </a:lnTo>
                  <a:lnTo>
                    <a:pt x="0" y="3413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10263" y="4705607"/>
            <a:ext cx="574043" cy="574043"/>
            <a:chOff x="0" y="0"/>
            <a:chExt cx="765391" cy="76539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22960" y="4718304"/>
            <a:ext cx="548640" cy="548640"/>
            <a:chOff x="0" y="0"/>
            <a:chExt cx="73152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54480" y="4718304"/>
            <a:ext cx="6675120" cy="658368"/>
            <a:chOff x="0" y="0"/>
            <a:chExt cx="8900160" cy="87782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900160" cy="877824"/>
            </a:xfrm>
            <a:custGeom>
              <a:avLst/>
              <a:gdLst/>
              <a:ahLst/>
              <a:cxnLst/>
              <a:rect r="r" b="b" t="t" l="l"/>
              <a:pathLst>
                <a:path h="877824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556" r="0" b="-14755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890016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 reviews &amp; selects 3 suitable plans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69086" y="5247894"/>
            <a:ext cx="38100" cy="294132"/>
            <a:chOff x="0" y="0"/>
            <a:chExt cx="50800" cy="39217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25400"/>
              <a:ext cx="50800" cy="341376"/>
            </a:xfrm>
            <a:custGeom>
              <a:avLst/>
              <a:gdLst/>
              <a:ahLst/>
              <a:cxnLst/>
              <a:rect r="r" b="b" t="t" l="l"/>
              <a:pathLst>
                <a:path h="341376" w="50800">
                  <a:moveTo>
                    <a:pt x="50800" y="0"/>
                  </a:moveTo>
                  <a:lnTo>
                    <a:pt x="50800" y="341376"/>
                  </a:lnTo>
                  <a:lnTo>
                    <a:pt x="0" y="3413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810263" y="5510279"/>
            <a:ext cx="574043" cy="574043"/>
            <a:chOff x="0" y="0"/>
            <a:chExt cx="765391" cy="76539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5522976"/>
            <a:ext cx="548640" cy="548640"/>
            <a:chOff x="0" y="0"/>
            <a:chExt cx="73152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554480" y="5522976"/>
            <a:ext cx="6675120" cy="658368"/>
            <a:chOff x="0" y="0"/>
            <a:chExt cx="8900160" cy="87782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900160" cy="877824"/>
            </a:xfrm>
            <a:custGeom>
              <a:avLst/>
              <a:gdLst/>
              <a:ahLst/>
              <a:cxnLst/>
              <a:rect r="r" b="b" t="t" l="l"/>
              <a:pathLst>
                <a:path h="877824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556" r="0" b="-14755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890016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 adds remarks &amp; sends recommendation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69086" y="6052566"/>
            <a:ext cx="38100" cy="294132"/>
            <a:chOff x="0" y="0"/>
            <a:chExt cx="50800" cy="39217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25400"/>
              <a:ext cx="50800" cy="341376"/>
            </a:xfrm>
            <a:custGeom>
              <a:avLst/>
              <a:gdLst/>
              <a:ahLst/>
              <a:cxnLst/>
              <a:rect r="r" b="b" t="t" l="l"/>
              <a:pathLst>
                <a:path h="341376" w="50800">
                  <a:moveTo>
                    <a:pt x="50800" y="0"/>
                  </a:moveTo>
                  <a:lnTo>
                    <a:pt x="50800" y="341376"/>
                  </a:lnTo>
                  <a:lnTo>
                    <a:pt x="0" y="3413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810263" y="6314951"/>
            <a:ext cx="574043" cy="574043"/>
            <a:chOff x="0" y="0"/>
            <a:chExt cx="765391" cy="76539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822960" y="6327648"/>
            <a:ext cx="548640" cy="548640"/>
            <a:chOff x="0" y="0"/>
            <a:chExt cx="731520" cy="7315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554480" y="6327648"/>
            <a:ext cx="6675120" cy="658368"/>
            <a:chOff x="0" y="0"/>
            <a:chExt cx="8900160" cy="87782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900160" cy="877824"/>
            </a:xfrm>
            <a:custGeom>
              <a:avLst/>
              <a:gdLst/>
              <a:ahLst/>
              <a:cxnLst/>
              <a:rect r="r" b="b" t="t" l="l"/>
              <a:pathLst>
                <a:path h="877824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556" r="0" b="-14755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890016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 picks from 3 recommended plans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69086" y="6857238"/>
            <a:ext cx="38100" cy="294132"/>
            <a:chOff x="0" y="0"/>
            <a:chExt cx="50800" cy="39217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25400"/>
              <a:ext cx="50800" cy="341376"/>
            </a:xfrm>
            <a:custGeom>
              <a:avLst/>
              <a:gdLst/>
              <a:ahLst/>
              <a:cxnLst/>
              <a:rect r="r" b="b" t="t" l="l"/>
              <a:pathLst>
                <a:path h="341376" w="50800">
                  <a:moveTo>
                    <a:pt x="50800" y="0"/>
                  </a:moveTo>
                  <a:lnTo>
                    <a:pt x="50800" y="341376"/>
                  </a:lnTo>
                  <a:lnTo>
                    <a:pt x="0" y="3413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810263" y="7119623"/>
            <a:ext cx="574043" cy="574043"/>
            <a:chOff x="0" y="0"/>
            <a:chExt cx="765391" cy="76539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822960" y="7132320"/>
            <a:ext cx="548640" cy="548640"/>
            <a:chOff x="0" y="0"/>
            <a:chExt cx="731520" cy="7315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554480" y="7132320"/>
            <a:ext cx="6675120" cy="658368"/>
            <a:chOff x="0" y="0"/>
            <a:chExt cx="8900160" cy="87782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900160" cy="877824"/>
            </a:xfrm>
            <a:custGeom>
              <a:avLst/>
              <a:gdLst/>
              <a:ahLst/>
              <a:cxnLst/>
              <a:rect r="r" b="b" t="t" l="l"/>
              <a:pathLst>
                <a:path h="877824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556" r="0" b="-147556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890016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 generates full 5-factor premium quote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69086" y="7661910"/>
            <a:ext cx="38100" cy="294132"/>
            <a:chOff x="0" y="0"/>
            <a:chExt cx="50800" cy="39217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25400"/>
              <a:ext cx="50800" cy="341376"/>
            </a:xfrm>
            <a:custGeom>
              <a:avLst/>
              <a:gdLst/>
              <a:ahLst/>
              <a:cxnLst/>
              <a:rect r="r" b="b" t="t" l="l"/>
              <a:pathLst>
                <a:path h="341376" w="50800">
                  <a:moveTo>
                    <a:pt x="50800" y="0"/>
                  </a:moveTo>
                  <a:lnTo>
                    <a:pt x="50800" y="341376"/>
                  </a:lnTo>
                  <a:lnTo>
                    <a:pt x="0" y="3413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810263" y="7924295"/>
            <a:ext cx="574043" cy="574043"/>
            <a:chOff x="0" y="0"/>
            <a:chExt cx="765391" cy="76539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822960" y="7936992"/>
            <a:ext cx="548640" cy="548640"/>
            <a:chOff x="0" y="0"/>
            <a:chExt cx="73152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554480" y="7936992"/>
            <a:ext cx="6675120" cy="658368"/>
            <a:chOff x="0" y="0"/>
            <a:chExt cx="8900160" cy="87782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900160" cy="877824"/>
            </a:xfrm>
            <a:custGeom>
              <a:avLst/>
              <a:gdLst/>
              <a:ahLst/>
              <a:cxnLst/>
              <a:rect r="r" b="b" t="t" l="l"/>
              <a:pathLst>
                <a:path h="877824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556" r="0" b="-14755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890016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 reviews breakdown &amp; accepts quote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69086" y="8466582"/>
            <a:ext cx="38100" cy="294132"/>
            <a:chOff x="0" y="0"/>
            <a:chExt cx="50800" cy="39217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25400"/>
              <a:ext cx="50800" cy="341376"/>
            </a:xfrm>
            <a:custGeom>
              <a:avLst/>
              <a:gdLst/>
              <a:ahLst/>
              <a:cxnLst/>
              <a:rect r="r" b="b" t="t" l="l"/>
              <a:pathLst>
                <a:path h="341376" w="50800">
                  <a:moveTo>
                    <a:pt x="50800" y="0"/>
                  </a:moveTo>
                  <a:lnTo>
                    <a:pt x="50800" y="341376"/>
                  </a:lnTo>
                  <a:lnTo>
                    <a:pt x="0" y="3413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810263" y="8728967"/>
            <a:ext cx="574043" cy="574043"/>
            <a:chOff x="0" y="0"/>
            <a:chExt cx="765391" cy="765391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822960" y="8741664"/>
            <a:ext cx="548640" cy="548640"/>
            <a:chOff x="0" y="0"/>
            <a:chExt cx="731520" cy="73152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554480" y="8741664"/>
            <a:ext cx="6675120" cy="658368"/>
            <a:chOff x="0" y="0"/>
            <a:chExt cx="8900160" cy="87782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8900160" cy="877824"/>
            </a:xfrm>
            <a:custGeom>
              <a:avLst/>
              <a:gdLst/>
              <a:ahLst/>
              <a:cxnLst/>
              <a:rect r="r" b="b" t="t" l="l"/>
              <a:pathLst>
                <a:path h="877824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556" r="0" b="-147556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47625"/>
              <a:ext cx="890016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Payment → Policy Active → Commission credited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755399" y="9277607"/>
            <a:ext cx="7523483" cy="574043"/>
            <a:chOff x="0" y="0"/>
            <a:chExt cx="10031311" cy="76539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6891" y="16891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0031222" cy="765304"/>
            </a:xfrm>
            <a:custGeom>
              <a:avLst/>
              <a:gdLst/>
              <a:ahLst/>
              <a:cxnLst/>
              <a:rect r="r" b="b" t="t" l="l"/>
              <a:pathLst>
                <a:path h="765304" w="10031222">
                  <a:moveTo>
                    <a:pt x="16891" y="0"/>
                  </a:moveTo>
                  <a:lnTo>
                    <a:pt x="10014331" y="0"/>
                  </a:lnTo>
                  <a:cubicBezTo>
                    <a:pt x="10023729" y="0"/>
                    <a:pt x="10031222" y="7620"/>
                    <a:pt x="10031222" y="16891"/>
                  </a:cubicBezTo>
                  <a:lnTo>
                    <a:pt x="10031222" y="748411"/>
                  </a:lnTo>
                  <a:cubicBezTo>
                    <a:pt x="10031222" y="757809"/>
                    <a:pt x="10023602" y="765302"/>
                    <a:pt x="1001433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0014331" y="731520"/>
                  </a:lnTo>
                  <a:lnTo>
                    <a:pt x="10014331" y="748411"/>
                  </a:lnTo>
                  <a:lnTo>
                    <a:pt x="9997440" y="748411"/>
                  </a:lnTo>
                  <a:lnTo>
                    <a:pt x="9997440" y="16891"/>
                  </a:lnTo>
                  <a:lnTo>
                    <a:pt x="10014331" y="16891"/>
                  </a:lnTo>
                  <a:lnTo>
                    <a:pt x="10014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768096" y="9290304"/>
            <a:ext cx="7498080" cy="548640"/>
            <a:chOff x="0" y="0"/>
            <a:chExt cx="9997440" cy="73152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9997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45A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💡 Best for: First-time buyers needing expert guidance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9771383" y="1962407"/>
            <a:ext cx="7980683" cy="7980683"/>
            <a:chOff x="0" y="0"/>
            <a:chExt cx="10640911" cy="10640911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16891" y="16891"/>
              <a:ext cx="10607040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0607040"/>
                  </a:lnTo>
                  <a:lnTo>
                    <a:pt x="0" y="10607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0640822" cy="10640822"/>
            </a:xfrm>
            <a:custGeom>
              <a:avLst/>
              <a:gdLst/>
              <a:ahLst/>
              <a:cxnLst/>
              <a:rect r="r" b="b" t="t" l="l"/>
              <a:pathLst>
                <a:path h="10640822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10623931"/>
                  </a:lnTo>
                  <a:cubicBezTo>
                    <a:pt x="10640822" y="10633329"/>
                    <a:pt x="10633202" y="10640822"/>
                    <a:pt x="10623931" y="10640822"/>
                  </a:cubicBezTo>
                  <a:lnTo>
                    <a:pt x="16891" y="10640822"/>
                  </a:lnTo>
                  <a:cubicBezTo>
                    <a:pt x="7493" y="10640822"/>
                    <a:pt x="0" y="10633202"/>
                    <a:pt x="0" y="10623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623931"/>
                  </a:lnTo>
                  <a:lnTo>
                    <a:pt x="16891" y="10623931"/>
                  </a:lnTo>
                  <a:lnTo>
                    <a:pt x="16891" y="10607040"/>
                  </a:lnTo>
                  <a:lnTo>
                    <a:pt x="10623931" y="10607040"/>
                  </a:lnTo>
                  <a:lnTo>
                    <a:pt x="10623931" y="10623931"/>
                  </a:lnTo>
                  <a:lnTo>
                    <a:pt x="10607040" y="1062393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9771383" y="1962407"/>
            <a:ext cx="7980683" cy="976379"/>
            <a:chOff x="0" y="0"/>
            <a:chExt cx="10640911" cy="1301839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16891" y="16891"/>
              <a:ext cx="106070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0640822" cy="1301750"/>
            </a:xfrm>
            <a:custGeom>
              <a:avLst/>
              <a:gdLst/>
              <a:ahLst/>
              <a:cxnLst/>
              <a:rect r="r" b="b" t="t" l="l"/>
              <a:pathLst>
                <a:path h="1301750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1284859"/>
                  </a:lnTo>
                  <a:cubicBezTo>
                    <a:pt x="10640822" y="1294257"/>
                    <a:pt x="10633202" y="1301750"/>
                    <a:pt x="1062393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0623931" y="1267968"/>
                  </a:lnTo>
                  <a:lnTo>
                    <a:pt x="10623931" y="1284859"/>
                  </a:lnTo>
                  <a:lnTo>
                    <a:pt x="10607040" y="1284859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0003536" y="2011680"/>
            <a:ext cx="7498080" cy="877824"/>
            <a:chOff x="0" y="0"/>
            <a:chExt cx="9997440" cy="117043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57150"/>
              <a:ext cx="9997440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PATH B  —  Direct Buy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0045703" y="3132839"/>
            <a:ext cx="574043" cy="574043"/>
            <a:chOff x="0" y="0"/>
            <a:chExt cx="765391" cy="765391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0058400" y="3145536"/>
            <a:ext cx="548640" cy="548640"/>
            <a:chOff x="0" y="0"/>
            <a:chExt cx="731520" cy="73152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0789920" y="3145536"/>
            <a:ext cx="6675120" cy="804672"/>
            <a:chOff x="0" y="0"/>
            <a:chExt cx="8900160" cy="107289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8900160" cy="1072896"/>
            </a:xfrm>
            <a:custGeom>
              <a:avLst/>
              <a:gdLst/>
              <a:ahLst/>
              <a:cxnLst/>
              <a:rect r="r" b="b" t="t" l="l"/>
              <a:pathLst>
                <a:path h="1072896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637" r="0" b="-111637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47625"/>
              <a:ext cx="890016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 browses all 9 predefined plans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0304526" y="3675126"/>
            <a:ext cx="38100" cy="440436"/>
            <a:chOff x="0" y="0"/>
            <a:chExt cx="50800" cy="587248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25400"/>
              <a:ext cx="50800" cy="536448"/>
            </a:xfrm>
            <a:custGeom>
              <a:avLst/>
              <a:gdLst/>
              <a:ahLst/>
              <a:cxnLst/>
              <a:rect r="r" b="b" t="t" l="l"/>
              <a:pathLst>
                <a:path h="536448" w="50800">
                  <a:moveTo>
                    <a:pt x="50800" y="0"/>
                  </a:moveTo>
                  <a:lnTo>
                    <a:pt x="50800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10045703" y="4083815"/>
            <a:ext cx="574043" cy="574043"/>
            <a:chOff x="0" y="0"/>
            <a:chExt cx="765391" cy="765391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0058400" y="4096512"/>
            <a:ext cx="548640" cy="548640"/>
            <a:chOff x="0" y="0"/>
            <a:chExt cx="731520" cy="73152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0789920" y="4096512"/>
            <a:ext cx="6675120" cy="804672"/>
            <a:chOff x="0" y="0"/>
            <a:chExt cx="8900160" cy="107289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8900160" cy="1072896"/>
            </a:xfrm>
            <a:custGeom>
              <a:avLst/>
              <a:gdLst/>
              <a:ahLst/>
              <a:cxnLst/>
              <a:rect r="r" b="b" t="t" l="l"/>
              <a:pathLst>
                <a:path h="1072896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637" r="0" b="-111637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47625"/>
              <a:ext cx="890016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 selects a plan directly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0304526" y="4626102"/>
            <a:ext cx="38100" cy="440436"/>
            <a:chOff x="0" y="0"/>
            <a:chExt cx="50800" cy="58724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25400"/>
              <a:ext cx="50800" cy="536448"/>
            </a:xfrm>
            <a:custGeom>
              <a:avLst/>
              <a:gdLst/>
              <a:ahLst/>
              <a:cxnLst/>
              <a:rect r="r" b="b" t="t" l="l"/>
              <a:pathLst>
                <a:path h="536448" w="50800">
                  <a:moveTo>
                    <a:pt x="50800" y="0"/>
                  </a:moveTo>
                  <a:lnTo>
                    <a:pt x="50800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0045703" y="5034791"/>
            <a:ext cx="574043" cy="574043"/>
            <a:chOff x="0" y="0"/>
            <a:chExt cx="765391" cy="765391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0058400" y="5047488"/>
            <a:ext cx="548640" cy="548640"/>
            <a:chOff x="0" y="0"/>
            <a:chExt cx="731520" cy="73152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0789920" y="5047488"/>
            <a:ext cx="6675120" cy="804672"/>
            <a:chOff x="0" y="0"/>
            <a:chExt cx="8900160" cy="1072896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8900160" cy="1072896"/>
            </a:xfrm>
            <a:custGeom>
              <a:avLst/>
              <a:gdLst/>
              <a:ahLst/>
              <a:cxnLst/>
              <a:rect r="r" b="b" t="t" l="l"/>
              <a:pathLst>
                <a:path h="1072896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637" r="0" b="-111637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47625"/>
              <a:ext cx="890016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 auto-assigned at this interaction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0304526" y="5577078"/>
            <a:ext cx="38100" cy="440436"/>
            <a:chOff x="0" y="0"/>
            <a:chExt cx="50800" cy="58724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25400"/>
              <a:ext cx="50800" cy="536448"/>
            </a:xfrm>
            <a:custGeom>
              <a:avLst/>
              <a:gdLst/>
              <a:ahLst/>
              <a:cxnLst/>
              <a:rect r="r" b="b" t="t" l="l"/>
              <a:pathLst>
                <a:path h="536448" w="50800">
                  <a:moveTo>
                    <a:pt x="50800" y="0"/>
                  </a:moveTo>
                  <a:lnTo>
                    <a:pt x="50800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10045703" y="5985767"/>
            <a:ext cx="574043" cy="574043"/>
            <a:chOff x="0" y="0"/>
            <a:chExt cx="765391" cy="765391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0058400" y="5998464"/>
            <a:ext cx="548640" cy="548640"/>
            <a:chOff x="0" y="0"/>
            <a:chExt cx="731520" cy="73152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10789920" y="5998464"/>
            <a:ext cx="6675120" cy="804672"/>
            <a:chOff x="0" y="0"/>
            <a:chExt cx="8900160" cy="1072896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8900160" cy="1072896"/>
            </a:xfrm>
            <a:custGeom>
              <a:avLst/>
              <a:gdLst/>
              <a:ahLst/>
              <a:cxnLst/>
              <a:rect r="r" b="b" t="t" l="l"/>
              <a:pathLst>
                <a:path h="1072896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637" r="0" b="-111637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47625"/>
              <a:ext cx="890016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 generates 5-factor premium quote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10304526" y="6528054"/>
            <a:ext cx="38100" cy="440436"/>
            <a:chOff x="0" y="0"/>
            <a:chExt cx="50800" cy="587248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25400"/>
              <a:ext cx="50800" cy="536448"/>
            </a:xfrm>
            <a:custGeom>
              <a:avLst/>
              <a:gdLst/>
              <a:ahLst/>
              <a:cxnLst/>
              <a:rect r="r" b="b" t="t" l="l"/>
              <a:pathLst>
                <a:path h="536448" w="50800">
                  <a:moveTo>
                    <a:pt x="50800" y="0"/>
                  </a:moveTo>
                  <a:lnTo>
                    <a:pt x="50800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0045703" y="6936743"/>
            <a:ext cx="574043" cy="574043"/>
            <a:chOff x="0" y="0"/>
            <a:chExt cx="765391" cy="765391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0058400" y="6949440"/>
            <a:ext cx="548640" cy="548640"/>
            <a:chOff x="0" y="0"/>
            <a:chExt cx="731520" cy="73152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0" id="170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10789920" y="6949440"/>
            <a:ext cx="6675120" cy="804672"/>
            <a:chOff x="0" y="0"/>
            <a:chExt cx="8900160" cy="1072896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8900160" cy="1072896"/>
            </a:xfrm>
            <a:custGeom>
              <a:avLst/>
              <a:gdLst/>
              <a:ahLst/>
              <a:cxnLst/>
              <a:rect r="r" b="b" t="t" l="l"/>
              <a:pathLst>
                <a:path h="1072896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637" r="0" b="-111637"/>
              </a:stretch>
            </a:blipFill>
          </p:spPr>
        </p:sp>
        <p:sp>
          <p:nvSpPr>
            <p:cNvPr name="TextBox 173" id="173"/>
            <p:cNvSpPr txBox="true"/>
            <p:nvPr/>
          </p:nvSpPr>
          <p:spPr>
            <a:xfrm>
              <a:off x="0" y="-47625"/>
              <a:ext cx="890016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 reviews full breakdown &amp; accepts</a:t>
              </a: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10304526" y="7479030"/>
            <a:ext cx="38100" cy="440436"/>
            <a:chOff x="0" y="0"/>
            <a:chExt cx="50800" cy="587248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25400"/>
              <a:ext cx="50800" cy="536448"/>
            </a:xfrm>
            <a:custGeom>
              <a:avLst/>
              <a:gdLst/>
              <a:ahLst/>
              <a:cxnLst/>
              <a:rect r="r" b="b" t="t" l="l"/>
              <a:pathLst>
                <a:path h="536448" w="50800">
                  <a:moveTo>
                    <a:pt x="50800" y="0"/>
                  </a:moveTo>
                  <a:lnTo>
                    <a:pt x="50800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10045703" y="7887719"/>
            <a:ext cx="574043" cy="574043"/>
            <a:chOff x="0" y="0"/>
            <a:chExt cx="765391" cy="765391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10058400" y="7900416"/>
            <a:ext cx="548640" cy="548640"/>
            <a:chOff x="0" y="0"/>
            <a:chExt cx="731520" cy="73152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0789920" y="7900416"/>
            <a:ext cx="6675120" cy="804672"/>
            <a:chOff x="0" y="0"/>
            <a:chExt cx="8900160" cy="1072896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8900160" cy="1072896"/>
            </a:xfrm>
            <a:custGeom>
              <a:avLst/>
              <a:gdLst/>
              <a:ahLst/>
              <a:cxnLst/>
              <a:rect r="r" b="b" t="t" l="l"/>
              <a:pathLst>
                <a:path h="1072896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637" r="0" b="-111637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47625"/>
              <a:ext cx="890016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Payment → Policy Active → Commission credited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9990839" y="9277607"/>
            <a:ext cx="7523483" cy="574043"/>
            <a:chOff x="0" y="0"/>
            <a:chExt cx="10031311" cy="765391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16891" y="16891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1F5F9"/>
            </a:solidFill>
          </p:spPr>
        </p:sp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10031222" cy="765304"/>
            </a:xfrm>
            <a:custGeom>
              <a:avLst/>
              <a:gdLst/>
              <a:ahLst/>
              <a:cxnLst/>
              <a:rect r="r" b="b" t="t" l="l"/>
              <a:pathLst>
                <a:path h="765304" w="10031222">
                  <a:moveTo>
                    <a:pt x="16891" y="0"/>
                  </a:moveTo>
                  <a:lnTo>
                    <a:pt x="10014331" y="0"/>
                  </a:lnTo>
                  <a:cubicBezTo>
                    <a:pt x="10023729" y="0"/>
                    <a:pt x="10031222" y="7620"/>
                    <a:pt x="10031222" y="16891"/>
                  </a:cubicBezTo>
                  <a:lnTo>
                    <a:pt x="10031222" y="748411"/>
                  </a:lnTo>
                  <a:cubicBezTo>
                    <a:pt x="10031222" y="757809"/>
                    <a:pt x="10023602" y="765302"/>
                    <a:pt x="1001433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0014331" y="731520"/>
                  </a:lnTo>
                  <a:lnTo>
                    <a:pt x="10014331" y="748411"/>
                  </a:lnTo>
                  <a:lnTo>
                    <a:pt x="9997440" y="748411"/>
                  </a:lnTo>
                  <a:lnTo>
                    <a:pt x="9997440" y="16891"/>
                  </a:lnTo>
                  <a:lnTo>
                    <a:pt x="10014331" y="16891"/>
                  </a:lnTo>
                  <a:lnTo>
                    <a:pt x="10014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10003536" y="9290304"/>
            <a:ext cx="7498080" cy="548640"/>
            <a:chOff x="0" y="0"/>
            <a:chExt cx="9997440" cy="731520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38100"/>
              <a:ext cx="9997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A2B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 Best for: Informed buyers who know what they want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8387077" y="5460997"/>
            <a:ext cx="1367533" cy="1367533"/>
            <a:chOff x="0" y="0"/>
            <a:chExt cx="1823377" cy="1823377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33909" y="33909"/>
              <a:ext cx="17556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55648">
                  <a:moveTo>
                    <a:pt x="0" y="877824"/>
                  </a:moveTo>
                  <a:cubicBezTo>
                    <a:pt x="0" y="393065"/>
                    <a:pt x="393065" y="0"/>
                    <a:pt x="877824" y="0"/>
                  </a:cubicBezTo>
                  <a:cubicBezTo>
                    <a:pt x="1362583" y="0"/>
                    <a:pt x="1755648" y="393065"/>
                    <a:pt x="1755648" y="877824"/>
                  </a:cubicBezTo>
                  <a:cubicBezTo>
                    <a:pt x="1755648" y="1362583"/>
                    <a:pt x="1362583" y="1755648"/>
                    <a:pt x="877824" y="1755648"/>
                  </a:cubicBezTo>
                  <a:cubicBezTo>
                    <a:pt x="393065" y="1755648"/>
                    <a:pt x="0" y="1362583"/>
                    <a:pt x="0" y="877824"/>
                  </a:cubicBez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1823466" cy="1823466"/>
            </a:xfrm>
            <a:custGeom>
              <a:avLst/>
              <a:gdLst/>
              <a:ahLst/>
              <a:cxnLst/>
              <a:rect r="r" b="b" t="t" l="l"/>
              <a:pathLst>
                <a:path h="1823466" w="1823466">
                  <a:moveTo>
                    <a:pt x="0" y="911733"/>
                  </a:moveTo>
                  <a:cubicBezTo>
                    <a:pt x="0" y="408178"/>
                    <a:pt x="408178" y="0"/>
                    <a:pt x="911733" y="0"/>
                  </a:cubicBezTo>
                  <a:lnTo>
                    <a:pt x="911733" y="33909"/>
                  </a:lnTo>
                  <a:lnTo>
                    <a:pt x="911733" y="0"/>
                  </a:lnTo>
                  <a:cubicBezTo>
                    <a:pt x="1415288" y="0"/>
                    <a:pt x="1823466" y="408178"/>
                    <a:pt x="1823466" y="911733"/>
                  </a:cubicBezTo>
                  <a:cubicBezTo>
                    <a:pt x="1823466" y="1415288"/>
                    <a:pt x="1415288" y="1823466"/>
                    <a:pt x="911733" y="1823466"/>
                  </a:cubicBezTo>
                  <a:lnTo>
                    <a:pt x="911733" y="1789557"/>
                  </a:lnTo>
                  <a:lnTo>
                    <a:pt x="911733" y="1823466"/>
                  </a:lnTo>
                  <a:cubicBezTo>
                    <a:pt x="408178" y="1823339"/>
                    <a:pt x="0" y="1415161"/>
                    <a:pt x="0" y="911733"/>
                  </a:cubicBezTo>
                  <a:lnTo>
                    <a:pt x="33909" y="911733"/>
                  </a:lnTo>
                  <a:lnTo>
                    <a:pt x="62611" y="929640"/>
                  </a:lnTo>
                  <a:cubicBezTo>
                    <a:pt x="54610" y="942467"/>
                    <a:pt x="39116" y="948436"/>
                    <a:pt x="24511" y="944245"/>
                  </a:cubicBezTo>
                  <a:cubicBezTo>
                    <a:pt x="9906" y="940054"/>
                    <a:pt x="0" y="926846"/>
                    <a:pt x="0" y="911733"/>
                  </a:cubicBezTo>
                  <a:moveTo>
                    <a:pt x="67691" y="911733"/>
                  </a:moveTo>
                  <a:lnTo>
                    <a:pt x="33909" y="911733"/>
                  </a:lnTo>
                  <a:lnTo>
                    <a:pt x="5207" y="893699"/>
                  </a:lnTo>
                  <a:cubicBezTo>
                    <a:pt x="13208" y="880872"/>
                    <a:pt x="28702" y="874903"/>
                    <a:pt x="43307" y="879094"/>
                  </a:cubicBezTo>
                  <a:cubicBezTo>
                    <a:pt x="57912" y="883285"/>
                    <a:pt x="67818" y="896493"/>
                    <a:pt x="67818" y="911606"/>
                  </a:cubicBezTo>
                  <a:cubicBezTo>
                    <a:pt x="67818" y="1377696"/>
                    <a:pt x="445643" y="1755521"/>
                    <a:pt x="911733" y="1755521"/>
                  </a:cubicBezTo>
                  <a:cubicBezTo>
                    <a:pt x="1377823" y="1755521"/>
                    <a:pt x="1755648" y="1377696"/>
                    <a:pt x="1755648" y="911606"/>
                  </a:cubicBezTo>
                  <a:lnTo>
                    <a:pt x="1789557" y="911606"/>
                  </a:lnTo>
                  <a:lnTo>
                    <a:pt x="1755648" y="911606"/>
                  </a:lnTo>
                  <a:cubicBezTo>
                    <a:pt x="1755648" y="445516"/>
                    <a:pt x="1377823" y="67691"/>
                    <a:pt x="911733" y="67691"/>
                  </a:cubicBezTo>
                  <a:lnTo>
                    <a:pt x="911733" y="33909"/>
                  </a:lnTo>
                  <a:lnTo>
                    <a:pt x="911733" y="67691"/>
                  </a:lnTo>
                  <a:cubicBezTo>
                    <a:pt x="445643" y="67691"/>
                    <a:pt x="67818" y="445516"/>
                    <a:pt x="67818" y="911606"/>
                  </a:cubicBezTo>
                  <a:close/>
                </a:path>
              </a:pathLst>
            </a:custGeom>
            <a:solidFill>
              <a:srgbClr val="FFA44F"/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8412480" y="5486400"/>
            <a:ext cx="1316736" cy="1316736"/>
            <a:chOff x="0" y="0"/>
            <a:chExt cx="1755648" cy="175564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17556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9525"/>
              <a:ext cx="1755648" cy="17651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OR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329184"/>
            <a:ext cx="16459200" cy="950976"/>
            <a:chOff x="0" y="0"/>
            <a:chExt cx="21945600" cy="12679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94560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A2B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Premium Quote Calculation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316736"/>
            <a:ext cx="16459200" cy="512064"/>
            <a:chOff x="0" y="0"/>
            <a:chExt cx="2194560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19456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5-Factor Risk-Based Underwriting Formula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1703" y="1907543"/>
            <a:ext cx="16484603" cy="1342139"/>
            <a:chOff x="0" y="0"/>
            <a:chExt cx="21979471" cy="17895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19455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793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1772539"/>
                  </a:lnTo>
                  <a:cubicBezTo>
                    <a:pt x="21979382" y="1781937"/>
                    <a:pt x="21971763" y="1789430"/>
                    <a:pt x="219624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1962490" y="1755648"/>
                  </a:lnTo>
                  <a:lnTo>
                    <a:pt x="21962490" y="1772539"/>
                  </a:lnTo>
                  <a:lnTo>
                    <a:pt x="21945600" y="1772539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1975104"/>
            <a:ext cx="16093440" cy="1207008"/>
            <a:chOff x="0" y="0"/>
            <a:chExt cx="21457920" cy="16093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4579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1457920" cy="1666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Premium  =  Base Rate/Emp  ×  No. of Employees  ×  Industry Factor  ×  Geography Factor  ×  Plan Factor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99367" y="3462023"/>
            <a:ext cx="5548379" cy="6517643"/>
            <a:chOff x="0" y="0"/>
            <a:chExt cx="7397839" cy="86901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363968" cy="8656320"/>
            </a:xfrm>
            <a:custGeom>
              <a:avLst/>
              <a:gdLst/>
              <a:ahLst/>
              <a:cxnLst/>
              <a:rect r="r" b="b" t="t" l="l"/>
              <a:pathLst>
                <a:path h="8656320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8656320"/>
                  </a:lnTo>
                  <a:lnTo>
                    <a:pt x="0" y="86563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97750" cy="8690101"/>
            </a:xfrm>
            <a:custGeom>
              <a:avLst/>
              <a:gdLst/>
              <a:ahLst/>
              <a:cxnLst/>
              <a:rect r="r" b="b" t="t" l="l"/>
              <a:pathLst>
                <a:path h="8690101" w="7397750">
                  <a:moveTo>
                    <a:pt x="16891" y="0"/>
                  </a:moveTo>
                  <a:lnTo>
                    <a:pt x="7380859" y="0"/>
                  </a:lnTo>
                  <a:cubicBezTo>
                    <a:pt x="7390257" y="0"/>
                    <a:pt x="7397750" y="7620"/>
                    <a:pt x="7397750" y="16891"/>
                  </a:cubicBezTo>
                  <a:lnTo>
                    <a:pt x="7397750" y="8673211"/>
                  </a:lnTo>
                  <a:cubicBezTo>
                    <a:pt x="7397750" y="8682609"/>
                    <a:pt x="7390130" y="8690101"/>
                    <a:pt x="7380859" y="8690101"/>
                  </a:cubicBezTo>
                  <a:lnTo>
                    <a:pt x="16891" y="8690101"/>
                  </a:lnTo>
                  <a:cubicBezTo>
                    <a:pt x="7493" y="8690101"/>
                    <a:pt x="0" y="8682482"/>
                    <a:pt x="0" y="8673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673211"/>
                  </a:lnTo>
                  <a:lnTo>
                    <a:pt x="16891" y="8673211"/>
                  </a:lnTo>
                  <a:lnTo>
                    <a:pt x="16891" y="8656320"/>
                  </a:lnTo>
                  <a:lnTo>
                    <a:pt x="7380859" y="8656320"/>
                  </a:lnTo>
                  <a:lnTo>
                    <a:pt x="7380859" y="8673211"/>
                  </a:lnTo>
                  <a:lnTo>
                    <a:pt x="7363968" y="8673211"/>
                  </a:lnTo>
                  <a:lnTo>
                    <a:pt x="7363968" y="16891"/>
                  </a:lnTo>
                  <a:lnTo>
                    <a:pt x="7380859" y="16891"/>
                  </a:lnTo>
                  <a:lnTo>
                    <a:pt x="73808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99367" y="3462023"/>
            <a:ext cx="5548379" cy="135131"/>
            <a:chOff x="0" y="0"/>
            <a:chExt cx="7397839" cy="1801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7363968" cy="146304"/>
            </a:xfrm>
            <a:custGeom>
              <a:avLst/>
              <a:gdLst/>
              <a:ahLst/>
              <a:cxnLst/>
              <a:rect r="r" b="b" t="t" l="l"/>
              <a:pathLst>
                <a:path h="146304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97750" cy="180088"/>
            </a:xfrm>
            <a:custGeom>
              <a:avLst/>
              <a:gdLst/>
              <a:ahLst/>
              <a:cxnLst/>
              <a:rect r="r" b="b" t="t" l="l"/>
              <a:pathLst>
                <a:path h="180088" w="7397750">
                  <a:moveTo>
                    <a:pt x="16891" y="0"/>
                  </a:moveTo>
                  <a:lnTo>
                    <a:pt x="7380859" y="0"/>
                  </a:lnTo>
                  <a:cubicBezTo>
                    <a:pt x="7390257" y="0"/>
                    <a:pt x="7397750" y="7620"/>
                    <a:pt x="7397750" y="16891"/>
                  </a:cubicBezTo>
                  <a:lnTo>
                    <a:pt x="7397750" y="163195"/>
                  </a:lnTo>
                  <a:cubicBezTo>
                    <a:pt x="7397750" y="172593"/>
                    <a:pt x="7390130" y="180086"/>
                    <a:pt x="7380859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380859" y="146304"/>
                  </a:lnTo>
                  <a:lnTo>
                    <a:pt x="7380859" y="163195"/>
                  </a:lnTo>
                  <a:lnTo>
                    <a:pt x="7363968" y="163195"/>
                  </a:lnTo>
                  <a:lnTo>
                    <a:pt x="7363968" y="16891"/>
                  </a:lnTo>
                  <a:lnTo>
                    <a:pt x="7380859" y="16891"/>
                  </a:lnTo>
                  <a:lnTo>
                    <a:pt x="73808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31520" y="3694176"/>
            <a:ext cx="5120640" cy="658368"/>
            <a:chOff x="0" y="0"/>
            <a:chExt cx="6827520" cy="8778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27520" cy="877824"/>
            </a:xfrm>
            <a:custGeom>
              <a:avLst/>
              <a:gdLst/>
              <a:ahLst/>
              <a:cxnLst/>
              <a:rect r="r" b="b" t="t" l="l"/>
              <a:pathLst>
                <a:path h="87782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82752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47B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🏭  Industry Risk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68096" y="4517136"/>
            <a:ext cx="3474720" cy="658368"/>
            <a:chOff x="0" y="0"/>
            <a:chExt cx="4632960" cy="8778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632960" cy="877824"/>
            </a:xfrm>
            <a:custGeom>
              <a:avLst/>
              <a:gdLst/>
              <a:ahLst/>
              <a:cxnLst/>
              <a:rect r="r" b="b" t="t" l="l"/>
              <a:pathLst>
                <a:path h="87782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632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/ IT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193543" y="4577591"/>
            <a:ext cx="1598171" cy="500891"/>
            <a:chOff x="0" y="0"/>
            <a:chExt cx="2130895" cy="66785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30806" cy="667768"/>
            </a:xfrm>
            <a:custGeom>
              <a:avLst/>
              <a:gdLst/>
              <a:ahLst/>
              <a:cxnLst/>
              <a:rect r="r" b="b" t="t" l="l"/>
              <a:pathLst>
                <a:path h="667768" w="2130806">
                  <a:moveTo>
                    <a:pt x="16891" y="0"/>
                  </a:moveTo>
                  <a:lnTo>
                    <a:pt x="2113915" y="0"/>
                  </a:lnTo>
                  <a:cubicBezTo>
                    <a:pt x="2123313" y="0"/>
                    <a:pt x="2130806" y="7620"/>
                    <a:pt x="2130806" y="16891"/>
                  </a:cubicBezTo>
                  <a:lnTo>
                    <a:pt x="2130806" y="650875"/>
                  </a:lnTo>
                  <a:cubicBezTo>
                    <a:pt x="2130806" y="660273"/>
                    <a:pt x="2123186" y="667766"/>
                    <a:pt x="2113915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113915" y="633984"/>
                  </a:lnTo>
                  <a:lnTo>
                    <a:pt x="2113915" y="650875"/>
                  </a:lnTo>
                  <a:lnTo>
                    <a:pt x="2097024" y="650875"/>
                  </a:lnTo>
                  <a:lnTo>
                    <a:pt x="2097024" y="16891"/>
                  </a:lnTo>
                  <a:lnTo>
                    <a:pt x="2113915" y="16891"/>
                  </a:lnTo>
                  <a:lnTo>
                    <a:pt x="21139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206240" y="4590288"/>
            <a:ext cx="1572768" cy="475488"/>
            <a:chOff x="0" y="0"/>
            <a:chExt cx="2097024" cy="6339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09702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1.00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68096" y="5266944"/>
            <a:ext cx="3474720" cy="658368"/>
            <a:chOff x="0" y="0"/>
            <a:chExt cx="4632960" cy="87782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632960" cy="877824"/>
            </a:xfrm>
            <a:custGeom>
              <a:avLst/>
              <a:gdLst/>
              <a:ahLst/>
              <a:cxnLst/>
              <a:rect r="r" b="b" t="t" l="l"/>
              <a:pathLst>
                <a:path h="87782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632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Finance / Banking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193543" y="5327399"/>
            <a:ext cx="1598171" cy="500891"/>
            <a:chOff x="0" y="0"/>
            <a:chExt cx="2130895" cy="66785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30806" cy="667768"/>
            </a:xfrm>
            <a:custGeom>
              <a:avLst/>
              <a:gdLst/>
              <a:ahLst/>
              <a:cxnLst/>
              <a:rect r="r" b="b" t="t" l="l"/>
              <a:pathLst>
                <a:path h="667768" w="2130806">
                  <a:moveTo>
                    <a:pt x="16891" y="0"/>
                  </a:moveTo>
                  <a:lnTo>
                    <a:pt x="2113915" y="0"/>
                  </a:lnTo>
                  <a:cubicBezTo>
                    <a:pt x="2123313" y="0"/>
                    <a:pt x="2130806" y="7620"/>
                    <a:pt x="2130806" y="16891"/>
                  </a:cubicBezTo>
                  <a:lnTo>
                    <a:pt x="2130806" y="650875"/>
                  </a:lnTo>
                  <a:cubicBezTo>
                    <a:pt x="2130806" y="660273"/>
                    <a:pt x="2123186" y="667766"/>
                    <a:pt x="2113915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113915" y="633984"/>
                  </a:lnTo>
                  <a:lnTo>
                    <a:pt x="2113915" y="650875"/>
                  </a:lnTo>
                  <a:lnTo>
                    <a:pt x="2097024" y="650875"/>
                  </a:lnTo>
                  <a:lnTo>
                    <a:pt x="2097024" y="16891"/>
                  </a:lnTo>
                  <a:lnTo>
                    <a:pt x="2113915" y="16891"/>
                  </a:lnTo>
                  <a:lnTo>
                    <a:pt x="21139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4206240" y="5340096"/>
            <a:ext cx="1572768" cy="475488"/>
            <a:chOff x="0" y="0"/>
            <a:chExt cx="2097024" cy="6339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09702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1.03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68096" y="6016752"/>
            <a:ext cx="3474720" cy="658368"/>
            <a:chOff x="0" y="0"/>
            <a:chExt cx="4632960" cy="87782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632960" cy="877824"/>
            </a:xfrm>
            <a:custGeom>
              <a:avLst/>
              <a:gdLst/>
              <a:ahLst/>
              <a:cxnLst/>
              <a:rect r="r" b="b" t="t" l="l"/>
              <a:pathLst>
                <a:path h="87782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632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Healthcare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193543" y="6077207"/>
            <a:ext cx="1598171" cy="500891"/>
            <a:chOff x="0" y="0"/>
            <a:chExt cx="2130895" cy="66785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30806" cy="667768"/>
            </a:xfrm>
            <a:custGeom>
              <a:avLst/>
              <a:gdLst/>
              <a:ahLst/>
              <a:cxnLst/>
              <a:rect r="r" b="b" t="t" l="l"/>
              <a:pathLst>
                <a:path h="667768" w="2130806">
                  <a:moveTo>
                    <a:pt x="16891" y="0"/>
                  </a:moveTo>
                  <a:lnTo>
                    <a:pt x="2113915" y="0"/>
                  </a:lnTo>
                  <a:cubicBezTo>
                    <a:pt x="2123313" y="0"/>
                    <a:pt x="2130806" y="7620"/>
                    <a:pt x="2130806" y="16891"/>
                  </a:cubicBezTo>
                  <a:lnTo>
                    <a:pt x="2130806" y="650875"/>
                  </a:lnTo>
                  <a:cubicBezTo>
                    <a:pt x="2130806" y="660273"/>
                    <a:pt x="2123186" y="667766"/>
                    <a:pt x="2113915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113915" y="633984"/>
                  </a:lnTo>
                  <a:lnTo>
                    <a:pt x="2113915" y="650875"/>
                  </a:lnTo>
                  <a:lnTo>
                    <a:pt x="2097024" y="650875"/>
                  </a:lnTo>
                  <a:lnTo>
                    <a:pt x="2097024" y="16891"/>
                  </a:lnTo>
                  <a:lnTo>
                    <a:pt x="2113915" y="16891"/>
                  </a:lnTo>
                  <a:lnTo>
                    <a:pt x="21139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206240" y="6089904"/>
            <a:ext cx="1572768" cy="475488"/>
            <a:chOff x="0" y="0"/>
            <a:chExt cx="2097024" cy="6339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09702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1.05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68096" y="6766560"/>
            <a:ext cx="3474720" cy="658368"/>
            <a:chOff x="0" y="0"/>
            <a:chExt cx="4632960" cy="87782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632960" cy="877824"/>
            </a:xfrm>
            <a:custGeom>
              <a:avLst/>
              <a:gdLst/>
              <a:ahLst/>
              <a:cxnLst/>
              <a:rect r="r" b="b" t="t" l="l"/>
              <a:pathLst>
                <a:path h="87782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632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Retail / Trade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193543" y="6827015"/>
            <a:ext cx="1598171" cy="500891"/>
            <a:chOff x="0" y="0"/>
            <a:chExt cx="2130895" cy="66785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30806" cy="667768"/>
            </a:xfrm>
            <a:custGeom>
              <a:avLst/>
              <a:gdLst/>
              <a:ahLst/>
              <a:cxnLst/>
              <a:rect r="r" b="b" t="t" l="l"/>
              <a:pathLst>
                <a:path h="667768" w="2130806">
                  <a:moveTo>
                    <a:pt x="16891" y="0"/>
                  </a:moveTo>
                  <a:lnTo>
                    <a:pt x="2113915" y="0"/>
                  </a:lnTo>
                  <a:cubicBezTo>
                    <a:pt x="2123313" y="0"/>
                    <a:pt x="2130806" y="7620"/>
                    <a:pt x="2130806" y="16891"/>
                  </a:cubicBezTo>
                  <a:lnTo>
                    <a:pt x="2130806" y="650875"/>
                  </a:lnTo>
                  <a:cubicBezTo>
                    <a:pt x="2130806" y="660273"/>
                    <a:pt x="2123186" y="667766"/>
                    <a:pt x="2113915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113915" y="633984"/>
                  </a:lnTo>
                  <a:lnTo>
                    <a:pt x="2113915" y="650875"/>
                  </a:lnTo>
                  <a:lnTo>
                    <a:pt x="2097024" y="650875"/>
                  </a:lnTo>
                  <a:lnTo>
                    <a:pt x="2097024" y="16891"/>
                  </a:lnTo>
                  <a:lnTo>
                    <a:pt x="2113915" y="16891"/>
                  </a:lnTo>
                  <a:lnTo>
                    <a:pt x="21139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4206240" y="6839712"/>
            <a:ext cx="1572768" cy="475488"/>
            <a:chOff x="0" y="0"/>
            <a:chExt cx="2097024" cy="63398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209702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1.07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68096" y="7516368"/>
            <a:ext cx="3474720" cy="658368"/>
            <a:chOff x="0" y="0"/>
            <a:chExt cx="4632960" cy="87782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632960" cy="877824"/>
            </a:xfrm>
            <a:custGeom>
              <a:avLst/>
              <a:gdLst/>
              <a:ahLst/>
              <a:cxnLst/>
              <a:rect r="r" b="b" t="t" l="l"/>
              <a:pathLst>
                <a:path h="87782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632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Manufacturing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193543" y="7576823"/>
            <a:ext cx="1598171" cy="500891"/>
            <a:chOff x="0" y="0"/>
            <a:chExt cx="2130895" cy="66785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130806" cy="667768"/>
            </a:xfrm>
            <a:custGeom>
              <a:avLst/>
              <a:gdLst/>
              <a:ahLst/>
              <a:cxnLst/>
              <a:rect r="r" b="b" t="t" l="l"/>
              <a:pathLst>
                <a:path h="667768" w="2130806">
                  <a:moveTo>
                    <a:pt x="16891" y="0"/>
                  </a:moveTo>
                  <a:lnTo>
                    <a:pt x="2113915" y="0"/>
                  </a:lnTo>
                  <a:cubicBezTo>
                    <a:pt x="2123313" y="0"/>
                    <a:pt x="2130806" y="7620"/>
                    <a:pt x="2130806" y="16891"/>
                  </a:cubicBezTo>
                  <a:lnTo>
                    <a:pt x="2130806" y="650875"/>
                  </a:lnTo>
                  <a:cubicBezTo>
                    <a:pt x="2130806" y="660273"/>
                    <a:pt x="2123186" y="667766"/>
                    <a:pt x="2113915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113915" y="633984"/>
                  </a:lnTo>
                  <a:lnTo>
                    <a:pt x="2113915" y="650875"/>
                  </a:lnTo>
                  <a:lnTo>
                    <a:pt x="2097024" y="650875"/>
                  </a:lnTo>
                  <a:lnTo>
                    <a:pt x="2097024" y="16891"/>
                  </a:lnTo>
                  <a:lnTo>
                    <a:pt x="2113915" y="16891"/>
                  </a:lnTo>
                  <a:lnTo>
                    <a:pt x="21139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4206240" y="7589520"/>
            <a:ext cx="1572768" cy="475488"/>
            <a:chOff x="0" y="0"/>
            <a:chExt cx="2097024" cy="63398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09702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1.12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68096" y="8266176"/>
            <a:ext cx="3474720" cy="658368"/>
            <a:chOff x="0" y="0"/>
            <a:chExt cx="4632960" cy="87782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632960" cy="877824"/>
            </a:xfrm>
            <a:custGeom>
              <a:avLst/>
              <a:gdLst/>
              <a:ahLst/>
              <a:cxnLst/>
              <a:rect r="r" b="b" t="t" l="l"/>
              <a:pathLst>
                <a:path h="87782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632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Logistics / Transport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4193543" y="8326631"/>
            <a:ext cx="1598171" cy="500891"/>
            <a:chOff x="0" y="0"/>
            <a:chExt cx="2130895" cy="66785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130806" cy="667768"/>
            </a:xfrm>
            <a:custGeom>
              <a:avLst/>
              <a:gdLst/>
              <a:ahLst/>
              <a:cxnLst/>
              <a:rect r="r" b="b" t="t" l="l"/>
              <a:pathLst>
                <a:path h="667768" w="2130806">
                  <a:moveTo>
                    <a:pt x="16891" y="0"/>
                  </a:moveTo>
                  <a:lnTo>
                    <a:pt x="2113915" y="0"/>
                  </a:lnTo>
                  <a:cubicBezTo>
                    <a:pt x="2123313" y="0"/>
                    <a:pt x="2130806" y="7620"/>
                    <a:pt x="2130806" y="16891"/>
                  </a:cubicBezTo>
                  <a:lnTo>
                    <a:pt x="2130806" y="650875"/>
                  </a:lnTo>
                  <a:cubicBezTo>
                    <a:pt x="2130806" y="660273"/>
                    <a:pt x="2123186" y="667766"/>
                    <a:pt x="2113915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113915" y="633984"/>
                  </a:lnTo>
                  <a:lnTo>
                    <a:pt x="2113915" y="650875"/>
                  </a:lnTo>
                  <a:lnTo>
                    <a:pt x="2097024" y="650875"/>
                  </a:lnTo>
                  <a:lnTo>
                    <a:pt x="2097024" y="16891"/>
                  </a:lnTo>
                  <a:lnTo>
                    <a:pt x="2113915" y="16891"/>
                  </a:lnTo>
                  <a:lnTo>
                    <a:pt x="21139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4206240" y="8339328"/>
            <a:ext cx="1572768" cy="475488"/>
            <a:chOff x="0" y="0"/>
            <a:chExt cx="2097024" cy="63398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209702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1.15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768096" y="9015984"/>
            <a:ext cx="3474720" cy="658368"/>
            <a:chOff x="0" y="0"/>
            <a:chExt cx="4632960" cy="87782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632960" cy="877824"/>
            </a:xfrm>
            <a:custGeom>
              <a:avLst/>
              <a:gdLst/>
              <a:ahLst/>
              <a:cxnLst/>
              <a:rect r="r" b="b" t="t" l="l"/>
              <a:pathLst>
                <a:path h="87782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632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Construction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4193543" y="9076439"/>
            <a:ext cx="1598171" cy="500891"/>
            <a:chOff x="0" y="0"/>
            <a:chExt cx="2130895" cy="66785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130806" cy="667768"/>
            </a:xfrm>
            <a:custGeom>
              <a:avLst/>
              <a:gdLst/>
              <a:ahLst/>
              <a:cxnLst/>
              <a:rect r="r" b="b" t="t" l="l"/>
              <a:pathLst>
                <a:path h="667768" w="2130806">
                  <a:moveTo>
                    <a:pt x="16891" y="0"/>
                  </a:moveTo>
                  <a:lnTo>
                    <a:pt x="2113915" y="0"/>
                  </a:lnTo>
                  <a:cubicBezTo>
                    <a:pt x="2123313" y="0"/>
                    <a:pt x="2130806" y="7620"/>
                    <a:pt x="2130806" y="16891"/>
                  </a:cubicBezTo>
                  <a:lnTo>
                    <a:pt x="2130806" y="650875"/>
                  </a:lnTo>
                  <a:cubicBezTo>
                    <a:pt x="2130806" y="660273"/>
                    <a:pt x="2123186" y="667766"/>
                    <a:pt x="2113915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113915" y="633984"/>
                  </a:lnTo>
                  <a:lnTo>
                    <a:pt x="2113915" y="650875"/>
                  </a:lnTo>
                  <a:lnTo>
                    <a:pt x="2097024" y="650875"/>
                  </a:lnTo>
                  <a:lnTo>
                    <a:pt x="2097024" y="16891"/>
                  </a:lnTo>
                  <a:lnTo>
                    <a:pt x="2113915" y="16891"/>
                  </a:lnTo>
                  <a:lnTo>
                    <a:pt x="21139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4206240" y="9089136"/>
            <a:ext cx="1572768" cy="475488"/>
            <a:chOff x="0" y="0"/>
            <a:chExt cx="2097024" cy="6339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209702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1.20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424679" y="3462023"/>
            <a:ext cx="5548379" cy="6517643"/>
            <a:chOff x="0" y="0"/>
            <a:chExt cx="7397839" cy="869019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7363968" cy="8656320"/>
            </a:xfrm>
            <a:custGeom>
              <a:avLst/>
              <a:gdLst/>
              <a:ahLst/>
              <a:cxnLst/>
              <a:rect r="r" b="b" t="t" l="l"/>
              <a:pathLst>
                <a:path h="8656320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8656320"/>
                  </a:lnTo>
                  <a:lnTo>
                    <a:pt x="0" y="86563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397750" cy="8690101"/>
            </a:xfrm>
            <a:custGeom>
              <a:avLst/>
              <a:gdLst/>
              <a:ahLst/>
              <a:cxnLst/>
              <a:rect r="r" b="b" t="t" l="l"/>
              <a:pathLst>
                <a:path h="8690101" w="7397750">
                  <a:moveTo>
                    <a:pt x="16891" y="0"/>
                  </a:moveTo>
                  <a:lnTo>
                    <a:pt x="7380859" y="0"/>
                  </a:lnTo>
                  <a:cubicBezTo>
                    <a:pt x="7390257" y="0"/>
                    <a:pt x="7397750" y="7620"/>
                    <a:pt x="7397750" y="16891"/>
                  </a:cubicBezTo>
                  <a:lnTo>
                    <a:pt x="7397750" y="8673211"/>
                  </a:lnTo>
                  <a:cubicBezTo>
                    <a:pt x="7397750" y="8682609"/>
                    <a:pt x="7390130" y="8690101"/>
                    <a:pt x="7380859" y="8690101"/>
                  </a:cubicBezTo>
                  <a:lnTo>
                    <a:pt x="16891" y="8690101"/>
                  </a:lnTo>
                  <a:cubicBezTo>
                    <a:pt x="7493" y="8690101"/>
                    <a:pt x="0" y="8682482"/>
                    <a:pt x="0" y="8673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673211"/>
                  </a:lnTo>
                  <a:lnTo>
                    <a:pt x="16891" y="8673211"/>
                  </a:lnTo>
                  <a:lnTo>
                    <a:pt x="16891" y="8656320"/>
                  </a:lnTo>
                  <a:lnTo>
                    <a:pt x="7380859" y="8656320"/>
                  </a:lnTo>
                  <a:lnTo>
                    <a:pt x="7380859" y="8673211"/>
                  </a:lnTo>
                  <a:lnTo>
                    <a:pt x="7363968" y="8673211"/>
                  </a:lnTo>
                  <a:lnTo>
                    <a:pt x="7363968" y="16891"/>
                  </a:lnTo>
                  <a:lnTo>
                    <a:pt x="7380859" y="16891"/>
                  </a:lnTo>
                  <a:lnTo>
                    <a:pt x="73808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6424679" y="3462023"/>
            <a:ext cx="5548379" cy="135131"/>
            <a:chOff x="0" y="0"/>
            <a:chExt cx="7397839" cy="18017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7363968" cy="146304"/>
            </a:xfrm>
            <a:custGeom>
              <a:avLst/>
              <a:gdLst/>
              <a:ahLst/>
              <a:cxnLst/>
              <a:rect r="r" b="b" t="t" l="l"/>
              <a:pathLst>
                <a:path h="146304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397750" cy="180088"/>
            </a:xfrm>
            <a:custGeom>
              <a:avLst/>
              <a:gdLst/>
              <a:ahLst/>
              <a:cxnLst/>
              <a:rect r="r" b="b" t="t" l="l"/>
              <a:pathLst>
                <a:path h="180088" w="7397750">
                  <a:moveTo>
                    <a:pt x="16891" y="0"/>
                  </a:moveTo>
                  <a:lnTo>
                    <a:pt x="7380859" y="0"/>
                  </a:lnTo>
                  <a:cubicBezTo>
                    <a:pt x="7390257" y="0"/>
                    <a:pt x="7397750" y="7620"/>
                    <a:pt x="7397750" y="16891"/>
                  </a:cubicBezTo>
                  <a:lnTo>
                    <a:pt x="7397750" y="163195"/>
                  </a:lnTo>
                  <a:cubicBezTo>
                    <a:pt x="7397750" y="172593"/>
                    <a:pt x="7390130" y="180086"/>
                    <a:pt x="7380859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380859" y="146304"/>
                  </a:lnTo>
                  <a:lnTo>
                    <a:pt x="7380859" y="163195"/>
                  </a:lnTo>
                  <a:lnTo>
                    <a:pt x="7363968" y="163195"/>
                  </a:lnTo>
                  <a:lnTo>
                    <a:pt x="7363968" y="16891"/>
                  </a:lnTo>
                  <a:lnTo>
                    <a:pt x="7380859" y="16891"/>
                  </a:lnTo>
                  <a:lnTo>
                    <a:pt x="73808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6656832" y="3694176"/>
            <a:ext cx="5120640" cy="658368"/>
            <a:chOff x="0" y="0"/>
            <a:chExt cx="6827520" cy="87782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827520" cy="877824"/>
            </a:xfrm>
            <a:custGeom>
              <a:avLst/>
              <a:gdLst/>
              <a:ahLst/>
              <a:cxnLst/>
              <a:rect r="r" b="b" t="t" l="l"/>
              <a:pathLst>
                <a:path h="87782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682752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📍  Geography Risk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6693408" y="4517136"/>
            <a:ext cx="3474720" cy="658368"/>
            <a:chOff x="0" y="0"/>
            <a:chExt cx="4632960" cy="87782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632960" cy="877824"/>
            </a:xfrm>
            <a:custGeom>
              <a:avLst/>
              <a:gdLst/>
              <a:ahLst/>
              <a:cxnLst/>
              <a:rect r="r" b="b" t="t" l="l"/>
              <a:pathLst>
                <a:path h="87782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4632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Tier 1 — Metro cities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0118855" y="4577591"/>
            <a:ext cx="1598171" cy="500891"/>
            <a:chOff x="0" y="0"/>
            <a:chExt cx="2130895" cy="66785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130806" cy="667768"/>
            </a:xfrm>
            <a:custGeom>
              <a:avLst/>
              <a:gdLst/>
              <a:ahLst/>
              <a:cxnLst/>
              <a:rect r="r" b="b" t="t" l="l"/>
              <a:pathLst>
                <a:path h="667768" w="2130806">
                  <a:moveTo>
                    <a:pt x="16891" y="0"/>
                  </a:moveTo>
                  <a:lnTo>
                    <a:pt x="2113915" y="0"/>
                  </a:lnTo>
                  <a:cubicBezTo>
                    <a:pt x="2123313" y="0"/>
                    <a:pt x="2130806" y="7620"/>
                    <a:pt x="2130806" y="16891"/>
                  </a:cubicBezTo>
                  <a:lnTo>
                    <a:pt x="2130806" y="650875"/>
                  </a:lnTo>
                  <a:cubicBezTo>
                    <a:pt x="2130806" y="660273"/>
                    <a:pt x="2123186" y="667766"/>
                    <a:pt x="2113915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113915" y="633984"/>
                  </a:lnTo>
                  <a:lnTo>
                    <a:pt x="2113915" y="650875"/>
                  </a:lnTo>
                  <a:lnTo>
                    <a:pt x="2097024" y="650875"/>
                  </a:lnTo>
                  <a:lnTo>
                    <a:pt x="2097024" y="16891"/>
                  </a:lnTo>
                  <a:lnTo>
                    <a:pt x="2113915" y="16891"/>
                  </a:lnTo>
                  <a:lnTo>
                    <a:pt x="21139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0131552" y="4590288"/>
            <a:ext cx="1572768" cy="475488"/>
            <a:chOff x="0" y="0"/>
            <a:chExt cx="2097024" cy="63398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209702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1.10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6693408" y="5266944"/>
            <a:ext cx="3474720" cy="658368"/>
            <a:chOff x="0" y="0"/>
            <a:chExt cx="4632960" cy="87782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632960" cy="877824"/>
            </a:xfrm>
            <a:custGeom>
              <a:avLst/>
              <a:gdLst/>
              <a:ahLst/>
              <a:cxnLst/>
              <a:rect r="r" b="b" t="t" l="l"/>
              <a:pathLst>
                <a:path h="87782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4632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(Mumbai, Delhi, Bengaluru,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6693408" y="6016752"/>
            <a:ext cx="3474720" cy="658368"/>
            <a:chOff x="0" y="0"/>
            <a:chExt cx="4632960" cy="87782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632960" cy="877824"/>
            </a:xfrm>
            <a:custGeom>
              <a:avLst/>
              <a:gdLst/>
              <a:ahLst/>
              <a:cxnLst/>
              <a:rect r="r" b="b" t="t" l="l"/>
              <a:pathLst>
                <a:path h="87782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4632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Chennai, Hyd, Pune, KOL)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6693408" y="6766560"/>
            <a:ext cx="3474720" cy="658368"/>
            <a:chOff x="0" y="0"/>
            <a:chExt cx="4632960" cy="87782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632960" cy="877824"/>
            </a:xfrm>
            <a:custGeom>
              <a:avLst/>
              <a:gdLst/>
              <a:ahLst/>
              <a:cxnLst/>
              <a:rect r="r" b="b" t="t" l="l"/>
              <a:pathLst>
                <a:path h="87782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4632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Tier 2 — Urban cities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0118855" y="6827015"/>
            <a:ext cx="1598171" cy="500891"/>
            <a:chOff x="0" y="0"/>
            <a:chExt cx="2130895" cy="667855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130806" cy="667768"/>
            </a:xfrm>
            <a:custGeom>
              <a:avLst/>
              <a:gdLst/>
              <a:ahLst/>
              <a:cxnLst/>
              <a:rect r="r" b="b" t="t" l="l"/>
              <a:pathLst>
                <a:path h="667768" w="2130806">
                  <a:moveTo>
                    <a:pt x="16891" y="0"/>
                  </a:moveTo>
                  <a:lnTo>
                    <a:pt x="2113915" y="0"/>
                  </a:lnTo>
                  <a:cubicBezTo>
                    <a:pt x="2123313" y="0"/>
                    <a:pt x="2130806" y="7620"/>
                    <a:pt x="2130806" y="16891"/>
                  </a:cubicBezTo>
                  <a:lnTo>
                    <a:pt x="2130806" y="650875"/>
                  </a:lnTo>
                  <a:cubicBezTo>
                    <a:pt x="2130806" y="660273"/>
                    <a:pt x="2123186" y="667766"/>
                    <a:pt x="2113915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113915" y="633984"/>
                  </a:lnTo>
                  <a:lnTo>
                    <a:pt x="2113915" y="650875"/>
                  </a:lnTo>
                  <a:lnTo>
                    <a:pt x="2097024" y="650875"/>
                  </a:lnTo>
                  <a:lnTo>
                    <a:pt x="2097024" y="16891"/>
                  </a:lnTo>
                  <a:lnTo>
                    <a:pt x="2113915" y="16891"/>
                  </a:lnTo>
                  <a:lnTo>
                    <a:pt x="21139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0131552" y="6839712"/>
            <a:ext cx="1572768" cy="475488"/>
            <a:chOff x="0" y="0"/>
            <a:chExt cx="2097024" cy="63398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209702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1.05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6693408" y="7516368"/>
            <a:ext cx="3474720" cy="658368"/>
            <a:chOff x="0" y="0"/>
            <a:chExt cx="4632960" cy="87782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632960" cy="877824"/>
            </a:xfrm>
            <a:custGeom>
              <a:avLst/>
              <a:gdLst/>
              <a:ahLst/>
              <a:cxnLst/>
              <a:rect r="r" b="b" t="t" l="l"/>
              <a:pathLst>
                <a:path h="87782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4632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(Ahmedabad, Vizag, etc.)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6693408" y="8266176"/>
            <a:ext cx="3474720" cy="658368"/>
            <a:chOff x="0" y="0"/>
            <a:chExt cx="4632960" cy="877824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632960" cy="877824"/>
            </a:xfrm>
            <a:custGeom>
              <a:avLst/>
              <a:gdLst/>
              <a:ahLst/>
              <a:cxnLst/>
              <a:rect r="r" b="b" t="t" l="l"/>
              <a:pathLst>
                <a:path h="87782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4632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Tier 3 — Semi-Urban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0118855" y="8326631"/>
            <a:ext cx="1598171" cy="500891"/>
            <a:chOff x="0" y="0"/>
            <a:chExt cx="2130895" cy="667855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130806" cy="667768"/>
            </a:xfrm>
            <a:custGeom>
              <a:avLst/>
              <a:gdLst/>
              <a:ahLst/>
              <a:cxnLst/>
              <a:rect r="r" b="b" t="t" l="l"/>
              <a:pathLst>
                <a:path h="667768" w="2130806">
                  <a:moveTo>
                    <a:pt x="16891" y="0"/>
                  </a:moveTo>
                  <a:lnTo>
                    <a:pt x="2113915" y="0"/>
                  </a:lnTo>
                  <a:cubicBezTo>
                    <a:pt x="2123313" y="0"/>
                    <a:pt x="2130806" y="7620"/>
                    <a:pt x="2130806" y="16891"/>
                  </a:cubicBezTo>
                  <a:lnTo>
                    <a:pt x="2130806" y="650875"/>
                  </a:lnTo>
                  <a:cubicBezTo>
                    <a:pt x="2130806" y="660273"/>
                    <a:pt x="2123186" y="667766"/>
                    <a:pt x="2113915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113915" y="633984"/>
                  </a:lnTo>
                  <a:lnTo>
                    <a:pt x="2113915" y="650875"/>
                  </a:lnTo>
                  <a:lnTo>
                    <a:pt x="2097024" y="650875"/>
                  </a:lnTo>
                  <a:lnTo>
                    <a:pt x="2097024" y="16891"/>
                  </a:lnTo>
                  <a:lnTo>
                    <a:pt x="2113915" y="16891"/>
                  </a:lnTo>
                  <a:lnTo>
                    <a:pt x="21139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0131552" y="8339328"/>
            <a:ext cx="1572768" cy="475488"/>
            <a:chOff x="0" y="0"/>
            <a:chExt cx="2097024" cy="63398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209702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1.00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6693408" y="9015984"/>
            <a:ext cx="3474720" cy="658368"/>
            <a:chOff x="0" y="0"/>
            <a:chExt cx="4632960" cy="87782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632960" cy="877824"/>
            </a:xfrm>
            <a:custGeom>
              <a:avLst/>
              <a:gdLst/>
              <a:ahLst/>
              <a:cxnLst/>
              <a:rect r="r" b="b" t="t" l="l"/>
              <a:pathLst>
                <a:path h="87782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4632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(Warangal, Nashik, etc.)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2349991" y="3462023"/>
            <a:ext cx="5548379" cy="6517643"/>
            <a:chOff x="0" y="0"/>
            <a:chExt cx="7397839" cy="8690191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16891" y="16891"/>
              <a:ext cx="7363968" cy="8656320"/>
            </a:xfrm>
            <a:custGeom>
              <a:avLst/>
              <a:gdLst/>
              <a:ahLst/>
              <a:cxnLst/>
              <a:rect r="r" b="b" t="t" l="l"/>
              <a:pathLst>
                <a:path h="8656320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8656320"/>
                  </a:lnTo>
                  <a:lnTo>
                    <a:pt x="0" y="86563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7397750" cy="8690101"/>
            </a:xfrm>
            <a:custGeom>
              <a:avLst/>
              <a:gdLst/>
              <a:ahLst/>
              <a:cxnLst/>
              <a:rect r="r" b="b" t="t" l="l"/>
              <a:pathLst>
                <a:path h="8690101" w="7397750">
                  <a:moveTo>
                    <a:pt x="16891" y="0"/>
                  </a:moveTo>
                  <a:lnTo>
                    <a:pt x="7380859" y="0"/>
                  </a:lnTo>
                  <a:cubicBezTo>
                    <a:pt x="7390257" y="0"/>
                    <a:pt x="7397750" y="7620"/>
                    <a:pt x="7397750" y="16891"/>
                  </a:cubicBezTo>
                  <a:lnTo>
                    <a:pt x="7397750" y="8673211"/>
                  </a:lnTo>
                  <a:cubicBezTo>
                    <a:pt x="7397750" y="8682609"/>
                    <a:pt x="7390130" y="8690101"/>
                    <a:pt x="7380859" y="8690101"/>
                  </a:cubicBezTo>
                  <a:lnTo>
                    <a:pt x="16891" y="8690101"/>
                  </a:lnTo>
                  <a:cubicBezTo>
                    <a:pt x="7493" y="8690101"/>
                    <a:pt x="0" y="8682482"/>
                    <a:pt x="0" y="8673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673211"/>
                  </a:lnTo>
                  <a:lnTo>
                    <a:pt x="16891" y="8673211"/>
                  </a:lnTo>
                  <a:lnTo>
                    <a:pt x="16891" y="8656320"/>
                  </a:lnTo>
                  <a:lnTo>
                    <a:pt x="7380859" y="8656320"/>
                  </a:lnTo>
                  <a:lnTo>
                    <a:pt x="7380859" y="8673211"/>
                  </a:lnTo>
                  <a:lnTo>
                    <a:pt x="7363968" y="8673211"/>
                  </a:lnTo>
                  <a:lnTo>
                    <a:pt x="7363968" y="16891"/>
                  </a:lnTo>
                  <a:lnTo>
                    <a:pt x="7380859" y="16891"/>
                  </a:lnTo>
                  <a:lnTo>
                    <a:pt x="73808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2349991" y="3462023"/>
            <a:ext cx="5548379" cy="135131"/>
            <a:chOff x="0" y="0"/>
            <a:chExt cx="7397839" cy="180175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16891" y="16891"/>
              <a:ext cx="7363968" cy="146304"/>
            </a:xfrm>
            <a:custGeom>
              <a:avLst/>
              <a:gdLst/>
              <a:ahLst/>
              <a:cxnLst/>
              <a:rect r="r" b="b" t="t" l="l"/>
              <a:pathLst>
                <a:path h="146304" w="7363968">
                  <a:moveTo>
                    <a:pt x="0" y="0"/>
                  </a:moveTo>
                  <a:lnTo>
                    <a:pt x="7363968" y="0"/>
                  </a:lnTo>
                  <a:lnTo>
                    <a:pt x="7363968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45A00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7397750" cy="180088"/>
            </a:xfrm>
            <a:custGeom>
              <a:avLst/>
              <a:gdLst/>
              <a:ahLst/>
              <a:cxnLst/>
              <a:rect r="r" b="b" t="t" l="l"/>
              <a:pathLst>
                <a:path h="180088" w="7397750">
                  <a:moveTo>
                    <a:pt x="16891" y="0"/>
                  </a:moveTo>
                  <a:lnTo>
                    <a:pt x="7380859" y="0"/>
                  </a:lnTo>
                  <a:cubicBezTo>
                    <a:pt x="7390257" y="0"/>
                    <a:pt x="7397750" y="7620"/>
                    <a:pt x="7397750" y="16891"/>
                  </a:cubicBezTo>
                  <a:lnTo>
                    <a:pt x="7397750" y="163195"/>
                  </a:lnTo>
                  <a:cubicBezTo>
                    <a:pt x="7397750" y="172593"/>
                    <a:pt x="7390130" y="180086"/>
                    <a:pt x="7380859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380859" y="146304"/>
                  </a:lnTo>
                  <a:lnTo>
                    <a:pt x="7380859" y="163195"/>
                  </a:lnTo>
                  <a:lnTo>
                    <a:pt x="7363968" y="163195"/>
                  </a:lnTo>
                  <a:lnTo>
                    <a:pt x="7363968" y="16891"/>
                  </a:lnTo>
                  <a:lnTo>
                    <a:pt x="7380859" y="16891"/>
                  </a:lnTo>
                  <a:lnTo>
                    <a:pt x="73808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45A00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2582144" y="3694176"/>
            <a:ext cx="5120640" cy="658368"/>
            <a:chOff x="0" y="0"/>
            <a:chExt cx="6827520" cy="877824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827520" cy="877824"/>
            </a:xfrm>
            <a:custGeom>
              <a:avLst/>
              <a:gdLst/>
              <a:ahLst/>
              <a:cxnLst/>
              <a:rect r="r" b="b" t="t" l="l"/>
              <a:pathLst>
                <a:path h="87782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682752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📋  Plan Risk Factor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2618720" y="4517136"/>
            <a:ext cx="3474720" cy="658368"/>
            <a:chOff x="0" y="0"/>
            <a:chExt cx="4632960" cy="877824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4632960" cy="877824"/>
            </a:xfrm>
            <a:custGeom>
              <a:avLst/>
              <a:gdLst/>
              <a:ahLst/>
              <a:cxnLst/>
              <a:rect r="r" b="b" t="t" l="l"/>
              <a:pathLst>
                <a:path h="87782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4632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Essential Base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6044167" y="4577591"/>
            <a:ext cx="1598171" cy="500891"/>
            <a:chOff x="0" y="0"/>
            <a:chExt cx="2130895" cy="667855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16891" y="16891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130806" cy="667768"/>
            </a:xfrm>
            <a:custGeom>
              <a:avLst/>
              <a:gdLst/>
              <a:ahLst/>
              <a:cxnLst/>
              <a:rect r="r" b="b" t="t" l="l"/>
              <a:pathLst>
                <a:path h="667768" w="2130806">
                  <a:moveTo>
                    <a:pt x="16891" y="0"/>
                  </a:moveTo>
                  <a:lnTo>
                    <a:pt x="2113915" y="0"/>
                  </a:lnTo>
                  <a:cubicBezTo>
                    <a:pt x="2123313" y="0"/>
                    <a:pt x="2130806" y="7620"/>
                    <a:pt x="2130806" y="16891"/>
                  </a:cubicBezTo>
                  <a:lnTo>
                    <a:pt x="2130806" y="650875"/>
                  </a:lnTo>
                  <a:cubicBezTo>
                    <a:pt x="2130806" y="660273"/>
                    <a:pt x="2123186" y="667766"/>
                    <a:pt x="2113915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113915" y="633984"/>
                  </a:lnTo>
                  <a:lnTo>
                    <a:pt x="2113915" y="650875"/>
                  </a:lnTo>
                  <a:lnTo>
                    <a:pt x="2097024" y="650875"/>
                  </a:lnTo>
                  <a:lnTo>
                    <a:pt x="2097024" y="16891"/>
                  </a:lnTo>
                  <a:lnTo>
                    <a:pt x="2113915" y="16891"/>
                  </a:lnTo>
                  <a:lnTo>
                    <a:pt x="21139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6056864" y="4590288"/>
            <a:ext cx="1572768" cy="475488"/>
            <a:chOff x="0" y="0"/>
            <a:chExt cx="2097024" cy="633984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209702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1.00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2618720" y="5266944"/>
            <a:ext cx="3474720" cy="658368"/>
            <a:chOff x="0" y="0"/>
            <a:chExt cx="4632960" cy="877824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4632960" cy="877824"/>
            </a:xfrm>
            <a:custGeom>
              <a:avLst/>
              <a:gdLst/>
              <a:ahLst/>
              <a:cxnLst/>
              <a:rect r="r" b="b" t="t" l="l"/>
              <a:pathLst>
                <a:path h="87782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4632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Essential Plus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6044167" y="5327399"/>
            <a:ext cx="1598171" cy="500891"/>
            <a:chOff x="0" y="0"/>
            <a:chExt cx="2130895" cy="667855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16891" y="16891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2130806" cy="667768"/>
            </a:xfrm>
            <a:custGeom>
              <a:avLst/>
              <a:gdLst/>
              <a:ahLst/>
              <a:cxnLst/>
              <a:rect r="r" b="b" t="t" l="l"/>
              <a:pathLst>
                <a:path h="667768" w="2130806">
                  <a:moveTo>
                    <a:pt x="16891" y="0"/>
                  </a:moveTo>
                  <a:lnTo>
                    <a:pt x="2113915" y="0"/>
                  </a:lnTo>
                  <a:cubicBezTo>
                    <a:pt x="2123313" y="0"/>
                    <a:pt x="2130806" y="7620"/>
                    <a:pt x="2130806" y="16891"/>
                  </a:cubicBezTo>
                  <a:lnTo>
                    <a:pt x="2130806" y="650875"/>
                  </a:lnTo>
                  <a:cubicBezTo>
                    <a:pt x="2130806" y="660273"/>
                    <a:pt x="2123186" y="667766"/>
                    <a:pt x="2113915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113915" y="633984"/>
                  </a:lnTo>
                  <a:lnTo>
                    <a:pt x="2113915" y="650875"/>
                  </a:lnTo>
                  <a:lnTo>
                    <a:pt x="2097024" y="650875"/>
                  </a:lnTo>
                  <a:lnTo>
                    <a:pt x="2097024" y="16891"/>
                  </a:lnTo>
                  <a:lnTo>
                    <a:pt x="2113915" y="16891"/>
                  </a:lnTo>
                  <a:lnTo>
                    <a:pt x="21139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16056864" y="5340096"/>
            <a:ext cx="1572768" cy="475488"/>
            <a:chOff x="0" y="0"/>
            <a:chExt cx="2097024" cy="633984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38100"/>
              <a:ext cx="209702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1.05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2618720" y="6016752"/>
            <a:ext cx="3474720" cy="658368"/>
            <a:chOff x="0" y="0"/>
            <a:chExt cx="4632960" cy="877824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4632960" cy="877824"/>
            </a:xfrm>
            <a:custGeom>
              <a:avLst/>
              <a:gdLst/>
              <a:ahLst/>
              <a:cxnLst/>
              <a:rect r="r" b="b" t="t" l="l"/>
              <a:pathLst>
                <a:path h="87782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4632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Essential Pro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6044167" y="6077207"/>
            <a:ext cx="1598171" cy="500891"/>
            <a:chOff x="0" y="0"/>
            <a:chExt cx="2130895" cy="667855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16891" y="16891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2130806" cy="667768"/>
            </a:xfrm>
            <a:custGeom>
              <a:avLst/>
              <a:gdLst/>
              <a:ahLst/>
              <a:cxnLst/>
              <a:rect r="r" b="b" t="t" l="l"/>
              <a:pathLst>
                <a:path h="667768" w="2130806">
                  <a:moveTo>
                    <a:pt x="16891" y="0"/>
                  </a:moveTo>
                  <a:lnTo>
                    <a:pt x="2113915" y="0"/>
                  </a:lnTo>
                  <a:cubicBezTo>
                    <a:pt x="2123313" y="0"/>
                    <a:pt x="2130806" y="7620"/>
                    <a:pt x="2130806" y="16891"/>
                  </a:cubicBezTo>
                  <a:lnTo>
                    <a:pt x="2130806" y="650875"/>
                  </a:lnTo>
                  <a:cubicBezTo>
                    <a:pt x="2130806" y="660273"/>
                    <a:pt x="2123186" y="667766"/>
                    <a:pt x="2113915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113915" y="633984"/>
                  </a:lnTo>
                  <a:lnTo>
                    <a:pt x="2113915" y="650875"/>
                  </a:lnTo>
                  <a:lnTo>
                    <a:pt x="2097024" y="650875"/>
                  </a:lnTo>
                  <a:lnTo>
                    <a:pt x="2097024" y="16891"/>
                  </a:lnTo>
                  <a:lnTo>
                    <a:pt x="2113915" y="16891"/>
                  </a:lnTo>
                  <a:lnTo>
                    <a:pt x="21139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6056864" y="6089904"/>
            <a:ext cx="1572768" cy="475488"/>
            <a:chOff x="0" y="0"/>
            <a:chExt cx="2097024" cy="633984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209702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1.10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2618720" y="6766560"/>
            <a:ext cx="3474720" cy="658368"/>
            <a:chOff x="0" y="0"/>
            <a:chExt cx="4632960" cy="877824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4632960" cy="877824"/>
            </a:xfrm>
            <a:custGeom>
              <a:avLst/>
              <a:gdLst/>
              <a:ahLst/>
              <a:cxnLst/>
              <a:rect r="r" b="b" t="t" l="l"/>
              <a:pathLst>
                <a:path h="87782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38100"/>
              <a:ext cx="4632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Enhanced Base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16044167" y="6827015"/>
            <a:ext cx="1598171" cy="500891"/>
            <a:chOff x="0" y="0"/>
            <a:chExt cx="2130895" cy="667855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16891" y="16891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2130806" cy="667768"/>
            </a:xfrm>
            <a:custGeom>
              <a:avLst/>
              <a:gdLst/>
              <a:ahLst/>
              <a:cxnLst/>
              <a:rect r="r" b="b" t="t" l="l"/>
              <a:pathLst>
                <a:path h="667768" w="2130806">
                  <a:moveTo>
                    <a:pt x="16891" y="0"/>
                  </a:moveTo>
                  <a:lnTo>
                    <a:pt x="2113915" y="0"/>
                  </a:lnTo>
                  <a:cubicBezTo>
                    <a:pt x="2123313" y="0"/>
                    <a:pt x="2130806" y="7620"/>
                    <a:pt x="2130806" y="16891"/>
                  </a:cubicBezTo>
                  <a:lnTo>
                    <a:pt x="2130806" y="650875"/>
                  </a:lnTo>
                  <a:cubicBezTo>
                    <a:pt x="2130806" y="660273"/>
                    <a:pt x="2123186" y="667766"/>
                    <a:pt x="2113915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113915" y="633984"/>
                  </a:lnTo>
                  <a:lnTo>
                    <a:pt x="2113915" y="650875"/>
                  </a:lnTo>
                  <a:lnTo>
                    <a:pt x="2097024" y="650875"/>
                  </a:lnTo>
                  <a:lnTo>
                    <a:pt x="2097024" y="16891"/>
                  </a:lnTo>
                  <a:lnTo>
                    <a:pt x="2113915" y="16891"/>
                  </a:lnTo>
                  <a:lnTo>
                    <a:pt x="21139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16056864" y="6839712"/>
            <a:ext cx="1572768" cy="475488"/>
            <a:chOff x="0" y="0"/>
            <a:chExt cx="2097024" cy="633984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38100"/>
              <a:ext cx="209702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1.03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2618720" y="7516368"/>
            <a:ext cx="3474720" cy="658368"/>
            <a:chOff x="0" y="0"/>
            <a:chExt cx="4632960" cy="877824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632960" cy="877824"/>
            </a:xfrm>
            <a:custGeom>
              <a:avLst/>
              <a:gdLst/>
              <a:ahLst/>
              <a:cxnLst/>
              <a:rect r="r" b="b" t="t" l="l"/>
              <a:pathLst>
                <a:path h="87782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4632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Enhanced Plus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6044167" y="7576823"/>
            <a:ext cx="1598171" cy="500891"/>
            <a:chOff x="0" y="0"/>
            <a:chExt cx="2130895" cy="667855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16891" y="16891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2130806" cy="667768"/>
            </a:xfrm>
            <a:custGeom>
              <a:avLst/>
              <a:gdLst/>
              <a:ahLst/>
              <a:cxnLst/>
              <a:rect r="r" b="b" t="t" l="l"/>
              <a:pathLst>
                <a:path h="667768" w="2130806">
                  <a:moveTo>
                    <a:pt x="16891" y="0"/>
                  </a:moveTo>
                  <a:lnTo>
                    <a:pt x="2113915" y="0"/>
                  </a:lnTo>
                  <a:cubicBezTo>
                    <a:pt x="2123313" y="0"/>
                    <a:pt x="2130806" y="7620"/>
                    <a:pt x="2130806" y="16891"/>
                  </a:cubicBezTo>
                  <a:lnTo>
                    <a:pt x="2130806" y="650875"/>
                  </a:lnTo>
                  <a:cubicBezTo>
                    <a:pt x="2130806" y="660273"/>
                    <a:pt x="2123186" y="667766"/>
                    <a:pt x="2113915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113915" y="633984"/>
                  </a:lnTo>
                  <a:lnTo>
                    <a:pt x="2113915" y="650875"/>
                  </a:lnTo>
                  <a:lnTo>
                    <a:pt x="2097024" y="650875"/>
                  </a:lnTo>
                  <a:lnTo>
                    <a:pt x="2097024" y="16891"/>
                  </a:lnTo>
                  <a:lnTo>
                    <a:pt x="2113915" y="16891"/>
                  </a:lnTo>
                  <a:lnTo>
                    <a:pt x="21139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16056864" y="7589520"/>
            <a:ext cx="1572768" cy="475488"/>
            <a:chOff x="0" y="0"/>
            <a:chExt cx="2097024" cy="633984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38100"/>
              <a:ext cx="209702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1.08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12618720" y="8266176"/>
            <a:ext cx="3474720" cy="658368"/>
            <a:chOff x="0" y="0"/>
            <a:chExt cx="4632960" cy="877824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4632960" cy="877824"/>
            </a:xfrm>
            <a:custGeom>
              <a:avLst/>
              <a:gdLst/>
              <a:ahLst/>
              <a:cxnLst/>
              <a:rect r="r" b="b" t="t" l="l"/>
              <a:pathLst>
                <a:path h="87782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38100"/>
              <a:ext cx="4632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Enhanced Pro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16044167" y="8326631"/>
            <a:ext cx="1598171" cy="500891"/>
            <a:chOff x="0" y="0"/>
            <a:chExt cx="2130895" cy="667855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16891" y="16891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2130806" cy="667768"/>
            </a:xfrm>
            <a:custGeom>
              <a:avLst/>
              <a:gdLst/>
              <a:ahLst/>
              <a:cxnLst/>
              <a:rect r="r" b="b" t="t" l="l"/>
              <a:pathLst>
                <a:path h="667768" w="2130806">
                  <a:moveTo>
                    <a:pt x="16891" y="0"/>
                  </a:moveTo>
                  <a:lnTo>
                    <a:pt x="2113915" y="0"/>
                  </a:lnTo>
                  <a:cubicBezTo>
                    <a:pt x="2123313" y="0"/>
                    <a:pt x="2130806" y="7620"/>
                    <a:pt x="2130806" y="16891"/>
                  </a:cubicBezTo>
                  <a:lnTo>
                    <a:pt x="2130806" y="650875"/>
                  </a:lnTo>
                  <a:cubicBezTo>
                    <a:pt x="2130806" y="660273"/>
                    <a:pt x="2123186" y="667766"/>
                    <a:pt x="2113915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113915" y="633984"/>
                  </a:lnTo>
                  <a:lnTo>
                    <a:pt x="2113915" y="650875"/>
                  </a:lnTo>
                  <a:lnTo>
                    <a:pt x="2097024" y="650875"/>
                  </a:lnTo>
                  <a:lnTo>
                    <a:pt x="2097024" y="16891"/>
                  </a:lnTo>
                  <a:lnTo>
                    <a:pt x="2113915" y="16891"/>
                  </a:lnTo>
                  <a:lnTo>
                    <a:pt x="21139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16056864" y="8339328"/>
            <a:ext cx="1572768" cy="475488"/>
            <a:chOff x="0" y="0"/>
            <a:chExt cx="2097024" cy="633984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38100"/>
              <a:ext cx="209702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1.13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2618720" y="9015984"/>
            <a:ext cx="3474720" cy="658368"/>
            <a:chOff x="0" y="0"/>
            <a:chExt cx="4632960" cy="877824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4632960" cy="877824"/>
            </a:xfrm>
            <a:custGeom>
              <a:avLst/>
              <a:gdLst/>
              <a:ahLst/>
              <a:cxnLst/>
              <a:rect r="r" b="b" t="t" l="l"/>
              <a:pathLst>
                <a:path h="87782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38100"/>
              <a:ext cx="4632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Enterprise Base–Pro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16044167" y="9076439"/>
            <a:ext cx="1598171" cy="500891"/>
            <a:chOff x="0" y="0"/>
            <a:chExt cx="2130895" cy="667855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16891" y="16891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2130806" cy="667768"/>
            </a:xfrm>
            <a:custGeom>
              <a:avLst/>
              <a:gdLst/>
              <a:ahLst/>
              <a:cxnLst/>
              <a:rect r="r" b="b" t="t" l="l"/>
              <a:pathLst>
                <a:path h="667768" w="2130806">
                  <a:moveTo>
                    <a:pt x="16891" y="0"/>
                  </a:moveTo>
                  <a:lnTo>
                    <a:pt x="2113915" y="0"/>
                  </a:lnTo>
                  <a:cubicBezTo>
                    <a:pt x="2123313" y="0"/>
                    <a:pt x="2130806" y="7620"/>
                    <a:pt x="2130806" y="16891"/>
                  </a:cubicBezTo>
                  <a:lnTo>
                    <a:pt x="2130806" y="650875"/>
                  </a:lnTo>
                  <a:cubicBezTo>
                    <a:pt x="2130806" y="660273"/>
                    <a:pt x="2123186" y="667766"/>
                    <a:pt x="2113915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113915" y="633984"/>
                  </a:lnTo>
                  <a:lnTo>
                    <a:pt x="2113915" y="650875"/>
                  </a:lnTo>
                  <a:lnTo>
                    <a:pt x="2097024" y="650875"/>
                  </a:lnTo>
                  <a:lnTo>
                    <a:pt x="2097024" y="16891"/>
                  </a:lnTo>
                  <a:lnTo>
                    <a:pt x="2113915" y="16891"/>
                  </a:lnTo>
                  <a:lnTo>
                    <a:pt x="21139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16056864" y="9089136"/>
            <a:ext cx="1572768" cy="475488"/>
            <a:chOff x="0" y="0"/>
            <a:chExt cx="2097024" cy="633984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2097024" cy="633984"/>
            </a:xfrm>
            <a:custGeom>
              <a:avLst/>
              <a:gdLst/>
              <a:ahLst/>
              <a:cxnLst/>
              <a:rect r="r" b="b" t="t" l="l"/>
              <a:pathLst>
                <a:path h="633984" w="2097024">
                  <a:moveTo>
                    <a:pt x="0" y="0"/>
                  </a:moveTo>
                  <a:lnTo>
                    <a:pt x="2097024" y="0"/>
                  </a:lnTo>
                  <a:lnTo>
                    <a:pt x="209702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-38100"/>
              <a:ext cx="209702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1.05–1.15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499367" y="9533639"/>
            <a:ext cx="17289275" cy="610619"/>
            <a:chOff x="0" y="0"/>
            <a:chExt cx="23052367" cy="814159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16891" y="16891"/>
              <a:ext cx="23018497" cy="780288"/>
            </a:xfrm>
            <a:custGeom>
              <a:avLst/>
              <a:gdLst/>
              <a:ahLst/>
              <a:cxnLst/>
              <a:rect r="r" b="b" t="t" l="l"/>
              <a:pathLst>
                <a:path h="780288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23052278" cy="814072"/>
            </a:xfrm>
            <a:custGeom>
              <a:avLst/>
              <a:gdLst/>
              <a:ahLst/>
              <a:cxnLst/>
              <a:rect r="r" b="b" t="t" l="l"/>
              <a:pathLst>
                <a:path h="814072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797179"/>
                  </a:lnTo>
                  <a:cubicBezTo>
                    <a:pt x="23052278" y="806577"/>
                    <a:pt x="23044658" y="814070"/>
                    <a:pt x="23035388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23035388" y="780288"/>
                  </a:lnTo>
                  <a:lnTo>
                    <a:pt x="23035388" y="797179"/>
                  </a:lnTo>
                  <a:lnTo>
                    <a:pt x="23018497" y="797179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212" id="212"/>
          <p:cNvGrpSpPr/>
          <p:nvPr/>
        </p:nvGrpSpPr>
        <p:grpSpPr>
          <a:xfrm rot="0">
            <a:off x="640080" y="9564624"/>
            <a:ext cx="17007840" cy="548640"/>
            <a:chOff x="0" y="0"/>
            <a:chExt cx="22677120" cy="731520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2267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4036" r="0" b="-554036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-38100"/>
              <a:ext cx="226771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45A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 Example: Logistics Inc  •  80 employees  •  Enhanced Pro  •  Mumbai  →  ₹8,80,000 × 1.15 × 1.10 × 1.13  ≈  ₹12,59,864 /year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329184"/>
            <a:ext cx="16459200" cy="950976"/>
            <a:chOff x="0" y="0"/>
            <a:chExt cx="21945600" cy="12679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94560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A2B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Agent Commission Structure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316736"/>
            <a:ext cx="16459200" cy="512064"/>
            <a:chOff x="0" y="0"/>
            <a:chExt cx="2194560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19456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Commission auto-credited upon payment confirmation — tier-based rates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1703" y="1998983"/>
            <a:ext cx="5146043" cy="5511803"/>
            <a:chOff x="0" y="0"/>
            <a:chExt cx="6861391" cy="73490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6827520" cy="7315200"/>
            </a:xfrm>
            <a:custGeom>
              <a:avLst/>
              <a:gdLst/>
              <a:ahLst/>
              <a:cxnLst/>
              <a:rect r="r" b="b" t="t" l="l"/>
              <a:pathLst>
                <a:path h="7315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61301" cy="7348982"/>
            </a:xfrm>
            <a:custGeom>
              <a:avLst/>
              <a:gdLst/>
              <a:ahLst/>
              <a:cxnLst/>
              <a:rect r="r" b="b" t="t" l="l"/>
              <a:pathLst>
                <a:path h="734898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7332091"/>
                  </a:lnTo>
                  <a:cubicBezTo>
                    <a:pt x="6861301" y="7341489"/>
                    <a:pt x="6853682" y="7348982"/>
                    <a:pt x="6844411" y="7348982"/>
                  </a:cubicBezTo>
                  <a:lnTo>
                    <a:pt x="16891" y="7348982"/>
                  </a:lnTo>
                  <a:cubicBezTo>
                    <a:pt x="7493" y="7348982"/>
                    <a:pt x="0" y="7341362"/>
                    <a:pt x="0" y="7332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332091"/>
                  </a:lnTo>
                  <a:lnTo>
                    <a:pt x="16891" y="7332091"/>
                  </a:lnTo>
                  <a:lnTo>
                    <a:pt x="16891" y="7315200"/>
                  </a:lnTo>
                  <a:lnTo>
                    <a:pt x="6844411" y="7315200"/>
                  </a:lnTo>
                  <a:lnTo>
                    <a:pt x="6844411" y="7332091"/>
                  </a:lnTo>
                  <a:lnTo>
                    <a:pt x="6827520" y="733209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01703" y="1998983"/>
            <a:ext cx="5146043" cy="135131"/>
            <a:chOff x="0" y="0"/>
            <a:chExt cx="6861391" cy="1801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6827520" cy="146304"/>
            </a:xfrm>
            <a:custGeom>
              <a:avLst/>
              <a:gdLst/>
              <a:ahLst/>
              <a:cxnLst/>
              <a:rect r="r" b="b" t="t" l="l"/>
              <a:pathLst>
                <a:path h="14630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61301" cy="180088"/>
            </a:xfrm>
            <a:custGeom>
              <a:avLst/>
              <a:gdLst/>
              <a:ahLst/>
              <a:cxnLst/>
              <a:rect r="r" b="b" t="t" l="l"/>
              <a:pathLst>
                <a:path h="180088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63195"/>
                  </a:lnTo>
                  <a:cubicBezTo>
                    <a:pt x="6861301" y="172593"/>
                    <a:pt x="6853682" y="180086"/>
                    <a:pt x="684441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6844411" y="146304"/>
                  </a:lnTo>
                  <a:lnTo>
                    <a:pt x="6844411" y="163195"/>
                  </a:lnTo>
                  <a:lnTo>
                    <a:pt x="6827520" y="163195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2231136"/>
            <a:ext cx="5120640" cy="694944"/>
            <a:chOff x="0" y="0"/>
            <a:chExt cx="6827520" cy="926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82752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47B2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ESSENTIAL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28800" y="3145536"/>
            <a:ext cx="3291840" cy="1645920"/>
            <a:chOff x="0" y="0"/>
            <a:chExt cx="4389120" cy="21945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891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38912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560"/>
                </a:lnSpc>
              </a:pPr>
              <a:r>
                <a:rPr lang="en-US" sz="8800" b="true">
                  <a:solidFill>
                    <a:srgbClr val="F47B2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5%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011680" y="4791456"/>
            <a:ext cx="2926080" cy="438912"/>
            <a:chOff x="0" y="0"/>
            <a:chExt cx="3901440" cy="5852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901440" cy="585216"/>
            </a:xfrm>
            <a:custGeom>
              <a:avLst/>
              <a:gdLst/>
              <a:ahLst/>
              <a:cxnLst/>
              <a:rect r="r" b="b" t="t" l="l"/>
              <a:pathLst>
                <a:path h="585216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9014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commission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7280" y="5340096"/>
            <a:ext cx="4754880" cy="475488"/>
            <a:chOff x="0" y="0"/>
            <a:chExt cx="6339840" cy="6339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39840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3398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 10 employees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7280" y="5815584"/>
            <a:ext cx="4754880" cy="402336"/>
            <a:chOff x="0" y="0"/>
            <a:chExt cx="6339840" cy="5364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39840" cy="536448"/>
            </a:xfrm>
            <a:custGeom>
              <a:avLst/>
              <a:gdLst/>
              <a:ahLst/>
              <a:cxnLst/>
              <a:rect r="r" b="b" t="t" l="l"/>
              <a:pathLst>
                <a:path h="53644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277" r="0" b="-18027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Plans 1, 2, 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84583" y="6388103"/>
            <a:ext cx="4780283" cy="939803"/>
            <a:chOff x="0" y="0"/>
            <a:chExt cx="6373711" cy="12530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373622" cy="1252984"/>
            </a:xfrm>
            <a:custGeom>
              <a:avLst/>
              <a:gdLst/>
              <a:ahLst/>
              <a:cxnLst/>
              <a:rect r="r" b="b" t="t" l="l"/>
              <a:pathLst>
                <a:path h="1252984" w="6373622">
                  <a:moveTo>
                    <a:pt x="16891" y="0"/>
                  </a:moveTo>
                  <a:lnTo>
                    <a:pt x="6356731" y="0"/>
                  </a:lnTo>
                  <a:cubicBezTo>
                    <a:pt x="6366129" y="0"/>
                    <a:pt x="6373622" y="7620"/>
                    <a:pt x="6373622" y="16891"/>
                  </a:cubicBezTo>
                  <a:lnTo>
                    <a:pt x="6373622" y="1236091"/>
                  </a:lnTo>
                  <a:cubicBezTo>
                    <a:pt x="6373622" y="1245489"/>
                    <a:pt x="6366002" y="1252982"/>
                    <a:pt x="635673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6356731" y="1219200"/>
                  </a:lnTo>
                  <a:lnTo>
                    <a:pt x="6356731" y="1236091"/>
                  </a:lnTo>
                  <a:lnTo>
                    <a:pt x="6339840" y="1236091"/>
                  </a:lnTo>
                  <a:lnTo>
                    <a:pt x="6339840" y="16891"/>
                  </a:lnTo>
                  <a:lnTo>
                    <a:pt x="6356731" y="16891"/>
                  </a:lnTo>
                  <a:lnTo>
                    <a:pt x="6356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97280" y="6400800"/>
            <a:ext cx="4754880" cy="914400"/>
            <a:chOff x="0" y="0"/>
            <a:chExt cx="6339840" cy="121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3398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C45A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e.g. ₹12,59,864 → ₹62,993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570983" y="1998983"/>
            <a:ext cx="5146043" cy="5511803"/>
            <a:chOff x="0" y="0"/>
            <a:chExt cx="6861391" cy="734907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6827520" cy="7315200"/>
            </a:xfrm>
            <a:custGeom>
              <a:avLst/>
              <a:gdLst/>
              <a:ahLst/>
              <a:cxnLst/>
              <a:rect r="r" b="b" t="t" l="l"/>
              <a:pathLst>
                <a:path h="7315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861301" cy="7348982"/>
            </a:xfrm>
            <a:custGeom>
              <a:avLst/>
              <a:gdLst/>
              <a:ahLst/>
              <a:cxnLst/>
              <a:rect r="r" b="b" t="t" l="l"/>
              <a:pathLst>
                <a:path h="734898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7332091"/>
                  </a:lnTo>
                  <a:cubicBezTo>
                    <a:pt x="6861301" y="7341489"/>
                    <a:pt x="6853682" y="7348982"/>
                    <a:pt x="6844411" y="7348982"/>
                  </a:cubicBezTo>
                  <a:lnTo>
                    <a:pt x="16891" y="7348982"/>
                  </a:lnTo>
                  <a:cubicBezTo>
                    <a:pt x="7493" y="7348982"/>
                    <a:pt x="0" y="7341362"/>
                    <a:pt x="0" y="7332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332091"/>
                  </a:lnTo>
                  <a:lnTo>
                    <a:pt x="16891" y="7332091"/>
                  </a:lnTo>
                  <a:lnTo>
                    <a:pt x="16891" y="7315200"/>
                  </a:lnTo>
                  <a:lnTo>
                    <a:pt x="6844411" y="7315200"/>
                  </a:lnTo>
                  <a:lnTo>
                    <a:pt x="6844411" y="7332091"/>
                  </a:lnTo>
                  <a:lnTo>
                    <a:pt x="6827520" y="733209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570983" y="1998983"/>
            <a:ext cx="5146043" cy="135131"/>
            <a:chOff x="0" y="0"/>
            <a:chExt cx="6861391" cy="1801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6827520" cy="146304"/>
            </a:xfrm>
            <a:custGeom>
              <a:avLst/>
              <a:gdLst/>
              <a:ahLst/>
              <a:cxnLst/>
              <a:rect r="r" b="b" t="t" l="l"/>
              <a:pathLst>
                <a:path h="14630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61301" cy="180088"/>
            </a:xfrm>
            <a:custGeom>
              <a:avLst/>
              <a:gdLst/>
              <a:ahLst/>
              <a:cxnLst/>
              <a:rect r="r" b="b" t="t" l="l"/>
              <a:pathLst>
                <a:path h="180088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63195"/>
                  </a:lnTo>
                  <a:cubicBezTo>
                    <a:pt x="6861301" y="172593"/>
                    <a:pt x="6853682" y="180086"/>
                    <a:pt x="684441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6844411" y="146304"/>
                  </a:lnTo>
                  <a:lnTo>
                    <a:pt x="6844411" y="163195"/>
                  </a:lnTo>
                  <a:lnTo>
                    <a:pt x="6827520" y="163195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83680" y="2231136"/>
            <a:ext cx="5120640" cy="694944"/>
            <a:chOff x="0" y="0"/>
            <a:chExt cx="6827520" cy="926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682752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A2B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ENHANCED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498080" y="3145536"/>
            <a:ext cx="3291840" cy="1645920"/>
            <a:chOff x="0" y="0"/>
            <a:chExt cx="4389120" cy="21945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3891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38912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560"/>
                </a:lnSpc>
              </a:pPr>
              <a:r>
                <a:rPr lang="en-US" sz="8800" b="true">
                  <a:solidFill>
                    <a:srgbClr val="1A2B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7%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680960" y="4791456"/>
            <a:ext cx="2926080" cy="438912"/>
            <a:chOff x="0" y="0"/>
            <a:chExt cx="3901440" cy="5852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901440" cy="585216"/>
            </a:xfrm>
            <a:custGeom>
              <a:avLst/>
              <a:gdLst/>
              <a:ahLst/>
              <a:cxnLst/>
              <a:rect r="r" b="b" t="t" l="l"/>
              <a:pathLst>
                <a:path h="585216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39014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commission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766560" y="5340096"/>
            <a:ext cx="4754880" cy="475488"/>
            <a:chOff x="0" y="0"/>
            <a:chExt cx="6339840" cy="6339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339840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63398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 80 employees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766560" y="5815584"/>
            <a:ext cx="4754880" cy="402336"/>
            <a:chOff x="0" y="0"/>
            <a:chExt cx="6339840" cy="53644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339840" cy="536448"/>
            </a:xfrm>
            <a:custGeom>
              <a:avLst/>
              <a:gdLst/>
              <a:ahLst/>
              <a:cxnLst/>
              <a:rect r="r" b="b" t="t" l="l"/>
              <a:pathLst>
                <a:path h="53644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277" r="0" b="-18027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Plans 4, 5, 6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753863" y="6388103"/>
            <a:ext cx="4780283" cy="939803"/>
            <a:chOff x="0" y="0"/>
            <a:chExt cx="6373711" cy="125307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373622" cy="1252984"/>
            </a:xfrm>
            <a:custGeom>
              <a:avLst/>
              <a:gdLst/>
              <a:ahLst/>
              <a:cxnLst/>
              <a:rect r="r" b="b" t="t" l="l"/>
              <a:pathLst>
                <a:path h="1252984" w="6373622">
                  <a:moveTo>
                    <a:pt x="16891" y="0"/>
                  </a:moveTo>
                  <a:lnTo>
                    <a:pt x="6356731" y="0"/>
                  </a:lnTo>
                  <a:cubicBezTo>
                    <a:pt x="6366129" y="0"/>
                    <a:pt x="6373622" y="7620"/>
                    <a:pt x="6373622" y="16891"/>
                  </a:cubicBezTo>
                  <a:lnTo>
                    <a:pt x="6373622" y="1236091"/>
                  </a:lnTo>
                  <a:cubicBezTo>
                    <a:pt x="6373622" y="1245489"/>
                    <a:pt x="6366002" y="1252982"/>
                    <a:pt x="635673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6356731" y="1219200"/>
                  </a:lnTo>
                  <a:lnTo>
                    <a:pt x="6356731" y="1236091"/>
                  </a:lnTo>
                  <a:lnTo>
                    <a:pt x="6339840" y="1236091"/>
                  </a:lnTo>
                  <a:lnTo>
                    <a:pt x="6339840" y="16891"/>
                  </a:lnTo>
                  <a:lnTo>
                    <a:pt x="6356731" y="16891"/>
                  </a:lnTo>
                  <a:lnTo>
                    <a:pt x="6356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766560" y="6400800"/>
            <a:ext cx="4754880" cy="914400"/>
            <a:chOff x="0" y="0"/>
            <a:chExt cx="6339840" cy="1219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63398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C45A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e.g. ₹18,00,000 → ₹1,26,000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240263" y="1998983"/>
            <a:ext cx="5146043" cy="5511803"/>
            <a:chOff x="0" y="0"/>
            <a:chExt cx="6861391" cy="734907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6827520" cy="7315200"/>
            </a:xfrm>
            <a:custGeom>
              <a:avLst/>
              <a:gdLst/>
              <a:ahLst/>
              <a:cxnLst/>
              <a:rect r="r" b="b" t="t" l="l"/>
              <a:pathLst>
                <a:path h="7315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861301" cy="7348982"/>
            </a:xfrm>
            <a:custGeom>
              <a:avLst/>
              <a:gdLst/>
              <a:ahLst/>
              <a:cxnLst/>
              <a:rect r="r" b="b" t="t" l="l"/>
              <a:pathLst>
                <a:path h="734898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7332091"/>
                  </a:lnTo>
                  <a:cubicBezTo>
                    <a:pt x="6861301" y="7341489"/>
                    <a:pt x="6853682" y="7348982"/>
                    <a:pt x="6844411" y="7348982"/>
                  </a:cubicBezTo>
                  <a:lnTo>
                    <a:pt x="16891" y="7348982"/>
                  </a:lnTo>
                  <a:cubicBezTo>
                    <a:pt x="7493" y="7348982"/>
                    <a:pt x="0" y="7341362"/>
                    <a:pt x="0" y="7332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332091"/>
                  </a:lnTo>
                  <a:lnTo>
                    <a:pt x="16891" y="7332091"/>
                  </a:lnTo>
                  <a:lnTo>
                    <a:pt x="16891" y="7315200"/>
                  </a:lnTo>
                  <a:lnTo>
                    <a:pt x="6844411" y="7315200"/>
                  </a:lnTo>
                  <a:lnTo>
                    <a:pt x="6844411" y="7332091"/>
                  </a:lnTo>
                  <a:lnTo>
                    <a:pt x="6827520" y="733209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240263" y="1998983"/>
            <a:ext cx="5146043" cy="135131"/>
            <a:chOff x="0" y="0"/>
            <a:chExt cx="6861391" cy="18017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6827520" cy="146304"/>
            </a:xfrm>
            <a:custGeom>
              <a:avLst/>
              <a:gdLst/>
              <a:ahLst/>
              <a:cxnLst/>
              <a:rect r="r" b="b" t="t" l="l"/>
              <a:pathLst>
                <a:path h="14630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45A00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861301" cy="180088"/>
            </a:xfrm>
            <a:custGeom>
              <a:avLst/>
              <a:gdLst/>
              <a:ahLst/>
              <a:cxnLst/>
              <a:rect r="r" b="b" t="t" l="l"/>
              <a:pathLst>
                <a:path h="180088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63195"/>
                  </a:lnTo>
                  <a:cubicBezTo>
                    <a:pt x="6861301" y="172593"/>
                    <a:pt x="6853682" y="180086"/>
                    <a:pt x="684441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6844411" y="146304"/>
                  </a:lnTo>
                  <a:lnTo>
                    <a:pt x="6844411" y="163195"/>
                  </a:lnTo>
                  <a:lnTo>
                    <a:pt x="6827520" y="163195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45A0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252960" y="2231136"/>
            <a:ext cx="5120640" cy="694944"/>
            <a:chOff x="0" y="0"/>
            <a:chExt cx="6827520" cy="92659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682752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C45A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ENTERPRISE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167360" y="3145536"/>
            <a:ext cx="3291840" cy="1645920"/>
            <a:chOff x="0" y="0"/>
            <a:chExt cx="4389120" cy="21945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3891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38912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560"/>
                </a:lnSpc>
              </a:pPr>
              <a:r>
                <a:rPr lang="en-US" sz="8800" b="true">
                  <a:solidFill>
                    <a:srgbClr val="C45A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10%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350240" y="4791456"/>
            <a:ext cx="2926080" cy="438912"/>
            <a:chOff x="0" y="0"/>
            <a:chExt cx="3901440" cy="58521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901440" cy="585216"/>
            </a:xfrm>
            <a:custGeom>
              <a:avLst/>
              <a:gdLst/>
              <a:ahLst/>
              <a:cxnLst/>
              <a:rect r="r" b="b" t="t" l="l"/>
              <a:pathLst>
                <a:path h="585216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39014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commission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435840" y="5340096"/>
            <a:ext cx="4754880" cy="475488"/>
            <a:chOff x="0" y="0"/>
            <a:chExt cx="6339840" cy="6339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339840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633984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 200 employees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435840" y="5815584"/>
            <a:ext cx="4754880" cy="402336"/>
            <a:chOff x="0" y="0"/>
            <a:chExt cx="6339840" cy="53644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339840" cy="536448"/>
            </a:xfrm>
            <a:custGeom>
              <a:avLst/>
              <a:gdLst/>
              <a:ahLst/>
              <a:cxnLst/>
              <a:rect r="r" b="b" t="t" l="l"/>
              <a:pathLst>
                <a:path h="53644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277" r="0" b="-18027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63398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Plans 7, 8, 9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423143" y="6388103"/>
            <a:ext cx="4780283" cy="939803"/>
            <a:chOff x="0" y="0"/>
            <a:chExt cx="6373711" cy="125307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373622" cy="1252984"/>
            </a:xfrm>
            <a:custGeom>
              <a:avLst/>
              <a:gdLst/>
              <a:ahLst/>
              <a:cxnLst/>
              <a:rect r="r" b="b" t="t" l="l"/>
              <a:pathLst>
                <a:path h="1252984" w="6373622">
                  <a:moveTo>
                    <a:pt x="16891" y="0"/>
                  </a:moveTo>
                  <a:lnTo>
                    <a:pt x="6356731" y="0"/>
                  </a:lnTo>
                  <a:cubicBezTo>
                    <a:pt x="6366129" y="0"/>
                    <a:pt x="6373622" y="7620"/>
                    <a:pt x="6373622" y="16891"/>
                  </a:cubicBezTo>
                  <a:lnTo>
                    <a:pt x="6373622" y="1236091"/>
                  </a:lnTo>
                  <a:cubicBezTo>
                    <a:pt x="6373622" y="1245489"/>
                    <a:pt x="6366002" y="1252982"/>
                    <a:pt x="635673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6356731" y="1219200"/>
                  </a:lnTo>
                  <a:lnTo>
                    <a:pt x="6356731" y="1236091"/>
                  </a:lnTo>
                  <a:lnTo>
                    <a:pt x="6339840" y="1236091"/>
                  </a:lnTo>
                  <a:lnTo>
                    <a:pt x="6339840" y="16891"/>
                  </a:lnTo>
                  <a:lnTo>
                    <a:pt x="6356731" y="16891"/>
                  </a:lnTo>
                  <a:lnTo>
                    <a:pt x="6356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2435840" y="6400800"/>
            <a:ext cx="4754880" cy="914400"/>
            <a:chOff x="0" y="0"/>
            <a:chExt cx="6339840" cy="12192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63398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C45A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e.g. ₹30,00,000 → ₹3,00,000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01703" y="7759703"/>
            <a:ext cx="16484603" cy="2219963"/>
            <a:chOff x="0" y="0"/>
            <a:chExt cx="21979471" cy="295995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21945599" cy="2926080"/>
            </a:xfrm>
            <a:custGeom>
              <a:avLst/>
              <a:gdLst/>
              <a:ahLst/>
              <a:cxnLst/>
              <a:rect r="r" b="b" t="t" l="l"/>
              <a:pathLst>
                <a:path h="2926080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1979382" cy="2959862"/>
            </a:xfrm>
            <a:custGeom>
              <a:avLst/>
              <a:gdLst/>
              <a:ahLst/>
              <a:cxnLst/>
              <a:rect r="r" b="b" t="t" l="l"/>
              <a:pathLst>
                <a:path h="2959862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2942971"/>
                  </a:lnTo>
                  <a:cubicBezTo>
                    <a:pt x="21979382" y="2952369"/>
                    <a:pt x="21971763" y="2959862"/>
                    <a:pt x="21962490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21962490" y="2926080"/>
                  </a:lnTo>
                  <a:lnTo>
                    <a:pt x="21962490" y="2942971"/>
                  </a:lnTo>
                  <a:lnTo>
                    <a:pt x="21945600" y="2942971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901703" y="7759703"/>
            <a:ext cx="116843" cy="2219963"/>
            <a:chOff x="0" y="0"/>
            <a:chExt cx="155791" cy="295995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219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55702" cy="2959862"/>
            </a:xfrm>
            <a:custGeom>
              <a:avLst/>
              <a:gdLst/>
              <a:ahLst/>
              <a:cxnLst/>
              <a:rect r="r" b="b" t="t" l="l"/>
              <a:pathLst>
                <a:path h="2959862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2942971"/>
                  </a:lnTo>
                  <a:cubicBezTo>
                    <a:pt x="155702" y="2952369"/>
                    <a:pt x="148082" y="2959862"/>
                    <a:pt x="13881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38811" y="2926080"/>
                  </a:lnTo>
                  <a:lnTo>
                    <a:pt x="138811" y="2942971"/>
                  </a:lnTo>
                  <a:lnTo>
                    <a:pt x="121920" y="2942971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280160" y="7900416"/>
            <a:ext cx="15727680" cy="512064"/>
            <a:chOff x="0" y="0"/>
            <a:chExt cx="20970240" cy="68275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0970239" cy="682752"/>
            </a:xfrm>
            <a:custGeom>
              <a:avLst/>
              <a:gdLst/>
              <a:ahLst/>
              <a:cxnLst/>
              <a:rect r="r" b="b" t="t" l="l"/>
              <a:pathLst>
                <a:path h="682752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8469" r="0" b="-548469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209702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Commission Rules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280160" y="8449056"/>
            <a:ext cx="15727680" cy="365760"/>
            <a:chOff x="0" y="0"/>
            <a:chExt cx="20970240" cy="48768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0970239" cy="487680"/>
            </a:xfrm>
            <a:custGeom>
              <a:avLst/>
              <a:gdLst/>
              <a:ahLst/>
              <a:cxnLst/>
              <a:rect r="r" b="b" t="t" l="l"/>
              <a:pathLst>
                <a:path h="48768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7856" r="0" b="-78785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209702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✔  Auto-credited instantly upon payment confirmation — no manual processing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280160" y="8814816"/>
            <a:ext cx="15727680" cy="365760"/>
            <a:chOff x="0" y="0"/>
            <a:chExt cx="20970240" cy="4876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0970239" cy="487680"/>
            </a:xfrm>
            <a:custGeom>
              <a:avLst/>
              <a:gdLst/>
              <a:ahLst/>
              <a:cxnLst/>
              <a:rect r="r" b="b" t="t" l="l"/>
              <a:pathLst>
                <a:path h="48768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7856" r="0" b="-787856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209702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✔  One Agent permanently assigned to each company for all future interactions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280160" y="9180576"/>
            <a:ext cx="15727680" cy="365760"/>
            <a:chOff x="0" y="0"/>
            <a:chExt cx="20970240" cy="48768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0970239" cy="487680"/>
            </a:xfrm>
            <a:custGeom>
              <a:avLst/>
              <a:gdLst/>
              <a:ahLst/>
              <a:cxnLst/>
              <a:rect r="r" b="b" t="t" l="l"/>
              <a:pathLst>
                <a:path h="48768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7856" r="0" b="-787856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209702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✔  New plans beyond the 9 seeded plans → default 7% commission rate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280160" y="9546336"/>
            <a:ext cx="15727680" cy="365760"/>
            <a:chOff x="0" y="0"/>
            <a:chExt cx="20970240" cy="48768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0970239" cy="487680"/>
            </a:xfrm>
            <a:custGeom>
              <a:avLst/>
              <a:gdLst/>
              <a:ahLst/>
              <a:cxnLst/>
              <a:rect r="r" b="b" t="t" l="l"/>
              <a:pathLst>
                <a:path h="48768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7856" r="0" b="-787856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209702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✔  Agent can view full commission history and cumulative earnings anytime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292608"/>
            <a:ext cx="16459200" cy="950976"/>
            <a:chOff x="0" y="0"/>
            <a:chExt cx="21945600" cy="12679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94560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A2B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❤  Health Claims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280160"/>
            <a:ext cx="16459200" cy="512064"/>
            <a:chOff x="0" y="0"/>
            <a:chExt cx="2194560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19456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Available on ALL plan levels (Base, Plus, Pro)  •  Multiple claims allowed per employee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1907543"/>
            <a:ext cx="8072123" cy="4780283"/>
            <a:chOff x="0" y="0"/>
            <a:chExt cx="10762831" cy="63737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728960" cy="6339840"/>
            </a:xfrm>
            <a:custGeom>
              <a:avLst/>
              <a:gdLst/>
              <a:ahLst/>
              <a:cxnLst/>
              <a:rect r="r" b="b" t="t" l="l"/>
              <a:pathLst>
                <a:path h="63398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339840"/>
                  </a:lnTo>
                  <a:lnTo>
                    <a:pt x="0" y="63398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62742" cy="6373622"/>
            </a:xfrm>
            <a:custGeom>
              <a:avLst/>
              <a:gdLst/>
              <a:ahLst/>
              <a:cxnLst/>
              <a:rect r="r" b="b" t="t" l="l"/>
              <a:pathLst>
                <a:path h="637362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6356731"/>
                  </a:lnTo>
                  <a:cubicBezTo>
                    <a:pt x="10762742" y="6366129"/>
                    <a:pt x="10755122" y="6373622"/>
                    <a:pt x="10745851" y="6373622"/>
                  </a:cubicBezTo>
                  <a:lnTo>
                    <a:pt x="16891" y="6373622"/>
                  </a:lnTo>
                  <a:cubicBezTo>
                    <a:pt x="7493" y="6373622"/>
                    <a:pt x="0" y="6366002"/>
                    <a:pt x="0" y="6356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356731"/>
                  </a:lnTo>
                  <a:lnTo>
                    <a:pt x="16891" y="6356731"/>
                  </a:lnTo>
                  <a:lnTo>
                    <a:pt x="16891" y="6339840"/>
                  </a:lnTo>
                  <a:lnTo>
                    <a:pt x="10745851" y="6339840"/>
                  </a:lnTo>
                  <a:lnTo>
                    <a:pt x="10745851" y="6356731"/>
                  </a:lnTo>
                  <a:lnTo>
                    <a:pt x="10728960" y="63567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1907543"/>
            <a:ext cx="135131" cy="4780283"/>
            <a:chOff x="0" y="0"/>
            <a:chExt cx="180175" cy="63737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46304" cy="6339840"/>
            </a:xfrm>
            <a:custGeom>
              <a:avLst/>
              <a:gdLst/>
              <a:ahLst/>
              <a:cxnLst/>
              <a:rect r="r" b="b" t="t" l="l"/>
              <a:pathLst>
                <a:path h="63398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6339840"/>
                  </a:lnTo>
                  <a:lnTo>
                    <a:pt x="0" y="6339840"/>
                  </a:ln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0086" cy="6373622"/>
            </a:xfrm>
            <a:custGeom>
              <a:avLst/>
              <a:gdLst/>
              <a:ahLst/>
              <a:cxnLst/>
              <a:rect r="r" b="b" t="t" l="l"/>
              <a:pathLst>
                <a:path h="637362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6356731"/>
                  </a:lnTo>
                  <a:cubicBezTo>
                    <a:pt x="180086" y="6366129"/>
                    <a:pt x="172466" y="6373622"/>
                    <a:pt x="163195" y="6373622"/>
                  </a:cubicBezTo>
                  <a:lnTo>
                    <a:pt x="16891" y="6373622"/>
                  </a:lnTo>
                  <a:cubicBezTo>
                    <a:pt x="7493" y="6373622"/>
                    <a:pt x="0" y="6366002"/>
                    <a:pt x="0" y="6356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356731"/>
                  </a:lnTo>
                  <a:lnTo>
                    <a:pt x="16891" y="6356731"/>
                  </a:lnTo>
                  <a:lnTo>
                    <a:pt x="16891" y="6339840"/>
                  </a:lnTo>
                  <a:lnTo>
                    <a:pt x="163195" y="6339840"/>
                  </a:lnTo>
                  <a:lnTo>
                    <a:pt x="163195" y="6356731"/>
                  </a:lnTo>
                  <a:lnTo>
                    <a:pt x="146304" y="63567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2048256"/>
            <a:ext cx="7315200" cy="621792"/>
            <a:chOff x="0" y="0"/>
            <a:chExt cx="9753600" cy="8290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829056"/>
            </a:xfrm>
            <a:custGeom>
              <a:avLst/>
              <a:gdLst/>
              <a:ahLst/>
              <a:cxnLst/>
              <a:rect r="r" b="b" t="t" l="l"/>
              <a:pathLst>
                <a:path h="82905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9235" r="0" b="-17923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753600" cy="886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Factor 1 — Age Loading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2889504"/>
            <a:ext cx="1828800" cy="658368"/>
            <a:chOff x="0" y="0"/>
            <a:chExt cx="2438400" cy="8778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38400" cy="877824"/>
            </a:xfrm>
            <a:custGeom>
              <a:avLst/>
              <a:gdLst/>
              <a:ahLst/>
              <a:cxnLst/>
              <a:rect r="r" b="b" t="t" l="l"/>
              <a:pathLst>
                <a:path h="87782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4384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18–35 yrs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876807" y="3041399"/>
            <a:ext cx="4414523" cy="354587"/>
            <a:chOff x="0" y="0"/>
            <a:chExt cx="5886031" cy="4727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5852160" cy="438912"/>
            </a:xfrm>
            <a:custGeom>
              <a:avLst/>
              <a:gdLst/>
              <a:ahLst/>
              <a:cxnLst/>
              <a:rect r="r" b="b" t="t" l="l"/>
              <a:pathLst>
                <a:path h="43891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16A34A">
                <a:alpha val="48627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85942" cy="472696"/>
            </a:xfrm>
            <a:custGeom>
              <a:avLst/>
              <a:gdLst/>
              <a:ahLst/>
              <a:cxnLst/>
              <a:rect r="r" b="b" t="t" l="l"/>
              <a:pathLst>
                <a:path h="472696" w="5885942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455803"/>
                  </a:lnTo>
                  <a:cubicBezTo>
                    <a:pt x="5885942" y="465201"/>
                    <a:pt x="5878322" y="472694"/>
                    <a:pt x="5869051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5869051" y="438912"/>
                  </a:lnTo>
                  <a:lnTo>
                    <a:pt x="5869051" y="455803"/>
                  </a:lnTo>
                  <a:lnTo>
                    <a:pt x="5852160" y="455803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406640" y="2962656"/>
            <a:ext cx="914400" cy="512064"/>
            <a:chOff x="0" y="0"/>
            <a:chExt cx="121920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19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49" t="0" r="-21849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219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4400" y="3767328"/>
            <a:ext cx="1828800" cy="658368"/>
            <a:chOff x="0" y="0"/>
            <a:chExt cx="2438400" cy="8778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38400" cy="877824"/>
            </a:xfrm>
            <a:custGeom>
              <a:avLst/>
              <a:gdLst/>
              <a:ahLst/>
              <a:cxnLst/>
              <a:rect r="r" b="b" t="t" l="l"/>
              <a:pathLst>
                <a:path h="87782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24384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36–45 yrs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876807" y="3919223"/>
            <a:ext cx="4195067" cy="354587"/>
            <a:chOff x="0" y="0"/>
            <a:chExt cx="5593423" cy="47278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5559552" cy="438912"/>
            </a:xfrm>
            <a:custGeom>
              <a:avLst/>
              <a:gdLst/>
              <a:ahLst/>
              <a:cxnLst/>
              <a:rect r="r" b="b" t="t" l="l"/>
              <a:pathLst>
                <a:path h="438912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D97706">
                <a:alpha val="48627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593334" cy="472696"/>
            </a:xfrm>
            <a:custGeom>
              <a:avLst/>
              <a:gdLst/>
              <a:ahLst/>
              <a:cxnLst/>
              <a:rect r="r" b="b" t="t" l="l"/>
              <a:pathLst>
                <a:path h="472696" w="5593334">
                  <a:moveTo>
                    <a:pt x="16891" y="0"/>
                  </a:moveTo>
                  <a:lnTo>
                    <a:pt x="5576443" y="0"/>
                  </a:lnTo>
                  <a:cubicBezTo>
                    <a:pt x="5585841" y="0"/>
                    <a:pt x="5593334" y="7620"/>
                    <a:pt x="5593334" y="16891"/>
                  </a:cubicBezTo>
                  <a:lnTo>
                    <a:pt x="5593334" y="455803"/>
                  </a:lnTo>
                  <a:cubicBezTo>
                    <a:pt x="5593334" y="465201"/>
                    <a:pt x="5585714" y="472694"/>
                    <a:pt x="557644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5576443" y="438912"/>
                  </a:lnTo>
                  <a:lnTo>
                    <a:pt x="5576443" y="455803"/>
                  </a:lnTo>
                  <a:lnTo>
                    <a:pt x="5559552" y="455803"/>
                  </a:lnTo>
                  <a:lnTo>
                    <a:pt x="5559552" y="16891"/>
                  </a:lnTo>
                  <a:lnTo>
                    <a:pt x="5576443" y="16891"/>
                  </a:lnTo>
                  <a:lnTo>
                    <a:pt x="55764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406640" y="3840480"/>
            <a:ext cx="914400" cy="512064"/>
            <a:chOff x="0" y="0"/>
            <a:chExt cx="121920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19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49" t="0" r="-21849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219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95%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400" y="4645152"/>
            <a:ext cx="1828800" cy="658368"/>
            <a:chOff x="0" y="0"/>
            <a:chExt cx="2438400" cy="87782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38400" cy="877824"/>
            </a:xfrm>
            <a:custGeom>
              <a:avLst/>
              <a:gdLst/>
              <a:ahLst/>
              <a:cxnLst/>
              <a:rect r="r" b="b" t="t" l="l"/>
              <a:pathLst>
                <a:path h="87782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24384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46–55 yrs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876807" y="4797047"/>
            <a:ext cx="3975611" cy="354587"/>
            <a:chOff x="0" y="0"/>
            <a:chExt cx="5300815" cy="47278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5266944" cy="438912"/>
            </a:xfrm>
            <a:custGeom>
              <a:avLst/>
              <a:gdLst/>
              <a:ahLst/>
              <a:cxnLst/>
              <a:rect r="r" b="b" t="t" l="l"/>
              <a:pathLst>
                <a:path h="438912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F47B20">
                <a:alpha val="48627"/>
              </a:srgbClr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00726" cy="472696"/>
            </a:xfrm>
            <a:custGeom>
              <a:avLst/>
              <a:gdLst/>
              <a:ahLst/>
              <a:cxnLst/>
              <a:rect r="r" b="b" t="t" l="l"/>
              <a:pathLst>
                <a:path h="472696" w="5300726">
                  <a:moveTo>
                    <a:pt x="16891" y="0"/>
                  </a:moveTo>
                  <a:lnTo>
                    <a:pt x="5283835" y="0"/>
                  </a:lnTo>
                  <a:cubicBezTo>
                    <a:pt x="5293233" y="0"/>
                    <a:pt x="5300726" y="7620"/>
                    <a:pt x="5300726" y="16891"/>
                  </a:cubicBezTo>
                  <a:lnTo>
                    <a:pt x="5300726" y="455803"/>
                  </a:lnTo>
                  <a:cubicBezTo>
                    <a:pt x="5300726" y="465201"/>
                    <a:pt x="5293106" y="472694"/>
                    <a:pt x="5283835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5283835" y="438912"/>
                  </a:lnTo>
                  <a:lnTo>
                    <a:pt x="5283835" y="455803"/>
                  </a:lnTo>
                  <a:lnTo>
                    <a:pt x="5266944" y="455803"/>
                  </a:lnTo>
                  <a:lnTo>
                    <a:pt x="5266944" y="16891"/>
                  </a:lnTo>
                  <a:lnTo>
                    <a:pt x="5283835" y="16891"/>
                  </a:lnTo>
                  <a:lnTo>
                    <a:pt x="52838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406640" y="4718304"/>
            <a:ext cx="914400" cy="512064"/>
            <a:chOff x="0" y="0"/>
            <a:chExt cx="121920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19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49" t="0" r="-21849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219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47B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90%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14400" y="5522976"/>
            <a:ext cx="1828800" cy="658368"/>
            <a:chOff x="0" y="0"/>
            <a:chExt cx="2438400" cy="87782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438400" cy="877824"/>
            </a:xfrm>
            <a:custGeom>
              <a:avLst/>
              <a:gdLst/>
              <a:ahLst/>
              <a:cxnLst/>
              <a:rect r="r" b="b" t="t" l="l"/>
              <a:pathLst>
                <a:path h="87782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24384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56+ yrs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876807" y="5674871"/>
            <a:ext cx="3756155" cy="354587"/>
            <a:chOff x="0" y="0"/>
            <a:chExt cx="5008207" cy="47278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4974336" cy="438912"/>
            </a:xfrm>
            <a:custGeom>
              <a:avLst/>
              <a:gdLst/>
              <a:ahLst/>
              <a:cxnLst/>
              <a:rect r="r" b="b" t="t" l="l"/>
              <a:pathLst>
                <a:path h="438912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DC2626">
                <a:alpha val="48627"/>
              </a:srgbClr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008118" cy="472696"/>
            </a:xfrm>
            <a:custGeom>
              <a:avLst/>
              <a:gdLst/>
              <a:ahLst/>
              <a:cxnLst/>
              <a:rect r="r" b="b" t="t" l="l"/>
              <a:pathLst>
                <a:path h="472696" w="5008118">
                  <a:moveTo>
                    <a:pt x="16891" y="0"/>
                  </a:moveTo>
                  <a:lnTo>
                    <a:pt x="4991227" y="0"/>
                  </a:lnTo>
                  <a:cubicBezTo>
                    <a:pt x="5000625" y="0"/>
                    <a:pt x="5008118" y="7620"/>
                    <a:pt x="5008118" y="16891"/>
                  </a:cubicBezTo>
                  <a:lnTo>
                    <a:pt x="5008118" y="455803"/>
                  </a:lnTo>
                  <a:cubicBezTo>
                    <a:pt x="5008118" y="465201"/>
                    <a:pt x="5000498" y="472694"/>
                    <a:pt x="4991227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991227" y="438912"/>
                  </a:lnTo>
                  <a:lnTo>
                    <a:pt x="4991227" y="455803"/>
                  </a:lnTo>
                  <a:lnTo>
                    <a:pt x="4974336" y="455803"/>
                  </a:lnTo>
                  <a:lnTo>
                    <a:pt x="4974336" y="16891"/>
                  </a:lnTo>
                  <a:lnTo>
                    <a:pt x="4991227" y="16891"/>
                  </a:lnTo>
                  <a:lnTo>
                    <a:pt x="49912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406640" y="5596128"/>
            <a:ext cx="914400" cy="512064"/>
            <a:chOff x="0" y="0"/>
            <a:chExt cx="121920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19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49" t="0" r="-21849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219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85%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679943" y="1907543"/>
            <a:ext cx="8072123" cy="4780283"/>
            <a:chOff x="0" y="0"/>
            <a:chExt cx="10762831" cy="637371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0728960" cy="6339840"/>
            </a:xfrm>
            <a:custGeom>
              <a:avLst/>
              <a:gdLst/>
              <a:ahLst/>
              <a:cxnLst/>
              <a:rect r="r" b="b" t="t" l="l"/>
              <a:pathLst>
                <a:path h="63398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339840"/>
                  </a:lnTo>
                  <a:lnTo>
                    <a:pt x="0" y="63398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762742" cy="6373622"/>
            </a:xfrm>
            <a:custGeom>
              <a:avLst/>
              <a:gdLst/>
              <a:ahLst/>
              <a:cxnLst/>
              <a:rect r="r" b="b" t="t" l="l"/>
              <a:pathLst>
                <a:path h="637362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6356731"/>
                  </a:lnTo>
                  <a:cubicBezTo>
                    <a:pt x="10762742" y="6366129"/>
                    <a:pt x="10755122" y="6373622"/>
                    <a:pt x="10745851" y="6373622"/>
                  </a:cubicBezTo>
                  <a:lnTo>
                    <a:pt x="16891" y="6373622"/>
                  </a:lnTo>
                  <a:cubicBezTo>
                    <a:pt x="7493" y="6373622"/>
                    <a:pt x="0" y="6366002"/>
                    <a:pt x="0" y="6356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356731"/>
                  </a:lnTo>
                  <a:lnTo>
                    <a:pt x="16891" y="6356731"/>
                  </a:lnTo>
                  <a:lnTo>
                    <a:pt x="16891" y="6339840"/>
                  </a:lnTo>
                  <a:lnTo>
                    <a:pt x="10745851" y="6339840"/>
                  </a:lnTo>
                  <a:lnTo>
                    <a:pt x="10745851" y="6356731"/>
                  </a:lnTo>
                  <a:lnTo>
                    <a:pt x="10728960" y="63567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679943" y="1907543"/>
            <a:ext cx="135131" cy="4780283"/>
            <a:chOff x="0" y="0"/>
            <a:chExt cx="180175" cy="637371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46304" cy="6339840"/>
            </a:xfrm>
            <a:custGeom>
              <a:avLst/>
              <a:gdLst/>
              <a:ahLst/>
              <a:cxnLst/>
              <a:rect r="r" b="b" t="t" l="l"/>
              <a:pathLst>
                <a:path h="63398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6339840"/>
                  </a:lnTo>
                  <a:lnTo>
                    <a:pt x="0" y="6339840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80086" cy="6373622"/>
            </a:xfrm>
            <a:custGeom>
              <a:avLst/>
              <a:gdLst/>
              <a:ahLst/>
              <a:cxnLst/>
              <a:rect r="r" b="b" t="t" l="l"/>
              <a:pathLst>
                <a:path h="637362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6356731"/>
                  </a:lnTo>
                  <a:cubicBezTo>
                    <a:pt x="180086" y="6366129"/>
                    <a:pt x="172466" y="6373622"/>
                    <a:pt x="163195" y="6373622"/>
                  </a:cubicBezTo>
                  <a:lnTo>
                    <a:pt x="16891" y="6373622"/>
                  </a:lnTo>
                  <a:cubicBezTo>
                    <a:pt x="7493" y="6373622"/>
                    <a:pt x="0" y="6366002"/>
                    <a:pt x="0" y="6356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356731"/>
                  </a:lnTo>
                  <a:lnTo>
                    <a:pt x="16891" y="6356731"/>
                  </a:lnTo>
                  <a:lnTo>
                    <a:pt x="16891" y="6339840"/>
                  </a:lnTo>
                  <a:lnTo>
                    <a:pt x="163195" y="6339840"/>
                  </a:lnTo>
                  <a:lnTo>
                    <a:pt x="163195" y="6356731"/>
                  </a:lnTo>
                  <a:lnTo>
                    <a:pt x="146304" y="63567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058400" y="2048256"/>
            <a:ext cx="7315200" cy="621792"/>
            <a:chOff x="0" y="0"/>
            <a:chExt cx="9753600" cy="82905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753600" cy="829056"/>
            </a:xfrm>
            <a:custGeom>
              <a:avLst/>
              <a:gdLst/>
              <a:ahLst/>
              <a:cxnLst/>
              <a:rect r="r" b="b" t="t" l="l"/>
              <a:pathLst>
                <a:path h="82905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9235" r="0" b="-17923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9753600" cy="886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Factor 2 — Claim Frequency Loading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899399" y="2949959"/>
            <a:ext cx="6974843" cy="830075"/>
            <a:chOff x="0" y="0"/>
            <a:chExt cx="9299791" cy="110676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92659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299701" cy="1106680"/>
            </a:xfrm>
            <a:custGeom>
              <a:avLst/>
              <a:gdLst/>
              <a:ahLst/>
              <a:cxnLst/>
              <a:rect r="r" b="b" t="t" l="l"/>
              <a:pathLst>
                <a:path h="1106680" w="9299701">
                  <a:moveTo>
                    <a:pt x="16891" y="0"/>
                  </a:moveTo>
                  <a:lnTo>
                    <a:pt x="9282811" y="0"/>
                  </a:lnTo>
                  <a:cubicBezTo>
                    <a:pt x="9292209" y="0"/>
                    <a:pt x="9299701" y="7620"/>
                    <a:pt x="9299701" y="16891"/>
                  </a:cubicBezTo>
                  <a:lnTo>
                    <a:pt x="9299701" y="1089787"/>
                  </a:lnTo>
                  <a:cubicBezTo>
                    <a:pt x="9299701" y="1099185"/>
                    <a:pt x="9292082" y="1106678"/>
                    <a:pt x="928281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9282811" y="1072896"/>
                  </a:lnTo>
                  <a:lnTo>
                    <a:pt x="9282811" y="1089787"/>
                  </a:lnTo>
                  <a:lnTo>
                    <a:pt x="9265920" y="1089787"/>
                  </a:lnTo>
                  <a:lnTo>
                    <a:pt x="9265920" y="16891"/>
                  </a:lnTo>
                  <a:lnTo>
                    <a:pt x="9282811" y="16891"/>
                  </a:lnTo>
                  <a:lnTo>
                    <a:pt x="9282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899399" y="2949959"/>
            <a:ext cx="116843" cy="830075"/>
            <a:chOff x="0" y="0"/>
            <a:chExt cx="155791" cy="110676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219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55702" cy="1106680"/>
            </a:xfrm>
            <a:custGeom>
              <a:avLst/>
              <a:gdLst/>
              <a:ahLst/>
              <a:cxnLst/>
              <a:rect r="r" b="b" t="t" l="l"/>
              <a:pathLst>
                <a:path h="1106680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089787"/>
                  </a:lnTo>
                  <a:cubicBezTo>
                    <a:pt x="155702" y="1099185"/>
                    <a:pt x="148082" y="1106678"/>
                    <a:pt x="13881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138811" y="1072896"/>
                  </a:lnTo>
                  <a:lnTo>
                    <a:pt x="138811" y="1089787"/>
                  </a:lnTo>
                  <a:lnTo>
                    <a:pt x="121920" y="1089787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204704" y="3035808"/>
            <a:ext cx="3291840" cy="658368"/>
            <a:chOff x="0" y="0"/>
            <a:chExt cx="4389120" cy="87782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389120" cy="877824"/>
            </a:xfrm>
            <a:custGeom>
              <a:avLst/>
              <a:gdLst/>
              <a:ahLst/>
              <a:cxnLst/>
              <a:rect r="r" b="b" t="t" l="l"/>
              <a:pathLst>
                <a:path h="877824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38912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1st Claim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350240" y="3035808"/>
            <a:ext cx="3474720" cy="658368"/>
            <a:chOff x="0" y="0"/>
            <a:chExt cx="4632960" cy="87782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632960" cy="877824"/>
            </a:xfrm>
            <a:custGeom>
              <a:avLst/>
              <a:gdLst/>
              <a:ahLst/>
              <a:cxnLst/>
              <a:rect r="r" b="b" t="t" l="l"/>
              <a:pathLst>
                <a:path h="87782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632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 approved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899399" y="3974087"/>
            <a:ext cx="6974843" cy="830075"/>
            <a:chOff x="0" y="0"/>
            <a:chExt cx="9299791" cy="110676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92659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299701" cy="1106680"/>
            </a:xfrm>
            <a:custGeom>
              <a:avLst/>
              <a:gdLst/>
              <a:ahLst/>
              <a:cxnLst/>
              <a:rect r="r" b="b" t="t" l="l"/>
              <a:pathLst>
                <a:path h="1106680" w="9299701">
                  <a:moveTo>
                    <a:pt x="16891" y="0"/>
                  </a:moveTo>
                  <a:lnTo>
                    <a:pt x="9282811" y="0"/>
                  </a:lnTo>
                  <a:cubicBezTo>
                    <a:pt x="9292209" y="0"/>
                    <a:pt x="9299701" y="7620"/>
                    <a:pt x="9299701" y="16891"/>
                  </a:cubicBezTo>
                  <a:lnTo>
                    <a:pt x="9299701" y="1089787"/>
                  </a:lnTo>
                  <a:cubicBezTo>
                    <a:pt x="9299701" y="1099185"/>
                    <a:pt x="9292082" y="1106678"/>
                    <a:pt x="928281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9282811" y="1072896"/>
                  </a:lnTo>
                  <a:lnTo>
                    <a:pt x="9282811" y="1089787"/>
                  </a:lnTo>
                  <a:lnTo>
                    <a:pt x="9265920" y="1089787"/>
                  </a:lnTo>
                  <a:lnTo>
                    <a:pt x="9265920" y="16891"/>
                  </a:lnTo>
                  <a:lnTo>
                    <a:pt x="9282811" y="16891"/>
                  </a:lnTo>
                  <a:lnTo>
                    <a:pt x="9282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899399" y="3974087"/>
            <a:ext cx="116843" cy="830075"/>
            <a:chOff x="0" y="0"/>
            <a:chExt cx="155791" cy="110676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219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55702" cy="1106680"/>
            </a:xfrm>
            <a:custGeom>
              <a:avLst/>
              <a:gdLst/>
              <a:ahLst/>
              <a:cxnLst/>
              <a:rect r="r" b="b" t="t" l="l"/>
              <a:pathLst>
                <a:path h="1106680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089787"/>
                  </a:lnTo>
                  <a:cubicBezTo>
                    <a:pt x="155702" y="1099185"/>
                    <a:pt x="148082" y="1106678"/>
                    <a:pt x="13881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138811" y="1072896"/>
                  </a:lnTo>
                  <a:lnTo>
                    <a:pt x="138811" y="1089787"/>
                  </a:lnTo>
                  <a:lnTo>
                    <a:pt x="121920" y="1089787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0204704" y="4059936"/>
            <a:ext cx="3291840" cy="658368"/>
            <a:chOff x="0" y="0"/>
            <a:chExt cx="4389120" cy="87782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389120" cy="877824"/>
            </a:xfrm>
            <a:custGeom>
              <a:avLst/>
              <a:gdLst/>
              <a:ahLst/>
              <a:cxnLst/>
              <a:rect r="r" b="b" t="t" l="l"/>
              <a:pathLst>
                <a:path h="877824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438912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2nd Claim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3350240" y="4059936"/>
            <a:ext cx="3474720" cy="658368"/>
            <a:chOff x="0" y="0"/>
            <a:chExt cx="4632960" cy="87782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632960" cy="877824"/>
            </a:xfrm>
            <a:custGeom>
              <a:avLst/>
              <a:gdLst/>
              <a:ahLst/>
              <a:cxnLst/>
              <a:rect r="r" b="b" t="t" l="l"/>
              <a:pathLst>
                <a:path h="87782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4632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90% approved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899399" y="4998215"/>
            <a:ext cx="6974843" cy="830075"/>
            <a:chOff x="0" y="0"/>
            <a:chExt cx="9299791" cy="110676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92659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299701" cy="1106680"/>
            </a:xfrm>
            <a:custGeom>
              <a:avLst/>
              <a:gdLst/>
              <a:ahLst/>
              <a:cxnLst/>
              <a:rect r="r" b="b" t="t" l="l"/>
              <a:pathLst>
                <a:path h="1106680" w="9299701">
                  <a:moveTo>
                    <a:pt x="16891" y="0"/>
                  </a:moveTo>
                  <a:lnTo>
                    <a:pt x="9282811" y="0"/>
                  </a:lnTo>
                  <a:cubicBezTo>
                    <a:pt x="9292209" y="0"/>
                    <a:pt x="9299701" y="7620"/>
                    <a:pt x="9299701" y="16891"/>
                  </a:cubicBezTo>
                  <a:lnTo>
                    <a:pt x="9299701" y="1089787"/>
                  </a:lnTo>
                  <a:cubicBezTo>
                    <a:pt x="9299701" y="1099185"/>
                    <a:pt x="9292082" y="1106678"/>
                    <a:pt x="928281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9282811" y="1072896"/>
                  </a:lnTo>
                  <a:lnTo>
                    <a:pt x="9282811" y="1089787"/>
                  </a:lnTo>
                  <a:lnTo>
                    <a:pt x="9265920" y="1089787"/>
                  </a:lnTo>
                  <a:lnTo>
                    <a:pt x="9265920" y="16891"/>
                  </a:lnTo>
                  <a:lnTo>
                    <a:pt x="9282811" y="16891"/>
                  </a:lnTo>
                  <a:lnTo>
                    <a:pt x="9282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899399" y="4998215"/>
            <a:ext cx="116843" cy="830075"/>
            <a:chOff x="0" y="0"/>
            <a:chExt cx="155791" cy="1106767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12192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55702" cy="1106680"/>
            </a:xfrm>
            <a:custGeom>
              <a:avLst/>
              <a:gdLst/>
              <a:ahLst/>
              <a:cxnLst/>
              <a:rect r="r" b="b" t="t" l="l"/>
              <a:pathLst>
                <a:path h="1106680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089787"/>
                  </a:lnTo>
                  <a:cubicBezTo>
                    <a:pt x="155702" y="1099185"/>
                    <a:pt x="148082" y="1106678"/>
                    <a:pt x="13881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138811" y="1072896"/>
                  </a:lnTo>
                  <a:lnTo>
                    <a:pt x="138811" y="1089787"/>
                  </a:lnTo>
                  <a:lnTo>
                    <a:pt x="121920" y="1089787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0204704" y="5084064"/>
            <a:ext cx="3291840" cy="658368"/>
            <a:chOff x="0" y="0"/>
            <a:chExt cx="4389120" cy="87782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389120" cy="877824"/>
            </a:xfrm>
            <a:custGeom>
              <a:avLst/>
              <a:gdLst/>
              <a:ahLst/>
              <a:cxnLst/>
              <a:rect r="r" b="b" t="t" l="l"/>
              <a:pathLst>
                <a:path h="877824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438912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3rd+ Claims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3350240" y="5084064"/>
            <a:ext cx="3474720" cy="658368"/>
            <a:chOff x="0" y="0"/>
            <a:chExt cx="4632960" cy="87782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632960" cy="877824"/>
            </a:xfrm>
            <a:custGeom>
              <a:avLst/>
              <a:gdLst/>
              <a:ahLst/>
              <a:cxnLst/>
              <a:rect r="r" b="b" t="t" l="l"/>
              <a:pathLst>
                <a:path h="87782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463296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80% approved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535943" y="6936743"/>
            <a:ext cx="17216123" cy="3042923"/>
            <a:chOff x="0" y="0"/>
            <a:chExt cx="22954831" cy="405723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22920960" cy="4023360"/>
            </a:xfrm>
            <a:custGeom>
              <a:avLst/>
              <a:gdLst/>
              <a:ahLst/>
              <a:cxnLst/>
              <a:rect r="r" b="b" t="t" l="l"/>
              <a:pathLst>
                <a:path h="402336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2954743" cy="4057142"/>
            </a:xfrm>
            <a:custGeom>
              <a:avLst/>
              <a:gdLst/>
              <a:ahLst/>
              <a:cxnLst/>
              <a:rect r="r" b="b" t="t" l="l"/>
              <a:pathLst>
                <a:path h="4057142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4040251"/>
                  </a:lnTo>
                  <a:cubicBezTo>
                    <a:pt x="22954743" y="4049649"/>
                    <a:pt x="22947123" y="4057142"/>
                    <a:pt x="22937851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22937851" y="4023360"/>
                  </a:lnTo>
                  <a:lnTo>
                    <a:pt x="22937851" y="4040251"/>
                  </a:lnTo>
                  <a:lnTo>
                    <a:pt x="22920961" y="404025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35943" y="6936743"/>
            <a:ext cx="135131" cy="3042923"/>
            <a:chOff x="0" y="0"/>
            <a:chExt cx="180175" cy="405723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146304" cy="4023360"/>
            </a:xfrm>
            <a:custGeom>
              <a:avLst/>
              <a:gdLst/>
              <a:ahLst/>
              <a:cxnLst/>
              <a:rect r="r" b="b" t="t" l="l"/>
              <a:pathLst>
                <a:path h="40233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80086" cy="4057142"/>
            </a:xfrm>
            <a:custGeom>
              <a:avLst/>
              <a:gdLst/>
              <a:ahLst/>
              <a:cxnLst/>
              <a:rect r="r" b="b" t="t" l="l"/>
              <a:pathLst>
                <a:path h="405714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4040251"/>
                  </a:lnTo>
                  <a:cubicBezTo>
                    <a:pt x="180086" y="4049649"/>
                    <a:pt x="172466" y="4057142"/>
                    <a:pt x="163195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163195" y="4023360"/>
                  </a:lnTo>
                  <a:lnTo>
                    <a:pt x="163195" y="4040251"/>
                  </a:lnTo>
                  <a:lnTo>
                    <a:pt x="146304" y="40402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14400" y="7095744"/>
            <a:ext cx="16459200" cy="512064"/>
            <a:chOff x="0" y="0"/>
            <a:chExt cx="21945600" cy="68275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2194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Calculation Flow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14400" y="7717536"/>
            <a:ext cx="1280160" cy="585216"/>
            <a:chOff x="0" y="0"/>
            <a:chExt cx="1706880" cy="78028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1706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47B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1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2286000" y="7717536"/>
            <a:ext cx="14996160" cy="585216"/>
            <a:chOff x="0" y="0"/>
            <a:chExt cx="19994880" cy="78028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9994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9304" r="0" b="-449304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199948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Age-Adjusted Amount  =  Requested Amount  ×  Age Factor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14400" y="8412480"/>
            <a:ext cx="1280160" cy="585216"/>
            <a:chOff x="0" y="0"/>
            <a:chExt cx="1706880" cy="78028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1706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47B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2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2286000" y="8412480"/>
            <a:ext cx="14996160" cy="585216"/>
            <a:chOff x="0" y="0"/>
            <a:chExt cx="19994880" cy="78028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9994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9304" r="0" b="-449304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47625"/>
              <a:ext cx="199948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 Approved Amount  =  Age-Adjusted Amount  ×  Frequency Factor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914400" y="9107424"/>
            <a:ext cx="1280160" cy="585216"/>
            <a:chOff x="0" y="0"/>
            <a:chExt cx="1706880" cy="78028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706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17068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47B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3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2286000" y="9107424"/>
            <a:ext cx="14996160" cy="585216"/>
            <a:chOff x="0" y="0"/>
            <a:chExt cx="19994880" cy="78028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9994880" cy="780288"/>
            </a:xfrm>
            <a:custGeom>
              <a:avLst/>
              <a:gdLst/>
              <a:ahLst/>
              <a:cxnLst/>
              <a:rect r="r" b="b" t="t" l="l"/>
              <a:pathLst>
                <a:path h="780288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9304" r="0" b="-449304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47625"/>
              <a:ext cx="199948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 Approved Amount must NOT exceed remaining Health Coverage — else auto-rejected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292608"/>
            <a:ext cx="16459200" cy="950976"/>
            <a:chOff x="0" y="0"/>
            <a:chExt cx="21945600" cy="12679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94560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A2B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🛡  Term Life Claims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280160"/>
            <a:ext cx="16459200" cy="512064"/>
            <a:chOff x="0" y="0"/>
            <a:chExt cx="2194560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19456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Available on Plus &amp; Pro plans  •  One claim per employee  •  Employee inactivated at SUBMISSION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9367" y="1998983"/>
            <a:ext cx="8401307" cy="2914907"/>
            <a:chOff x="0" y="0"/>
            <a:chExt cx="11201743" cy="38865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167872" cy="3852672"/>
            </a:xfrm>
            <a:custGeom>
              <a:avLst/>
              <a:gdLst/>
              <a:ahLst/>
              <a:cxnLst/>
              <a:rect r="r" b="b" t="t" l="l"/>
              <a:pathLst>
                <a:path h="3852672" w="11167872">
                  <a:moveTo>
                    <a:pt x="0" y="0"/>
                  </a:moveTo>
                  <a:lnTo>
                    <a:pt x="11167872" y="0"/>
                  </a:lnTo>
                  <a:lnTo>
                    <a:pt x="11167872" y="3852672"/>
                  </a:lnTo>
                  <a:lnTo>
                    <a:pt x="0" y="38526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01654" cy="3886454"/>
            </a:xfrm>
            <a:custGeom>
              <a:avLst/>
              <a:gdLst/>
              <a:ahLst/>
              <a:cxnLst/>
              <a:rect r="r" b="b" t="t" l="l"/>
              <a:pathLst>
                <a:path h="3886454" w="11201654">
                  <a:moveTo>
                    <a:pt x="16891" y="0"/>
                  </a:moveTo>
                  <a:lnTo>
                    <a:pt x="11184763" y="0"/>
                  </a:lnTo>
                  <a:cubicBezTo>
                    <a:pt x="11194161" y="0"/>
                    <a:pt x="11201654" y="7620"/>
                    <a:pt x="11201654" y="16891"/>
                  </a:cubicBezTo>
                  <a:lnTo>
                    <a:pt x="11201654" y="3869563"/>
                  </a:lnTo>
                  <a:cubicBezTo>
                    <a:pt x="11201654" y="3878961"/>
                    <a:pt x="11194034" y="3886454"/>
                    <a:pt x="11184763" y="3886454"/>
                  </a:cubicBezTo>
                  <a:lnTo>
                    <a:pt x="16891" y="3886454"/>
                  </a:lnTo>
                  <a:cubicBezTo>
                    <a:pt x="7493" y="3886454"/>
                    <a:pt x="0" y="3878834"/>
                    <a:pt x="0" y="3869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869563"/>
                  </a:lnTo>
                  <a:lnTo>
                    <a:pt x="16891" y="3869563"/>
                  </a:lnTo>
                  <a:lnTo>
                    <a:pt x="16891" y="3852672"/>
                  </a:lnTo>
                  <a:lnTo>
                    <a:pt x="11184763" y="3852672"/>
                  </a:lnTo>
                  <a:lnTo>
                    <a:pt x="11184763" y="3869563"/>
                  </a:lnTo>
                  <a:lnTo>
                    <a:pt x="11167872" y="3869563"/>
                  </a:lnTo>
                  <a:lnTo>
                    <a:pt x="11167872" y="16891"/>
                  </a:lnTo>
                  <a:lnTo>
                    <a:pt x="11184763" y="16891"/>
                  </a:lnTo>
                  <a:lnTo>
                    <a:pt x="111847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99367" y="1998983"/>
            <a:ext cx="135131" cy="2914907"/>
            <a:chOff x="0" y="0"/>
            <a:chExt cx="180175" cy="38865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46304" cy="3852672"/>
            </a:xfrm>
            <a:custGeom>
              <a:avLst/>
              <a:gdLst/>
              <a:ahLst/>
              <a:cxnLst/>
              <a:rect r="r" b="b" t="t" l="l"/>
              <a:pathLst>
                <a:path h="385267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852672"/>
                  </a:lnTo>
                  <a:lnTo>
                    <a:pt x="0" y="3852672"/>
                  </a:ln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0086" cy="3886454"/>
            </a:xfrm>
            <a:custGeom>
              <a:avLst/>
              <a:gdLst/>
              <a:ahLst/>
              <a:cxnLst/>
              <a:rect r="r" b="b" t="t" l="l"/>
              <a:pathLst>
                <a:path h="388645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869563"/>
                  </a:lnTo>
                  <a:cubicBezTo>
                    <a:pt x="180086" y="3878961"/>
                    <a:pt x="172466" y="3886454"/>
                    <a:pt x="163195" y="3886454"/>
                  </a:cubicBezTo>
                  <a:lnTo>
                    <a:pt x="16891" y="3886454"/>
                  </a:lnTo>
                  <a:cubicBezTo>
                    <a:pt x="7493" y="3886454"/>
                    <a:pt x="0" y="3878834"/>
                    <a:pt x="0" y="3869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869563"/>
                  </a:lnTo>
                  <a:lnTo>
                    <a:pt x="16891" y="3869563"/>
                  </a:lnTo>
                  <a:lnTo>
                    <a:pt x="16891" y="3852672"/>
                  </a:lnTo>
                  <a:lnTo>
                    <a:pt x="163195" y="3852672"/>
                  </a:lnTo>
                  <a:lnTo>
                    <a:pt x="163195" y="3869563"/>
                  </a:lnTo>
                  <a:lnTo>
                    <a:pt x="146304" y="38695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8551" y="2291591"/>
            <a:ext cx="720347" cy="720347"/>
            <a:chOff x="0" y="0"/>
            <a:chExt cx="960463" cy="9604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16A34A">
                <a:alpha val="1961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41248" y="2304288"/>
            <a:ext cx="694944" cy="694944"/>
            <a:chOff x="0" y="0"/>
            <a:chExt cx="926592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16A3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✔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828800" y="2231136"/>
            <a:ext cx="6858000" cy="621792"/>
            <a:chOff x="0" y="0"/>
            <a:chExt cx="9144000" cy="8290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0" cy="829056"/>
            </a:xfrm>
            <a:custGeom>
              <a:avLst/>
              <a:gdLst/>
              <a:ahLst/>
              <a:cxnLst/>
              <a:rect r="r" b="b" t="t" l="l"/>
              <a:pathLst>
                <a:path h="82905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908" r="0" b="-16490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9144000" cy="886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Employee Active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920240" y="2887599"/>
            <a:ext cx="6675120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Employee must be active (IsActive = true) to raise any claim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387335" y="1998983"/>
            <a:ext cx="8401307" cy="2914907"/>
            <a:chOff x="0" y="0"/>
            <a:chExt cx="11201743" cy="388654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11167872" cy="3852672"/>
            </a:xfrm>
            <a:custGeom>
              <a:avLst/>
              <a:gdLst/>
              <a:ahLst/>
              <a:cxnLst/>
              <a:rect r="r" b="b" t="t" l="l"/>
              <a:pathLst>
                <a:path h="3852672" w="11167872">
                  <a:moveTo>
                    <a:pt x="0" y="0"/>
                  </a:moveTo>
                  <a:lnTo>
                    <a:pt x="11167872" y="0"/>
                  </a:lnTo>
                  <a:lnTo>
                    <a:pt x="11167872" y="3852672"/>
                  </a:lnTo>
                  <a:lnTo>
                    <a:pt x="0" y="38526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201654" cy="3886454"/>
            </a:xfrm>
            <a:custGeom>
              <a:avLst/>
              <a:gdLst/>
              <a:ahLst/>
              <a:cxnLst/>
              <a:rect r="r" b="b" t="t" l="l"/>
              <a:pathLst>
                <a:path h="3886454" w="11201654">
                  <a:moveTo>
                    <a:pt x="16891" y="0"/>
                  </a:moveTo>
                  <a:lnTo>
                    <a:pt x="11184763" y="0"/>
                  </a:lnTo>
                  <a:cubicBezTo>
                    <a:pt x="11194161" y="0"/>
                    <a:pt x="11201654" y="7620"/>
                    <a:pt x="11201654" y="16891"/>
                  </a:cubicBezTo>
                  <a:lnTo>
                    <a:pt x="11201654" y="3869563"/>
                  </a:lnTo>
                  <a:cubicBezTo>
                    <a:pt x="11201654" y="3878961"/>
                    <a:pt x="11194034" y="3886454"/>
                    <a:pt x="11184763" y="3886454"/>
                  </a:cubicBezTo>
                  <a:lnTo>
                    <a:pt x="16891" y="3886454"/>
                  </a:lnTo>
                  <a:cubicBezTo>
                    <a:pt x="7493" y="3886454"/>
                    <a:pt x="0" y="3878834"/>
                    <a:pt x="0" y="3869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869563"/>
                  </a:lnTo>
                  <a:lnTo>
                    <a:pt x="16891" y="3869563"/>
                  </a:lnTo>
                  <a:lnTo>
                    <a:pt x="16891" y="3852672"/>
                  </a:lnTo>
                  <a:lnTo>
                    <a:pt x="11184763" y="3852672"/>
                  </a:lnTo>
                  <a:lnTo>
                    <a:pt x="11184763" y="3869563"/>
                  </a:lnTo>
                  <a:lnTo>
                    <a:pt x="11167872" y="3869563"/>
                  </a:lnTo>
                  <a:lnTo>
                    <a:pt x="11167872" y="16891"/>
                  </a:lnTo>
                  <a:lnTo>
                    <a:pt x="11184763" y="16891"/>
                  </a:lnTo>
                  <a:lnTo>
                    <a:pt x="111847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387335" y="1998983"/>
            <a:ext cx="135131" cy="2914907"/>
            <a:chOff x="0" y="0"/>
            <a:chExt cx="180175" cy="388654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146304" cy="3852672"/>
            </a:xfrm>
            <a:custGeom>
              <a:avLst/>
              <a:gdLst/>
              <a:ahLst/>
              <a:cxnLst/>
              <a:rect r="r" b="b" t="t" l="l"/>
              <a:pathLst>
                <a:path h="385267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852672"/>
                  </a:lnTo>
                  <a:lnTo>
                    <a:pt x="0" y="3852672"/>
                  </a:ln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0086" cy="3886454"/>
            </a:xfrm>
            <a:custGeom>
              <a:avLst/>
              <a:gdLst/>
              <a:ahLst/>
              <a:cxnLst/>
              <a:rect r="r" b="b" t="t" l="l"/>
              <a:pathLst>
                <a:path h="388645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869563"/>
                  </a:lnTo>
                  <a:cubicBezTo>
                    <a:pt x="180086" y="3878961"/>
                    <a:pt x="172466" y="3886454"/>
                    <a:pt x="163195" y="3886454"/>
                  </a:cubicBezTo>
                  <a:lnTo>
                    <a:pt x="16891" y="3886454"/>
                  </a:lnTo>
                  <a:cubicBezTo>
                    <a:pt x="7493" y="3886454"/>
                    <a:pt x="0" y="3878834"/>
                    <a:pt x="0" y="3869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869563"/>
                  </a:lnTo>
                  <a:lnTo>
                    <a:pt x="16891" y="3869563"/>
                  </a:lnTo>
                  <a:lnTo>
                    <a:pt x="16891" y="3852672"/>
                  </a:lnTo>
                  <a:lnTo>
                    <a:pt x="163195" y="3852672"/>
                  </a:lnTo>
                  <a:lnTo>
                    <a:pt x="163195" y="3869563"/>
                  </a:lnTo>
                  <a:lnTo>
                    <a:pt x="146304" y="38695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716519" y="2291591"/>
            <a:ext cx="720347" cy="720347"/>
            <a:chOff x="0" y="0"/>
            <a:chExt cx="960463" cy="96046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D97706">
                <a:alpha val="1961"/>
              </a:srgbClr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729216" y="2304288"/>
            <a:ext cx="694944" cy="694944"/>
            <a:chOff x="0" y="0"/>
            <a:chExt cx="926592" cy="9265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D9770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716768" y="2231136"/>
            <a:ext cx="6858000" cy="621792"/>
            <a:chOff x="0" y="0"/>
            <a:chExt cx="9144000" cy="8290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0" cy="829056"/>
            </a:xfrm>
            <a:custGeom>
              <a:avLst/>
              <a:gdLst/>
              <a:ahLst/>
              <a:cxnLst/>
              <a:rect r="r" b="b" t="t" l="l"/>
              <a:pathLst>
                <a:path h="82905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908" r="0" b="-16490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9144000" cy="886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 Cap ≤ 70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0808208" y="2887599"/>
            <a:ext cx="6675120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Employee age from DOB must be 70 or below — auto-rejected if exceeded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499367" y="5144519"/>
            <a:ext cx="8401307" cy="2914907"/>
            <a:chOff x="0" y="0"/>
            <a:chExt cx="11201743" cy="388654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11167872" cy="3852672"/>
            </a:xfrm>
            <a:custGeom>
              <a:avLst/>
              <a:gdLst/>
              <a:ahLst/>
              <a:cxnLst/>
              <a:rect r="r" b="b" t="t" l="l"/>
              <a:pathLst>
                <a:path h="3852672" w="11167872">
                  <a:moveTo>
                    <a:pt x="0" y="0"/>
                  </a:moveTo>
                  <a:lnTo>
                    <a:pt x="11167872" y="0"/>
                  </a:lnTo>
                  <a:lnTo>
                    <a:pt x="11167872" y="3852672"/>
                  </a:lnTo>
                  <a:lnTo>
                    <a:pt x="0" y="38526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201654" cy="3886454"/>
            </a:xfrm>
            <a:custGeom>
              <a:avLst/>
              <a:gdLst/>
              <a:ahLst/>
              <a:cxnLst/>
              <a:rect r="r" b="b" t="t" l="l"/>
              <a:pathLst>
                <a:path h="3886454" w="11201654">
                  <a:moveTo>
                    <a:pt x="16891" y="0"/>
                  </a:moveTo>
                  <a:lnTo>
                    <a:pt x="11184763" y="0"/>
                  </a:lnTo>
                  <a:cubicBezTo>
                    <a:pt x="11194161" y="0"/>
                    <a:pt x="11201654" y="7620"/>
                    <a:pt x="11201654" y="16891"/>
                  </a:cubicBezTo>
                  <a:lnTo>
                    <a:pt x="11201654" y="3869563"/>
                  </a:lnTo>
                  <a:cubicBezTo>
                    <a:pt x="11201654" y="3878961"/>
                    <a:pt x="11194034" y="3886454"/>
                    <a:pt x="11184763" y="3886454"/>
                  </a:cubicBezTo>
                  <a:lnTo>
                    <a:pt x="16891" y="3886454"/>
                  </a:lnTo>
                  <a:cubicBezTo>
                    <a:pt x="7493" y="3886454"/>
                    <a:pt x="0" y="3878834"/>
                    <a:pt x="0" y="3869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869563"/>
                  </a:lnTo>
                  <a:lnTo>
                    <a:pt x="16891" y="3869563"/>
                  </a:lnTo>
                  <a:lnTo>
                    <a:pt x="16891" y="3852672"/>
                  </a:lnTo>
                  <a:lnTo>
                    <a:pt x="11184763" y="3852672"/>
                  </a:lnTo>
                  <a:lnTo>
                    <a:pt x="11184763" y="3869563"/>
                  </a:lnTo>
                  <a:lnTo>
                    <a:pt x="11167872" y="3869563"/>
                  </a:lnTo>
                  <a:lnTo>
                    <a:pt x="11167872" y="16891"/>
                  </a:lnTo>
                  <a:lnTo>
                    <a:pt x="11184763" y="16891"/>
                  </a:lnTo>
                  <a:lnTo>
                    <a:pt x="111847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499367" y="5144519"/>
            <a:ext cx="135131" cy="2914907"/>
            <a:chOff x="0" y="0"/>
            <a:chExt cx="180175" cy="388654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146304" cy="3852672"/>
            </a:xfrm>
            <a:custGeom>
              <a:avLst/>
              <a:gdLst/>
              <a:ahLst/>
              <a:cxnLst/>
              <a:rect r="r" b="b" t="t" l="l"/>
              <a:pathLst>
                <a:path h="385267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852672"/>
                  </a:lnTo>
                  <a:lnTo>
                    <a:pt x="0" y="3852672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0086" cy="3886454"/>
            </a:xfrm>
            <a:custGeom>
              <a:avLst/>
              <a:gdLst/>
              <a:ahLst/>
              <a:cxnLst/>
              <a:rect r="r" b="b" t="t" l="l"/>
              <a:pathLst>
                <a:path h="388645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869563"/>
                  </a:lnTo>
                  <a:cubicBezTo>
                    <a:pt x="180086" y="3878961"/>
                    <a:pt x="172466" y="3886454"/>
                    <a:pt x="163195" y="3886454"/>
                  </a:cubicBezTo>
                  <a:lnTo>
                    <a:pt x="16891" y="3886454"/>
                  </a:lnTo>
                  <a:cubicBezTo>
                    <a:pt x="7493" y="3886454"/>
                    <a:pt x="0" y="3878834"/>
                    <a:pt x="0" y="3869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869563"/>
                  </a:lnTo>
                  <a:lnTo>
                    <a:pt x="16891" y="3869563"/>
                  </a:lnTo>
                  <a:lnTo>
                    <a:pt x="16891" y="3852672"/>
                  </a:lnTo>
                  <a:lnTo>
                    <a:pt x="163195" y="3852672"/>
                  </a:lnTo>
                  <a:lnTo>
                    <a:pt x="163195" y="3869563"/>
                  </a:lnTo>
                  <a:lnTo>
                    <a:pt x="146304" y="38695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28551" y="5437127"/>
            <a:ext cx="720347" cy="720347"/>
            <a:chOff x="0" y="0"/>
            <a:chExt cx="960463" cy="96046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DC2626">
                <a:alpha val="1961"/>
              </a:srgbClr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41248" y="5449824"/>
            <a:ext cx="694944" cy="694944"/>
            <a:chOff x="0" y="0"/>
            <a:chExt cx="926592" cy="92659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DC262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🚩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828800" y="5376672"/>
            <a:ext cx="6858000" cy="621792"/>
            <a:chOff x="0" y="0"/>
            <a:chExt cx="9144000" cy="82905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44000" cy="829056"/>
            </a:xfrm>
            <a:custGeom>
              <a:avLst/>
              <a:gdLst/>
              <a:ahLst/>
              <a:cxnLst/>
              <a:rect r="r" b="b" t="t" l="l"/>
              <a:pathLst>
                <a:path h="82905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908" r="0" b="-16490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9144000" cy="886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Suicide Exclusion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920240" y="6033135"/>
            <a:ext cx="6675120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Cause of Death dropdown: Natural / Suicide / Other. Suicide + policy &lt; 365 days → Payout × 80% (flagged to Claims Mgr). Suicide + policy ≥ 365 days → Full payout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9387335" y="5144519"/>
            <a:ext cx="8401307" cy="2914907"/>
            <a:chOff x="0" y="0"/>
            <a:chExt cx="11201743" cy="388654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1167872" cy="3852672"/>
            </a:xfrm>
            <a:custGeom>
              <a:avLst/>
              <a:gdLst/>
              <a:ahLst/>
              <a:cxnLst/>
              <a:rect r="r" b="b" t="t" l="l"/>
              <a:pathLst>
                <a:path h="3852672" w="11167872">
                  <a:moveTo>
                    <a:pt x="0" y="0"/>
                  </a:moveTo>
                  <a:lnTo>
                    <a:pt x="11167872" y="0"/>
                  </a:lnTo>
                  <a:lnTo>
                    <a:pt x="11167872" y="3852672"/>
                  </a:lnTo>
                  <a:lnTo>
                    <a:pt x="0" y="38526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201654" cy="3886454"/>
            </a:xfrm>
            <a:custGeom>
              <a:avLst/>
              <a:gdLst/>
              <a:ahLst/>
              <a:cxnLst/>
              <a:rect r="r" b="b" t="t" l="l"/>
              <a:pathLst>
                <a:path h="3886454" w="11201654">
                  <a:moveTo>
                    <a:pt x="16891" y="0"/>
                  </a:moveTo>
                  <a:lnTo>
                    <a:pt x="11184763" y="0"/>
                  </a:lnTo>
                  <a:cubicBezTo>
                    <a:pt x="11194161" y="0"/>
                    <a:pt x="11201654" y="7620"/>
                    <a:pt x="11201654" y="16891"/>
                  </a:cubicBezTo>
                  <a:lnTo>
                    <a:pt x="11201654" y="3869563"/>
                  </a:lnTo>
                  <a:cubicBezTo>
                    <a:pt x="11201654" y="3878961"/>
                    <a:pt x="11194034" y="3886454"/>
                    <a:pt x="11184763" y="3886454"/>
                  </a:cubicBezTo>
                  <a:lnTo>
                    <a:pt x="16891" y="3886454"/>
                  </a:lnTo>
                  <a:cubicBezTo>
                    <a:pt x="7493" y="3886454"/>
                    <a:pt x="0" y="3878834"/>
                    <a:pt x="0" y="3869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869563"/>
                  </a:lnTo>
                  <a:lnTo>
                    <a:pt x="16891" y="3869563"/>
                  </a:lnTo>
                  <a:lnTo>
                    <a:pt x="16891" y="3852672"/>
                  </a:lnTo>
                  <a:lnTo>
                    <a:pt x="11184763" y="3852672"/>
                  </a:lnTo>
                  <a:lnTo>
                    <a:pt x="11184763" y="3869563"/>
                  </a:lnTo>
                  <a:lnTo>
                    <a:pt x="11167872" y="3869563"/>
                  </a:lnTo>
                  <a:lnTo>
                    <a:pt x="11167872" y="16891"/>
                  </a:lnTo>
                  <a:lnTo>
                    <a:pt x="11184763" y="16891"/>
                  </a:lnTo>
                  <a:lnTo>
                    <a:pt x="111847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387335" y="5144519"/>
            <a:ext cx="135131" cy="2914907"/>
            <a:chOff x="0" y="0"/>
            <a:chExt cx="180175" cy="388654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46304" cy="3852672"/>
            </a:xfrm>
            <a:custGeom>
              <a:avLst/>
              <a:gdLst/>
              <a:ahLst/>
              <a:cxnLst/>
              <a:rect r="r" b="b" t="t" l="l"/>
              <a:pathLst>
                <a:path h="385267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852672"/>
                  </a:lnTo>
                  <a:lnTo>
                    <a:pt x="0" y="3852672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80086" cy="3886454"/>
            </a:xfrm>
            <a:custGeom>
              <a:avLst/>
              <a:gdLst/>
              <a:ahLst/>
              <a:cxnLst/>
              <a:rect r="r" b="b" t="t" l="l"/>
              <a:pathLst>
                <a:path h="388645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869563"/>
                  </a:lnTo>
                  <a:cubicBezTo>
                    <a:pt x="180086" y="3878961"/>
                    <a:pt x="172466" y="3886454"/>
                    <a:pt x="163195" y="3886454"/>
                  </a:cubicBezTo>
                  <a:lnTo>
                    <a:pt x="16891" y="3886454"/>
                  </a:lnTo>
                  <a:cubicBezTo>
                    <a:pt x="7493" y="3886454"/>
                    <a:pt x="0" y="3878834"/>
                    <a:pt x="0" y="3869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869563"/>
                  </a:lnTo>
                  <a:lnTo>
                    <a:pt x="16891" y="3869563"/>
                  </a:lnTo>
                  <a:lnTo>
                    <a:pt x="16891" y="3852672"/>
                  </a:lnTo>
                  <a:lnTo>
                    <a:pt x="163195" y="3852672"/>
                  </a:lnTo>
                  <a:lnTo>
                    <a:pt x="163195" y="3869563"/>
                  </a:lnTo>
                  <a:lnTo>
                    <a:pt x="146304" y="38695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716519" y="5437127"/>
            <a:ext cx="720347" cy="720347"/>
            <a:chOff x="0" y="0"/>
            <a:chExt cx="960463" cy="96046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F47B20">
                <a:alpha val="1961"/>
              </a:srgbClr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729216" y="5449824"/>
            <a:ext cx="694944" cy="694944"/>
            <a:chOff x="0" y="0"/>
            <a:chExt cx="926592" cy="9265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926592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F47B2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1×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716768" y="5376672"/>
            <a:ext cx="6858000" cy="621792"/>
            <a:chOff x="0" y="0"/>
            <a:chExt cx="9144000" cy="82905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0" cy="829056"/>
            </a:xfrm>
            <a:custGeom>
              <a:avLst/>
              <a:gdLst/>
              <a:ahLst/>
              <a:cxnLst/>
              <a:rect r="r" b="b" t="t" l="l"/>
              <a:pathLst>
                <a:path h="82905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908" r="0" b="-16490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9144000" cy="886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 Claim Only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0808208" y="6033135"/>
            <a:ext cx="6675120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Only one Term Life claim allowed per employee lifetime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499367" y="8399783"/>
            <a:ext cx="17289275" cy="1707899"/>
            <a:chOff x="0" y="0"/>
            <a:chExt cx="23052367" cy="227719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16891" y="16891"/>
              <a:ext cx="23018497" cy="2243328"/>
            </a:xfrm>
            <a:custGeom>
              <a:avLst/>
              <a:gdLst/>
              <a:ahLst/>
              <a:cxnLst/>
              <a:rect r="r" b="b" t="t" l="l"/>
              <a:pathLst>
                <a:path h="2243328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243328"/>
                  </a:lnTo>
                  <a:lnTo>
                    <a:pt x="0" y="2243328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3052278" cy="2277110"/>
            </a:xfrm>
            <a:custGeom>
              <a:avLst/>
              <a:gdLst/>
              <a:ahLst/>
              <a:cxnLst/>
              <a:rect r="r" b="b" t="t" l="l"/>
              <a:pathLst>
                <a:path h="227711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260219"/>
                  </a:lnTo>
                  <a:cubicBezTo>
                    <a:pt x="23052278" y="2269617"/>
                    <a:pt x="23044658" y="2277110"/>
                    <a:pt x="23035388" y="2277110"/>
                  </a:cubicBezTo>
                  <a:lnTo>
                    <a:pt x="16891" y="2277110"/>
                  </a:lnTo>
                  <a:cubicBezTo>
                    <a:pt x="7493" y="2277110"/>
                    <a:pt x="0" y="2269490"/>
                    <a:pt x="0" y="22602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60219"/>
                  </a:lnTo>
                  <a:lnTo>
                    <a:pt x="16891" y="2260219"/>
                  </a:lnTo>
                  <a:lnTo>
                    <a:pt x="16891" y="2243328"/>
                  </a:lnTo>
                  <a:lnTo>
                    <a:pt x="23035388" y="2243328"/>
                  </a:lnTo>
                  <a:lnTo>
                    <a:pt x="23035388" y="2260219"/>
                  </a:lnTo>
                  <a:lnTo>
                    <a:pt x="23018497" y="2260219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822960" y="8503920"/>
            <a:ext cx="16459200" cy="512064"/>
            <a:chOff x="0" y="0"/>
            <a:chExt cx="21945600" cy="68275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21945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47B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Payout Formula</a:t>
              </a:r>
            </a:p>
          </p:txBody>
        </p:sp>
      </p:grpSp>
      <p:sp>
        <p:nvSpPr>
          <p:cNvPr name="TextBox 81" id="81"/>
          <p:cNvSpPr txBox="true"/>
          <p:nvPr/>
        </p:nvSpPr>
        <p:spPr>
          <a:xfrm rot="0">
            <a:off x="914400" y="9050655"/>
            <a:ext cx="164592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Raw Payout = Annual Salary × Life Multiplier   →   Final Payout = MIN(Raw Payout, Policy Max Cap)   •   Suicide reduction (80%) visible to Claims Manager only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292608"/>
            <a:ext cx="16459200" cy="950976"/>
            <a:chOff x="0" y="0"/>
            <a:chExt cx="21945600" cy="12679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94560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A2B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⚡  Accident Claims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280160"/>
            <a:ext cx="16459200" cy="512064"/>
            <a:chOff x="0" y="0"/>
            <a:chExt cx="2194560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19456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Available on PRO plans only  •  One claim per employee  •  No age loading applied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1907543"/>
            <a:ext cx="8255003" cy="6517643"/>
            <a:chOff x="0" y="0"/>
            <a:chExt cx="11006671" cy="86901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972800" cy="8656320"/>
            </a:xfrm>
            <a:custGeom>
              <a:avLst/>
              <a:gdLst/>
              <a:ahLst/>
              <a:cxnLst/>
              <a:rect r="r" b="b" t="t" l="l"/>
              <a:pathLst>
                <a:path h="86563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656320"/>
                  </a:lnTo>
                  <a:lnTo>
                    <a:pt x="0" y="86563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6582" cy="8690101"/>
            </a:xfrm>
            <a:custGeom>
              <a:avLst/>
              <a:gdLst/>
              <a:ahLst/>
              <a:cxnLst/>
              <a:rect r="r" b="b" t="t" l="l"/>
              <a:pathLst>
                <a:path h="8690101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8673211"/>
                  </a:lnTo>
                  <a:cubicBezTo>
                    <a:pt x="11006582" y="8682609"/>
                    <a:pt x="10998962" y="8690101"/>
                    <a:pt x="10989691" y="8690101"/>
                  </a:cubicBezTo>
                  <a:lnTo>
                    <a:pt x="16891" y="8690101"/>
                  </a:lnTo>
                  <a:cubicBezTo>
                    <a:pt x="7493" y="8690101"/>
                    <a:pt x="0" y="8682482"/>
                    <a:pt x="0" y="8673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673211"/>
                  </a:lnTo>
                  <a:lnTo>
                    <a:pt x="16891" y="8673211"/>
                  </a:lnTo>
                  <a:lnTo>
                    <a:pt x="16891" y="8656320"/>
                  </a:lnTo>
                  <a:lnTo>
                    <a:pt x="10989691" y="8656320"/>
                  </a:lnTo>
                  <a:lnTo>
                    <a:pt x="10989691" y="8673211"/>
                  </a:lnTo>
                  <a:lnTo>
                    <a:pt x="10972800" y="86732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1907543"/>
            <a:ext cx="135131" cy="6517643"/>
            <a:chOff x="0" y="0"/>
            <a:chExt cx="180175" cy="86901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46304" cy="8656320"/>
            </a:xfrm>
            <a:custGeom>
              <a:avLst/>
              <a:gdLst/>
              <a:ahLst/>
              <a:cxnLst/>
              <a:rect r="r" b="b" t="t" l="l"/>
              <a:pathLst>
                <a:path h="86563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8656320"/>
                  </a:lnTo>
                  <a:lnTo>
                    <a:pt x="0" y="8656320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0086" cy="8690101"/>
            </a:xfrm>
            <a:custGeom>
              <a:avLst/>
              <a:gdLst/>
              <a:ahLst/>
              <a:cxnLst/>
              <a:rect r="r" b="b" t="t" l="l"/>
              <a:pathLst>
                <a:path h="8690101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8673211"/>
                  </a:lnTo>
                  <a:cubicBezTo>
                    <a:pt x="180086" y="8682609"/>
                    <a:pt x="172466" y="8690101"/>
                    <a:pt x="163195" y="8690101"/>
                  </a:cubicBezTo>
                  <a:lnTo>
                    <a:pt x="16891" y="8690101"/>
                  </a:lnTo>
                  <a:cubicBezTo>
                    <a:pt x="7493" y="8690101"/>
                    <a:pt x="0" y="8682482"/>
                    <a:pt x="0" y="8673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673211"/>
                  </a:lnTo>
                  <a:lnTo>
                    <a:pt x="16891" y="8673211"/>
                  </a:lnTo>
                  <a:lnTo>
                    <a:pt x="16891" y="8656320"/>
                  </a:lnTo>
                  <a:lnTo>
                    <a:pt x="163195" y="8656320"/>
                  </a:lnTo>
                  <a:lnTo>
                    <a:pt x="163195" y="8673211"/>
                  </a:lnTo>
                  <a:lnTo>
                    <a:pt x="146304" y="86732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2048256"/>
            <a:ext cx="7498080" cy="621792"/>
            <a:chOff x="0" y="0"/>
            <a:chExt cx="9997440" cy="8290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97440" cy="829056"/>
            </a:xfrm>
            <a:custGeom>
              <a:avLst/>
              <a:gdLst/>
              <a:ahLst/>
              <a:cxnLst/>
              <a:rect r="r" b="b" t="t" l="l"/>
              <a:pathLst>
                <a:path h="829056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4966" r="0" b="-18496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997440" cy="886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Validations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0263" y="2913383"/>
            <a:ext cx="793499" cy="793499"/>
            <a:chOff x="0" y="0"/>
            <a:chExt cx="1057999" cy="105799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2926080"/>
            <a:ext cx="768096" cy="768096"/>
            <a:chOff x="0" y="0"/>
            <a:chExt cx="1024128" cy="10241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24128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828800" y="2926080"/>
            <a:ext cx="6675120" cy="512064"/>
            <a:chOff x="0" y="0"/>
            <a:chExt cx="890016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00160" cy="682752"/>
            </a:xfrm>
            <a:custGeom>
              <a:avLst/>
              <a:gdLst/>
              <a:ahLst/>
              <a:cxnLst/>
              <a:rect r="r" b="b" t="t" l="l"/>
              <a:pathLst>
                <a:path h="682752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4001" r="0" b="-2040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9001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Employee Active Check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828800" y="3474720"/>
            <a:ext cx="6675120" cy="914400"/>
            <a:chOff x="0" y="0"/>
            <a:chExt cx="890016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9001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240" r="0" b="-9224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89001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Employee must be active — inactive employees cannot raise any claim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10263" y="4669031"/>
            <a:ext cx="793499" cy="793499"/>
            <a:chOff x="0" y="0"/>
            <a:chExt cx="1057999" cy="105799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22960" y="4681728"/>
            <a:ext cx="768096" cy="768096"/>
            <a:chOff x="0" y="0"/>
            <a:chExt cx="1024128" cy="10241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24128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1×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828800" y="4681728"/>
            <a:ext cx="6675120" cy="512064"/>
            <a:chOff x="0" y="0"/>
            <a:chExt cx="890016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900160" cy="682752"/>
            </a:xfrm>
            <a:custGeom>
              <a:avLst/>
              <a:gdLst/>
              <a:ahLst/>
              <a:cxnLst/>
              <a:rect r="r" b="b" t="t" l="l"/>
              <a:pathLst>
                <a:path h="682752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4001" r="0" b="-20400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89001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 Claim Per Employee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828800" y="5230368"/>
            <a:ext cx="6675120" cy="914400"/>
            <a:chOff x="0" y="0"/>
            <a:chExt cx="8900160" cy="1219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9001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240" r="0" b="-9224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89001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Only one accident claim allowed per employee lifetime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10263" y="6424679"/>
            <a:ext cx="793499" cy="793499"/>
            <a:chOff x="0" y="0"/>
            <a:chExt cx="1057999" cy="105799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22960" y="6437376"/>
            <a:ext cx="768096" cy="768096"/>
            <a:chOff x="0" y="0"/>
            <a:chExt cx="1024128" cy="102412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24128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📅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828800" y="6437376"/>
            <a:ext cx="6675120" cy="512064"/>
            <a:chOff x="0" y="0"/>
            <a:chExt cx="8900160" cy="6827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900160" cy="682752"/>
            </a:xfrm>
            <a:custGeom>
              <a:avLst/>
              <a:gdLst/>
              <a:ahLst/>
              <a:cxnLst/>
              <a:rect r="r" b="b" t="t" l="l"/>
              <a:pathLst>
                <a:path h="682752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4001" r="0" b="-20400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89001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90-Day Claim Window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828800" y="6986016"/>
            <a:ext cx="6675120" cy="914400"/>
            <a:chOff x="0" y="0"/>
            <a:chExt cx="8900160" cy="1219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9001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240" r="0" b="-9224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89001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Claim must be raised within 90 days of accident date. Auto-rejected if missed — missed deadline is shown to customer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35943" y="8582663"/>
            <a:ext cx="8255003" cy="1415291"/>
            <a:chOff x="0" y="0"/>
            <a:chExt cx="11006671" cy="188705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0972800" cy="1853184"/>
            </a:xfrm>
            <a:custGeom>
              <a:avLst/>
              <a:gdLst/>
              <a:ahLst/>
              <a:cxnLst/>
              <a:rect r="r" b="b" t="t" l="l"/>
              <a:pathLst>
                <a:path h="185318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853184"/>
                  </a:lnTo>
                  <a:lnTo>
                    <a:pt x="0" y="1853184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006582" cy="1886966"/>
            </a:xfrm>
            <a:custGeom>
              <a:avLst/>
              <a:gdLst/>
              <a:ahLst/>
              <a:cxnLst/>
              <a:rect r="r" b="b" t="t" l="l"/>
              <a:pathLst>
                <a:path h="1886966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870075"/>
                  </a:lnTo>
                  <a:cubicBezTo>
                    <a:pt x="11006582" y="1879473"/>
                    <a:pt x="10998962" y="1886966"/>
                    <a:pt x="10989691" y="1886966"/>
                  </a:cubicBezTo>
                  <a:lnTo>
                    <a:pt x="16891" y="1886966"/>
                  </a:lnTo>
                  <a:cubicBezTo>
                    <a:pt x="7493" y="1886966"/>
                    <a:pt x="0" y="1879346"/>
                    <a:pt x="0" y="18700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0075"/>
                  </a:lnTo>
                  <a:lnTo>
                    <a:pt x="16891" y="1870075"/>
                  </a:lnTo>
                  <a:lnTo>
                    <a:pt x="16891" y="1853184"/>
                  </a:lnTo>
                  <a:lnTo>
                    <a:pt x="10989691" y="1853184"/>
                  </a:lnTo>
                  <a:lnTo>
                    <a:pt x="10989691" y="1870075"/>
                  </a:lnTo>
                  <a:lnTo>
                    <a:pt x="10972800" y="1870075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535943" y="8582663"/>
            <a:ext cx="135131" cy="1415291"/>
            <a:chOff x="0" y="0"/>
            <a:chExt cx="180175" cy="188705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46304" cy="1853184"/>
            </a:xfrm>
            <a:custGeom>
              <a:avLst/>
              <a:gdLst/>
              <a:ahLst/>
              <a:cxnLst/>
              <a:rect r="r" b="b" t="t" l="l"/>
              <a:pathLst>
                <a:path h="185318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853184"/>
                  </a:lnTo>
                  <a:lnTo>
                    <a:pt x="0" y="1853184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80086" cy="1886966"/>
            </a:xfrm>
            <a:custGeom>
              <a:avLst/>
              <a:gdLst/>
              <a:ahLst/>
              <a:cxnLst/>
              <a:rect r="r" b="b" t="t" l="l"/>
              <a:pathLst>
                <a:path h="1886966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870075"/>
                  </a:lnTo>
                  <a:cubicBezTo>
                    <a:pt x="180086" y="1879473"/>
                    <a:pt x="172466" y="1886966"/>
                    <a:pt x="163195" y="1886966"/>
                  </a:cubicBezTo>
                  <a:lnTo>
                    <a:pt x="16891" y="1886966"/>
                  </a:lnTo>
                  <a:cubicBezTo>
                    <a:pt x="7493" y="1886966"/>
                    <a:pt x="0" y="1879346"/>
                    <a:pt x="0" y="18700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0075"/>
                  </a:lnTo>
                  <a:lnTo>
                    <a:pt x="16891" y="1870075"/>
                  </a:lnTo>
                  <a:lnTo>
                    <a:pt x="16891" y="1853184"/>
                  </a:lnTo>
                  <a:lnTo>
                    <a:pt x="163195" y="1853184"/>
                  </a:lnTo>
                  <a:lnTo>
                    <a:pt x="163195" y="1870075"/>
                  </a:lnTo>
                  <a:lnTo>
                    <a:pt x="146304" y="187007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14400" y="8686800"/>
            <a:ext cx="7315200" cy="475488"/>
            <a:chOff x="0" y="0"/>
            <a:chExt cx="9753600" cy="6339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9753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📎 Required Documents (both mandatory):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14400" y="9180576"/>
            <a:ext cx="7315200" cy="658368"/>
            <a:chOff x="0" y="0"/>
            <a:chExt cx="9753600" cy="87782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753600" cy="877824"/>
            </a:xfrm>
            <a:custGeom>
              <a:avLst/>
              <a:gdLst/>
              <a:ahLst/>
              <a:cxnLst/>
              <a:rect r="r" b="b" t="t" l="l"/>
              <a:pathLst>
                <a:path h="87782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97536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 Copy  •  Hospital Report (doctor's report with accident date)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497063" y="1907543"/>
            <a:ext cx="8255003" cy="6517643"/>
            <a:chOff x="0" y="0"/>
            <a:chExt cx="11006671" cy="869019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0972800" cy="8656320"/>
            </a:xfrm>
            <a:custGeom>
              <a:avLst/>
              <a:gdLst/>
              <a:ahLst/>
              <a:cxnLst/>
              <a:rect r="r" b="b" t="t" l="l"/>
              <a:pathLst>
                <a:path h="86563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656320"/>
                  </a:lnTo>
                  <a:lnTo>
                    <a:pt x="0" y="86563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006582" cy="8690101"/>
            </a:xfrm>
            <a:custGeom>
              <a:avLst/>
              <a:gdLst/>
              <a:ahLst/>
              <a:cxnLst/>
              <a:rect r="r" b="b" t="t" l="l"/>
              <a:pathLst>
                <a:path h="8690101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8673211"/>
                  </a:lnTo>
                  <a:cubicBezTo>
                    <a:pt x="11006582" y="8682609"/>
                    <a:pt x="10998962" y="8690101"/>
                    <a:pt x="10989691" y="8690101"/>
                  </a:cubicBezTo>
                  <a:lnTo>
                    <a:pt x="16891" y="8690101"/>
                  </a:lnTo>
                  <a:cubicBezTo>
                    <a:pt x="7493" y="8690101"/>
                    <a:pt x="0" y="8682482"/>
                    <a:pt x="0" y="8673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673211"/>
                  </a:lnTo>
                  <a:lnTo>
                    <a:pt x="16891" y="8673211"/>
                  </a:lnTo>
                  <a:lnTo>
                    <a:pt x="16891" y="8656320"/>
                  </a:lnTo>
                  <a:lnTo>
                    <a:pt x="10989691" y="8656320"/>
                  </a:lnTo>
                  <a:lnTo>
                    <a:pt x="10989691" y="8673211"/>
                  </a:lnTo>
                  <a:lnTo>
                    <a:pt x="10972800" y="86732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497063" y="1907543"/>
            <a:ext cx="135131" cy="6517643"/>
            <a:chOff x="0" y="0"/>
            <a:chExt cx="180175" cy="869019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46304" cy="8656320"/>
            </a:xfrm>
            <a:custGeom>
              <a:avLst/>
              <a:gdLst/>
              <a:ahLst/>
              <a:cxnLst/>
              <a:rect r="r" b="b" t="t" l="l"/>
              <a:pathLst>
                <a:path h="86563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8656320"/>
                  </a:lnTo>
                  <a:lnTo>
                    <a:pt x="0" y="8656320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80086" cy="8690101"/>
            </a:xfrm>
            <a:custGeom>
              <a:avLst/>
              <a:gdLst/>
              <a:ahLst/>
              <a:cxnLst/>
              <a:rect r="r" b="b" t="t" l="l"/>
              <a:pathLst>
                <a:path h="8690101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8673211"/>
                  </a:lnTo>
                  <a:cubicBezTo>
                    <a:pt x="180086" y="8682609"/>
                    <a:pt x="172466" y="8690101"/>
                    <a:pt x="163195" y="8690101"/>
                  </a:cubicBezTo>
                  <a:lnTo>
                    <a:pt x="16891" y="8690101"/>
                  </a:lnTo>
                  <a:cubicBezTo>
                    <a:pt x="7493" y="8690101"/>
                    <a:pt x="0" y="8682482"/>
                    <a:pt x="0" y="8673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673211"/>
                  </a:lnTo>
                  <a:lnTo>
                    <a:pt x="16891" y="8673211"/>
                  </a:lnTo>
                  <a:lnTo>
                    <a:pt x="16891" y="8656320"/>
                  </a:lnTo>
                  <a:lnTo>
                    <a:pt x="163195" y="8656320"/>
                  </a:lnTo>
                  <a:lnTo>
                    <a:pt x="163195" y="8673211"/>
                  </a:lnTo>
                  <a:lnTo>
                    <a:pt x="146304" y="86732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875520" y="2048256"/>
            <a:ext cx="7498080" cy="621792"/>
            <a:chOff x="0" y="0"/>
            <a:chExt cx="9997440" cy="82905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997440" cy="829056"/>
            </a:xfrm>
            <a:custGeom>
              <a:avLst/>
              <a:gdLst/>
              <a:ahLst/>
              <a:cxnLst/>
              <a:rect r="r" b="b" t="t" l="l"/>
              <a:pathLst>
                <a:path h="829056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4966" r="0" b="-18496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9997440" cy="886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Payout Calculation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875520" y="2962656"/>
            <a:ext cx="4023360" cy="585216"/>
            <a:chOff x="0" y="0"/>
            <a:chExt cx="5364480" cy="78028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364480" cy="780288"/>
            </a:xfrm>
            <a:custGeom>
              <a:avLst/>
              <a:gdLst/>
              <a:ahLst/>
              <a:cxnLst/>
              <a:rect r="r" b="b" t="t" l="l"/>
              <a:pathLst>
                <a:path h="7802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53644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Accident Type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898880" y="2962656"/>
            <a:ext cx="3657600" cy="585216"/>
            <a:chOff x="0" y="0"/>
            <a:chExt cx="4876800" cy="78028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876800" cy="780288"/>
            </a:xfrm>
            <a:custGeom>
              <a:avLst/>
              <a:gdLst/>
              <a:ahLst/>
              <a:cxnLst/>
              <a:rect r="r" b="b" t="t" l="l"/>
              <a:pathLst>
                <a:path h="78028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48768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Payout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643367" y="3681479"/>
            <a:ext cx="7852667" cy="1342139"/>
            <a:chOff x="0" y="0"/>
            <a:chExt cx="10470223" cy="178951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0436352" cy="1755648"/>
            </a:xfrm>
            <a:custGeom>
              <a:avLst/>
              <a:gdLst/>
              <a:ahLst/>
              <a:cxnLst/>
              <a:rect r="r" b="b" t="t" l="l"/>
              <a:pathLst>
                <a:path h="1755648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470135" cy="1789430"/>
            </a:xfrm>
            <a:custGeom>
              <a:avLst/>
              <a:gdLst/>
              <a:ahLst/>
              <a:cxnLst/>
              <a:rect r="r" b="b" t="t" l="l"/>
              <a:pathLst>
                <a:path h="1789430" w="10470135">
                  <a:moveTo>
                    <a:pt x="16891" y="0"/>
                  </a:moveTo>
                  <a:lnTo>
                    <a:pt x="10453243" y="0"/>
                  </a:lnTo>
                  <a:cubicBezTo>
                    <a:pt x="10462641" y="0"/>
                    <a:pt x="10470135" y="7620"/>
                    <a:pt x="10470135" y="16891"/>
                  </a:cubicBezTo>
                  <a:lnTo>
                    <a:pt x="10470135" y="1772539"/>
                  </a:lnTo>
                  <a:cubicBezTo>
                    <a:pt x="10470135" y="1781937"/>
                    <a:pt x="10462514" y="1789430"/>
                    <a:pt x="10453243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10453243" y="1755648"/>
                  </a:lnTo>
                  <a:lnTo>
                    <a:pt x="10453243" y="1772539"/>
                  </a:lnTo>
                  <a:lnTo>
                    <a:pt x="10436352" y="1772539"/>
                  </a:lnTo>
                  <a:lnTo>
                    <a:pt x="10436352" y="16891"/>
                  </a:lnTo>
                  <a:lnTo>
                    <a:pt x="10453243" y="16891"/>
                  </a:lnTo>
                  <a:lnTo>
                    <a:pt x="104532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643367" y="3681479"/>
            <a:ext cx="116843" cy="1342139"/>
            <a:chOff x="0" y="0"/>
            <a:chExt cx="155791" cy="178951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219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55702" cy="1789430"/>
            </a:xfrm>
            <a:custGeom>
              <a:avLst/>
              <a:gdLst/>
              <a:ahLst/>
              <a:cxnLst/>
              <a:rect r="r" b="b" t="t" l="l"/>
              <a:pathLst>
                <a:path h="1789430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772539"/>
                  </a:lnTo>
                  <a:cubicBezTo>
                    <a:pt x="155702" y="1781937"/>
                    <a:pt x="148082" y="1789430"/>
                    <a:pt x="13881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138811" y="1755648"/>
                  </a:lnTo>
                  <a:lnTo>
                    <a:pt x="138811" y="1772539"/>
                  </a:lnTo>
                  <a:lnTo>
                    <a:pt x="121920" y="1772539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912096" y="3785616"/>
            <a:ext cx="4023360" cy="1060704"/>
            <a:chOff x="0" y="0"/>
            <a:chExt cx="5364480" cy="141427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3644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908" r="0" b="-23908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536448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Complete Disability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3898880" y="3785616"/>
            <a:ext cx="3474720" cy="1060704"/>
            <a:chOff x="0" y="0"/>
            <a:chExt cx="4632960" cy="141427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632960" cy="1414272"/>
            </a:xfrm>
            <a:custGeom>
              <a:avLst/>
              <a:gdLst/>
              <a:ahLst/>
              <a:cxnLst/>
              <a:rect r="r" b="b" t="t" l="l"/>
              <a:pathLst>
                <a:path h="141427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30" r="0" b="-1383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463296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Full Coverage Paid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643367" y="5144519"/>
            <a:ext cx="7852667" cy="1342139"/>
            <a:chOff x="0" y="0"/>
            <a:chExt cx="10470223" cy="178951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0436352" cy="1755648"/>
            </a:xfrm>
            <a:custGeom>
              <a:avLst/>
              <a:gdLst/>
              <a:ahLst/>
              <a:cxnLst/>
              <a:rect r="r" b="b" t="t" l="l"/>
              <a:pathLst>
                <a:path h="1755648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470135" cy="1789430"/>
            </a:xfrm>
            <a:custGeom>
              <a:avLst/>
              <a:gdLst/>
              <a:ahLst/>
              <a:cxnLst/>
              <a:rect r="r" b="b" t="t" l="l"/>
              <a:pathLst>
                <a:path h="1789430" w="10470135">
                  <a:moveTo>
                    <a:pt x="16891" y="0"/>
                  </a:moveTo>
                  <a:lnTo>
                    <a:pt x="10453243" y="0"/>
                  </a:lnTo>
                  <a:cubicBezTo>
                    <a:pt x="10462641" y="0"/>
                    <a:pt x="10470135" y="7620"/>
                    <a:pt x="10470135" y="16891"/>
                  </a:cubicBezTo>
                  <a:lnTo>
                    <a:pt x="10470135" y="1772539"/>
                  </a:lnTo>
                  <a:cubicBezTo>
                    <a:pt x="10470135" y="1781937"/>
                    <a:pt x="10462514" y="1789430"/>
                    <a:pt x="10453243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10453243" y="1755648"/>
                  </a:lnTo>
                  <a:lnTo>
                    <a:pt x="10453243" y="1772539"/>
                  </a:lnTo>
                  <a:lnTo>
                    <a:pt x="10436352" y="1772539"/>
                  </a:lnTo>
                  <a:lnTo>
                    <a:pt x="10436352" y="16891"/>
                  </a:lnTo>
                  <a:lnTo>
                    <a:pt x="10453243" y="16891"/>
                  </a:lnTo>
                  <a:lnTo>
                    <a:pt x="1045324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643367" y="5144519"/>
            <a:ext cx="116843" cy="1342139"/>
            <a:chOff x="0" y="0"/>
            <a:chExt cx="155791" cy="1789519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219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55702" cy="1789430"/>
            </a:xfrm>
            <a:custGeom>
              <a:avLst/>
              <a:gdLst/>
              <a:ahLst/>
              <a:cxnLst/>
              <a:rect r="r" b="b" t="t" l="l"/>
              <a:pathLst>
                <a:path h="1789430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772539"/>
                  </a:lnTo>
                  <a:cubicBezTo>
                    <a:pt x="155702" y="1781937"/>
                    <a:pt x="148082" y="1789430"/>
                    <a:pt x="13881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138811" y="1755648"/>
                  </a:lnTo>
                  <a:lnTo>
                    <a:pt x="138811" y="1772539"/>
                  </a:lnTo>
                  <a:lnTo>
                    <a:pt x="121920" y="1772539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912096" y="5248656"/>
            <a:ext cx="4023360" cy="1060704"/>
            <a:chOff x="0" y="0"/>
            <a:chExt cx="5364480" cy="141427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3644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908" r="0" b="-23908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536448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Partial Disability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898880" y="5248656"/>
            <a:ext cx="3474720" cy="1060704"/>
            <a:chOff x="0" y="0"/>
            <a:chExt cx="4632960" cy="141427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632960" cy="1414272"/>
            </a:xfrm>
            <a:custGeom>
              <a:avLst/>
              <a:gdLst/>
              <a:ahLst/>
              <a:cxnLst/>
              <a:rect r="r" b="b" t="t" l="l"/>
              <a:pathLst>
                <a:path h="141427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30" r="0" b="-1383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463296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Coverage × Disability %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497063" y="6753863"/>
            <a:ext cx="8255003" cy="1579883"/>
            <a:chOff x="0" y="0"/>
            <a:chExt cx="11006671" cy="210651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109728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10065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089531"/>
                  </a:lnTo>
                  <a:cubicBezTo>
                    <a:pt x="11006582" y="2098929"/>
                    <a:pt x="10998962" y="2106422"/>
                    <a:pt x="1098969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10989691" y="2072640"/>
                  </a:lnTo>
                  <a:lnTo>
                    <a:pt x="10989691" y="2089531"/>
                  </a:lnTo>
                  <a:lnTo>
                    <a:pt x="10972800" y="20895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497063" y="6753863"/>
            <a:ext cx="116843" cy="1579883"/>
            <a:chOff x="0" y="0"/>
            <a:chExt cx="155791" cy="210651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1219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55702" cy="2106422"/>
            </a:xfrm>
            <a:custGeom>
              <a:avLst/>
              <a:gdLst/>
              <a:ahLst/>
              <a:cxnLst/>
              <a:rect r="r" b="b" t="t" l="l"/>
              <a:pathLst>
                <a:path h="2106422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2089531"/>
                  </a:lnTo>
                  <a:cubicBezTo>
                    <a:pt x="155702" y="2098929"/>
                    <a:pt x="148082" y="2106422"/>
                    <a:pt x="13881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138811" y="2072640"/>
                  </a:lnTo>
                  <a:lnTo>
                    <a:pt x="138811" y="2089531"/>
                  </a:lnTo>
                  <a:lnTo>
                    <a:pt x="121920" y="2089531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9838944" y="6839712"/>
            <a:ext cx="7680960" cy="475488"/>
            <a:chOff x="0" y="0"/>
            <a:chExt cx="10241280" cy="63398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02412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4758" r="0" b="-264758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102412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💡 Key Design Decisions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838944" y="7315200"/>
            <a:ext cx="7680960" cy="877824"/>
            <a:chOff x="0" y="0"/>
            <a:chExt cx="10241280" cy="117043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02412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1024128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 factor NOT applied — accidents are random events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Term Life + Accident both allowed independently on Pro plans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497063" y="8582663"/>
            <a:ext cx="8255003" cy="1415291"/>
            <a:chOff x="0" y="0"/>
            <a:chExt cx="11006671" cy="1887055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10972800" cy="1853184"/>
            </a:xfrm>
            <a:custGeom>
              <a:avLst/>
              <a:gdLst/>
              <a:ahLst/>
              <a:cxnLst/>
              <a:rect r="r" b="b" t="t" l="l"/>
              <a:pathLst>
                <a:path h="185318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853184"/>
                  </a:lnTo>
                  <a:lnTo>
                    <a:pt x="0" y="1853184"/>
                  </a:lnTo>
                  <a:close/>
                </a:path>
              </a:pathLst>
            </a:custGeom>
            <a:solidFill>
              <a:srgbClr val="FFF0E0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1006582" cy="1886966"/>
            </a:xfrm>
            <a:custGeom>
              <a:avLst/>
              <a:gdLst/>
              <a:ahLst/>
              <a:cxnLst/>
              <a:rect r="r" b="b" t="t" l="l"/>
              <a:pathLst>
                <a:path h="1886966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870075"/>
                  </a:lnTo>
                  <a:cubicBezTo>
                    <a:pt x="11006582" y="1879473"/>
                    <a:pt x="10998962" y="1886966"/>
                    <a:pt x="10989691" y="1886966"/>
                  </a:cubicBezTo>
                  <a:lnTo>
                    <a:pt x="16891" y="1886966"/>
                  </a:lnTo>
                  <a:cubicBezTo>
                    <a:pt x="7493" y="1886966"/>
                    <a:pt x="0" y="1879346"/>
                    <a:pt x="0" y="18700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0075"/>
                  </a:lnTo>
                  <a:lnTo>
                    <a:pt x="16891" y="1870075"/>
                  </a:lnTo>
                  <a:lnTo>
                    <a:pt x="16891" y="1853184"/>
                  </a:lnTo>
                  <a:lnTo>
                    <a:pt x="10989691" y="1853184"/>
                  </a:lnTo>
                  <a:lnTo>
                    <a:pt x="10989691" y="1870075"/>
                  </a:lnTo>
                  <a:lnTo>
                    <a:pt x="10972800" y="1870075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729216" y="8814816"/>
            <a:ext cx="7772400" cy="950976"/>
            <a:chOff x="0" y="0"/>
            <a:chExt cx="10363200" cy="126796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03632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252" r="0" b="-109252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1036320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C4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Formula:  Partial = Accident Coverage × Disability % / 100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329184"/>
            <a:ext cx="16459200" cy="950976"/>
            <a:chOff x="0" y="0"/>
            <a:chExt cx="21945600" cy="12679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94560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A2B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Claims — Rules Summary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316736"/>
            <a:ext cx="16459200" cy="512064"/>
            <a:chOff x="0" y="0"/>
            <a:chExt cx="2194560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19456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three claim types at a glance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9367" y="1998983"/>
            <a:ext cx="5511803" cy="848363"/>
            <a:chOff x="0" y="0"/>
            <a:chExt cx="7349071" cy="11311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31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8982" cy="1131064"/>
            </a:xfrm>
            <a:custGeom>
              <a:avLst/>
              <a:gdLst/>
              <a:ahLst/>
              <a:cxnLst/>
              <a:rect r="r" b="b" t="t" l="l"/>
              <a:pathLst>
                <a:path h="1131064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114171"/>
                  </a:lnTo>
                  <a:cubicBezTo>
                    <a:pt x="7348982" y="1123569"/>
                    <a:pt x="7341362" y="1131062"/>
                    <a:pt x="733209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7332091" y="1097280"/>
                  </a:lnTo>
                  <a:lnTo>
                    <a:pt x="7332091" y="1114171"/>
                  </a:lnTo>
                  <a:lnTo>
                    <a:pt x="7315200" y="111417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03504" y="2011680"/>
            <a:ext cx="5394960" cy="822960"/>
            <a:chOff x="0" y="0"/>
            <a:chExt cx="719328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9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193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Rule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058919" y="1998983"/>
            <a:ext cx="3865883" cy="848363"/>
            <a:chOff x="0" y="0"/>
            <a:chExt cx="5154511" cy="11311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544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114171"/>
                  </a:lnTo>
                  <a:cubicBezTo>
                    <a:pt x="5154422" y="1123569"/>
                    <a:pt x="5146802" y="1131062"/>
                    <a:pt x="51375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5137531" y="1097280"/>
                  </a:lnTo>
                  <a:lnTo>
                    <a:pt x="5137531" y="1114171"/>
                  </a:lnTo>
                  <a:lnTo>
                    <a:pt x="5120640" y="111417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163056" y="2011680"/>
            <a:ext cx="3749040" cy="822960"/>
            <a:chOff x="0" y="0"/>
            <a:chExt cx="499872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98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9987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❤ Health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972551" y="1998983"/>
            <a:ext cx="3865883" cy="848363"/>
            <a:chOff x="0" y="0"/>
            <a:chExt cx="5154511" cy="11311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544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114171"/>
                  </a:lnTo>
                  <a:cubicBezTo>
                    <a:pt x="5154422" y="1123569"/>
                    <a:pt x="5146802" y="1131062"/>
                    <a:pt x="51375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5137531" y="1097280"/>
                  </a:lnTo>
                  <a:lnTo>
                    <a:pt x="5137531" y="1114171"/>
                  </a:lnTo>
                  <a:lnTo>
                    <a:pt x="5120640" y="111417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076688" y="2011680"/>
            <a:ext cx="3749040" cy="822960"/>
            <a:chOff x="0" y="0"/>
            <a:chExt cx="499872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98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9987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🛡 Term Life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886183" y="1998983"/>
            <a:ext cx="3865883" cy="848363"/>
            <a:chOff x="0" y="0"/>
            <a:chExt cx="5154511" cy="113115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54422" cy="1131064"/>
            </a:xfrm>
            <a:custGeom>
              <a:avLst/>
              <a:gdLst/>
              <a:ahLst/>
              <a:cxnLst/>
              <a:rect r="r" b="b" t="t" l="l"/>
              <a:pathLst>
                <a:path h="1131064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114171"/>
                  </a:lnTo>
                  <a:cubicBezTo>
                    <a:pt x="5154422" y="1123569"/>
                    <a:pt x="5146802" y="1131062"/>
                    <a:pt x="51375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5137531" y="1097280"/>
                  </a:lnTo>
                  <a:lnTo>
                    <a:pt x="5137531" y="1114171"/>
                  </a:lnTo>
                  <a:lnTo>
                    <a:pt x="5120640" y="111417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990320" y="2011680"/>
            <a:ext cx="3749040" cy="822960"/>
            <a:chOff x="0" y="0"/>
            <a:chExt cx="499872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98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9987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⚡ Accident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99367" y="2876807"/>
            <a:ext cx="5511803" cy="738635"/>
            <a:chOff x="0" y="0"/>
            <a:chExt cx="7349071" cy="98484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7315200" cy="950976"/>
            </a:xfrm>
            <a:custGeom>
              <a:avLst/>
              <a:gdLst/>
              <a:ahLst/>
              <a:cxnLst/>
              <a:rect r="r" b="b" t="t" l="l"/>
              <a:pathLst>
                <a:path h="95097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48982" cy="984760"/>
            </a:xfrm>
            <a:custGeom>
              <a:avLst/>
              <a:gdLst/>
              <a:ahLst/>
              <a:cxnLst/>
              <a:rect r="r" b="b" t="t" l="l"/>
              <a:pathLst>
                <a:path h="98476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67867"/>
                  </a:lnTo>
                  <a:cubicBezTo>
                    <a:pt x="7348982" y="977265"/>
                    <a:pt x="7341362" y="984758"/>
                    <a:pt x="733209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7332091" y="950976"/>
                  </a:lnTo>
                  <a:lnTo>
                    <a:pt x="7332091" y="967867"/>
                  </a:lnTo>
                  <a:lnTo>
                    <a:pt x="7315200" y="967867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58368" y="2926080"/>
            <a:ext cx="5340096" cy="640080"/>
            <a:chOff x="0" y="0"/>
            <a:chExt cx="7120128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120128" cy="853440"/>
            </a:xfrm>
            <a:custGeom>
              <a:avLst/>
              <a:gdLst/>
              <a:ahLst/>
              <a:cxnLst/>
              <a:rect r="r" b="b" t="t" l="l"/>
              <a:pathLst>
                <a:path h="85344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560" r="0" b="-11256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12012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Employee must be active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058919" y="2876807"/>
            <a:ext cx="3865883" cy="738635"/>
            <a:chOff x="0" y="0"/>
            <a:chExt cx="5154511" cy="98484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217920" y="2926080"/>
            <a:ext cx="3694176" cy="640080"/>
            <a:chOff x="0" y="0"/>
            <a:chExt cx="4925568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972551" y="2876807"/>
            <a:ext cx="3865883" cy="738635"/>
            <a:chOff x="0" y="0"/>
            <a:chExt cx="5154511" cy="98484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131552" y="2926080"/>
            <a:ext cx="3694176" cy="640080"/>
            <a:chOff x="0" y="0"/>
            <a:chExt cx="4925568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886183" y="2876807"/>
            <a:ext cx="3865883" cy="738635"/>
            <a:chOff x="0" y="0"/>
            <a:chExt cx="5154511" cy="98484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4045184" y="2926080"/>
            <a:ext cx="3694176" cy="640080"/>
            <a:chOff x="0" y="0"/>
            <a:chExt cx="4925568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99367" y="3590039"/>
            <a:ext cx="5511803" cy="738635"/>
            <a:chOff x="0" y="0"/>
            <a:chExt cx="7349071" cy="98484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7315200" cy="950976"/>
            </a:xfrm>
            <a:custGeom>
              <a:avLst/>
              <a:gdLst/>
              <a:ahLst/>
              <a:cxnLst/>
              <a:rect r="r" b="b" t="t" l="l"/>
              <a:pathLst>
                <a:path h="95097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348982" cy="984760"/>
            </a:xfrm>
            <a:custGeom>
              <a:avLst/>
              <a:gdLst/>
              <a:ahLst/>
              <a:cxnLst/>
              <a:rect r="r" b="b" t="t" l="l"/>
              <a:pathLst>
                <a:path h="98476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67867"/>
                  </a:lnTo>
                  <a:cubicBezTo>
                    <a:pt x="7348982" y="977265"/>
                    <a:pt x="7341362" y="984758"/>
                    <a:pt x="733209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7332091" y="950976"/>
                  </a:lnTo>
                  <a:lnTo>
                    <a:pt x="7332091" y="967867"/>
                  </a:lnTo>
                  <a:lnTo>
                    <a:pt x="7315200" y="967867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58368" y="3639312"/>
            <a:ext cx="5340096" cy="640080"/>
            <a:chOff x="0" y="0"/>
            <a:chExt cx="7120128" cy="853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120128" cy="853440"/>
            </a:xfrm>
            <a:custGeom>
              <a:avLst/>
              <a:gdLst/>
              <a:ahLst/>
              <a:cxnLst/>
              <a:rect r="r" b="b" t="t" l="l"/>
              <a:pathLst>
                <a:path h="85344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560" r="0" b="-11256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712012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 loading on payout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058919" y="3590039"/>
            <a:ext cx="3865883" cy="738635"/>
            <a:chOff x="0" y="0"/>
            <a:chExt cx="5154511" cy="98484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6217920" y="3639312"/>
            <a:ext cx="3694176" cy="640080"/>
            <a:chOff x="0" y="0"/>
            <a:chExt cx="4925568" cy="8534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✔ (4 bands)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972551" y="3590039"/>
            <a:ext cx="3865883" cy="738635"/>
            <a:chOff x="0" y="0"/>
            <a:chExt cx="5154511" cy="98484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0131552" y="3639312"/>
            <a:ext cx="3694176" cy="640080"/>
            <a:chOff x="0" y="0"/>
            <a:chExt cx="4925568" cy="8534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 at 70 yrs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886183" y="3590039"/>
            <a:ext cx="3865883" cy="738635"/>
            <a:chOff x="0" y="0"/>
            <a:chExt cx="5154511" cy="98484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4045184" y="3639312"/>
            <a:ext cx="3694176" cy="640080"/>
            <a:chOff x="0" y="0"/>
            <a:chExt cx="4925568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✘ Not applied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499367" y="4303271"/>
            <a:ext cx="5511803" cy="738635"/>
            <a:chOff x="0" y="0"/>
            <a:chExt cx="7349071" cy="984847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7315200" cy="950976"/>
            </a:xfrm>
            <a:custGeom>
              <a:avLst/>
              <a:gdLst/>
              <a:ahLst/>
              <a:cxnLst/>
              <a:rect r="r" b="b" t="t" l="l"/>
              <a:pathLst>
                <a:path h="95097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348982" cy="984760"/>
            </a:xfrm>
            <a:custGeom>
              <a:avLst/>
              <a:gdLst/>
              <a:ahLst/>
              <a:cxnLst/>
              <a:rect r="r" b="b" t="t" l="l"/>
              <a:pathLst>
                <a:path h="98476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67867"/>
                  </a:lnTo>
                  <a:cubicBezTo>
                    <a:pt x="7348982" y="977265"/>
                    <a:pt x="7341362" y="984758"/>
                    <a:pt x="733209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7332091" y="950976"/>
                  </a:lnTo>
                  <a:lnTo>
                    <a:pt x="7332091" y="967867"/>
                  </a:lnTo>
                  <a:lnTo>
                    <a:pt x="7315200" y="967867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658368" y="4352544"/>
            <a:ext cx="5340096" cy="640080"/>
            <a:chOff x="0" y="0"/>
            <a:chExt cx="7120128" cy="8534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120128" cy="853440"/>
            </a:xfrm>
            <a:custGeom>
              <a:avLst/>
              <a:gdLst/>
              <a:ahLst/>
              <a:cxnLst/>
              <a:rect r="r" b="b" t="t" l="l"/>
              <a:pathLst>
                <a:path h="85344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560" r="0" b="-11256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712012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Waiting period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058919" y="4303271"/>
            <a:ext cx="3865883" cy="738635"/>
            <a:chOff x="0" y="0"/>
            <a:chExt cx="5154511" cy="98484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6217920" y="4352544"/>
            <a:ext cx="3694176" cy="640080"/>
            <a:chOff x="0" y="0"/>
            <a:chExt cx="4925568" cy="8534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✘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972551" y="4303271"/>
            <a:ext cx="3865883" cy="738635"/>
            <a:chOff x="0" y="0"/>
            <a:chExt cx="5154511" cy="98484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0131552" y="4352544"/>
            <a:ext cx="3694176" cy="640080"/>
            <a:chOff x="0" y="0"/>
            <a:chExt cx="4925568" cy="85344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✘ Removed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3886183" y="4303271"/>
            <a:ext cx="3865883" cy="738635"/>
            <a:chOff x="0" y="0"/>
            <a:chExt cx="5154511" cy="984847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4045184" y="4352544"/>
            <a:ext cx="3694176" cy="640080"/>
            <a:chOff x="0" y="0"/>
            <a:chExt cx="4925568" cy="8534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✘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499367" y="5016503"/>
            <a:ext cx="5511803" cy="738635"/>
            <a:chOff x="0" y="0"/>
            <a:chExt cx="7349071" cy="984847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7315200" cy="950976"/>
            </a:xfrm>
            <a:custGeom>
              <a:avLst/>
              <a:gdLst/>
              <a:ahLst/>
              <a:cxnLst/>
              <a:rect r="r" b="b" t="t" l="l"/>
              <a:pathLst>
                <a:path h="95097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7348982" cy="984760"/>
            </a:xfrm>
            <a:custGeom>
              <a:avLst/>
              <a:gdLst/>
              <a:ahLst/>
              <a:cxnLst/>
              <a:rect r="r" b="b" t="t" l="l"/>
              <a:pathLst>
                <a:path h="98476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67867"/>
                  </a:lnTo>
                  <a:cubicBezTo>
                    <a:pt x="7348982" y="977265"/>
                    <a:pt x="7341362" y="984758"/>
                    <a:pt x="733209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7332091" y="950976"/>
                  </a:lnTo>
                  <a:lnTo>
                    <a:pt x="7332091" y="967867"/>
                  </a:lnTo>
                  <a:lnTo>
                    <a:pt x="7315200" y="967867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658368" y="5065776"/>
            <a:ext cx="5340096" cy="640080"/>
            <a:chOff x="0" y="0"/>
            <a:chExt cx="7120128" cy="85344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7120128" cy="853440"/>
            </a:xfrm>
            <a:custGeom>
              <a:avLst/>
              <a:gdLst/>
              <a:ahLst/>
              <a:cxnLst/>
              <a:rect r="r" b="b" t="t" l="l"/>
              <a:pathLst>
                <a:path h="85344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560" r="0" b="-11256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712012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Suicide exclusion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6058919" y="5016503"/>
            <a:ext cx="3865883" cy="738635"/>
            <a:chOff x="0" y="0"/>
            <a:chExt cx="5154511" cy="984847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6217920" y="5065776"/>
            <a:ext cx="3694176" cy="640080"/>
            <a:chOff x="0" y="0"/>
            <a:chExt cx="4925568" cy="85344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✘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972551" y="5016503"/>
            <a:ext cx="3865883" cy="738635"/>
            <a:chOff x="0" y="0"/>
            <a:chExt cx="5154511" cy="984847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0131552" y="5065776"/>
            <a:ext cx="3694176" cy="640080"/>
            <a:chOff x="0" y="0"/>
            <a:chExt cx="4925568" cy="85344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✔ (&lt;365 days → 80%)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3886183" y="5016503"/>
            <a:ext cx="3865883" cy="738635"/>
            <a:chOff x="0" y="0"/>
            <a:chExt cx="5154511" cy="984847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4045184" y="5065776"/>
            <a:ext cx="3694176" cy="640080"/>
            <a:chOff x="0" y="0"/>
            <a:chExt cx="4925568" cy="85344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✘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499367" y="5729735"/>
            <a:ext cx="5511803" cy="738635"/>
            <a:chOff x="0" y="0"/>
            <a:chExt cx="7349071" cy="984847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7315200" cy="950976"/>
            </a:xfrm>
            <a:custGeom>
              <a:avLst/>
              <a:gdLst/>
              <a:ahLst/>
              <a:cxnLst/>
              <a:rect r="r" b="b" t="t" l="l"/>
              <a:pathLst>
                <a:path h="95097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7348982" cy="984760"/>
            </a:xfrm>
            <a:custGeom>
              <a:avLst/>
              <a:gdLst/>
              <a:ahLst/>
              <a:cxnLst/>
              <a:rect r="r" b="b" t="t" l="l"/>
              <a:pathLst>
                <a:path h="98476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67867"/>
                  </a:lnTo>
                  <a:cubicBezTo>
                    <a:pt x="7348982" y="977265"/>
                    <a:pt x="7341362" y="984758"/>
                    <a:pt x="733209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7332091" y="950976"/>
                  </a:lnTo>
                  <a:lnTo>
                    <a:pt x="7332091" y="967867"/>
                  </a:lnTo>
                  <a:lnTo>
                    <a:pt x="7315200" y="967867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658368" y="5779008"/>
            <a:ext cx="5340096" cy="640080"/>
            <a:chOff x="0" y="0"/>
            <a:chExt cx="7120128" cy="85344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7120128" cy="853440"/>
            </a:xfrm>
            <a:custGeom>
              <a:avLst/>
              <a:gdLst/>
              <a:ahLst/>
              <a:cxnLst/>
              <a:rect r="r" b="b" t="t" l="l"/>
              <a:pathLst>
                <a:path h="85344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560" r="0" b="-11256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712012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Claim frequency loading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6058919" y="5729735"/>
            <a:ext cx="3865883" cy="738635"/>
            <a:chOff x="0" y="0"/>
            <a:chExt cx="5154511" cy="984847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6217920" y="5779008"/>
            <a:ext cx="3694176" cy="640080"/>
            <a:chOff x="0" y="0"/>
            <a:chExt cx="4925568" cy="8534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✔ (1st/2nd/3rd+)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972551" y="5729735"/>
            <a:ext cx="3865883" cy="738635"/>
            <a:chOff x="0" y="0"/>
            <a:chExt cx="5154511" cy="984847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0131552" y="5779008"/>
            <a:ext cx="3694176" cy="640080"/>
            <a:chOff x="0" y="0"/>
            <a:chExt cx="4925568" cy="85344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✘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3886183" y="5729735"/>
            <a:ext cx="3865883" cy="738635"/>
            <a:chOff x="0" y="0"/>
            <a:chExt cx="5154511" cy="984847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4045184" y="5779008"/>
            <a:ext cx="3694176" cy="640080"/>
            <a:chOff x="0" y="0"/>
            <a:chExt cx="4925568" cy="8534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✘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499367" y="6442967"/>
            <a:ext cx="5511803" cy="738635"/>
            <a:chOff x="0" y="0"/>
            <a:chExt cx="7349071" cy="984847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16891" y="16891"/>
              <a:ext cx="7315200" cy="950976"/>
            </a:xfrm>
            <a:custGeom>
              <a:avLst/>
              <a:gdLst/>
              <a:ahLst/>
              <a:cxnLst/>
              <a:rect r="r" b="b" t="t" l="l"/>
              <a:pathLst>
                <a:path h="95097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7348982" cy="984760"/>
            </a:xfrm>
            <a:custGeom>
              <a:avLst/>
              <a:gdLst/>
              <a:ahLst/>
              <a:cxnLst/>
              <a:rect r="r" b="b" t="t" l="l"/>
              <a:pathLst>
                <a:path h="98476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67867"/>
                  </a:lnTo>
                  <a:cubicBezTo>
                    <a:pt x="7348982" y="977265"/>
                    <a:pt x="7341362" y="984758"/>
                    <a:pt x="733209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7332091" y="950976"/>
                  </a:lnTo>
                  <a:lnTo>
                    <a:pt x="7332091" y="967867"/>
                  </a:lnTo>
                  <a:lnTo>
                    <a:pt x="7315200" y="967867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658368" y="6492240"/>
            <a:ext cx="5340096" cy="640080"/>
            <a:chOff x="0" y="0"/>
            <a:chExt cx="7120128" cy="85344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7120128" cy="853440"/>
            </a:xfrm>
            <a:custGeom>
              <a:avLst/>
              <a:gdLst/>
              <a:ahLst/>
              <a:cxnLst/>
              <a:rect r="r" b="b" t="t" l="l"/>
              <a:pathLst>
                <a:path h="85344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560" r="0" b="-11256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712012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 claim per employee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6058919" y="6442967"/>
            <a:ext cx="3865883" cy="738635"/>
            <a:chOff x="0" y="0"/>
            <a:chExt cx="5154511" cy="984847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6217920" y="6492240"/>
            <a:ext cx="3694176" cy="640080"/>
            <a:chOff x="0" y="0"/>
            <a:chExt cx="4925568" cy="85344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✘ Multiple OK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9972551" y="6442967"/>
            <a:ext cx="3865883" cy="738635"/>
            <a:chOff x="0" y="0"/>
            <a:chExt cx="5154511" cy="984847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0131552" y="6492240"/>
            <a:ext cx="3694176" cy="640080"/>
            <a:chOff x="0" y="0"/>
            <a:chExt cx="4925568" cy="85344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3886183" y="6442967"/>
            <a:ext cx="3865883" cy="738635"/>
            <a:chOff x="0" y="0"/>
            <a:chExt cx="5154511" cy="984847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14045184" y="6492240"/>
            <a:ext cx="3694176" cy="640080"/>
            <a:chOff x="0" y="0"/>
            <a:chExt cx="4925568" cy="853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499367" y="7156199"/>
            <a:ext cx="5511803" cy="738635"/>
            <a:chOff x="0" y="0"/>
            <a:chExt cx="7349071" cy="984847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16891" y="16891"/>
              <a:ext cx="7315200" cy="950976"/>
            </a:xfrm>
            <a:custGeom>
              <a:avLst/>
              <a:gdLst/>
              <a:ahLst/>
              <a:cxnLst/>
              <a:rect r="r" b="b" t="t" l="l"/>
              <a:pathLst>
                <a:path h="95097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7348982" cy="984760"/>
            </a:xfrm>
            <a:custGeom>
              <a:avLst/>
              <a:gdLst/>
              <a:ahLst/>
              <a:cxnLst/>
              <a:rect r="r" b="b" t="t" l="l"/>
              <a:pathLst>
                <a:path h="98476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67867"/>
                  </a:lnTo>
                  <a:cubicBezTo>
                    <a:pt x="7348982" y="977265"/>
                    <a:pt x="7341362" y="984758"/>
                    <a:pt x="733209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7332091" y="950976"/>
                  </a:lnTo>
                  <a:lnTo>
                    <a:pt x="7332091" y="967867"/>
                  </a:lnTo>
                  <a:lnTo>
                    <a:pt x="7315200" y="967867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658368" y="7205472"/>
            <a:ext cx="5340096" cy="640080"/>
            <a:chOff x="0" y="0"/>
            <a:chExt cx="7120128" cy="853440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7120128" cy="853440"/>
            </a:xfrm>
            <a:custGeom>
              <a:avLst/>
              <a:gdLst/>
              <a:ahLst/>
              <a:cxnLst/>
              <a:rect r="r" b="b" t="t" l="l"/>
              <a:pathLst>
                <a:path h="85344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560" r="0" b="-112560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712012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90-day claim window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6058919" y="7156199"/>
            <a:ext cx="3865883" cy="738635"/>
            <a:chOff x="0" y="0"/>
            <a:chExt cx="5154511" cy="984847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6217920" y="7205472"/>
            <a:ext cx="3694176" cy="640080"/>
            <a:chOff x="0" y="0"/>
            <a:chExt cx="4925568" cy="853440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✘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9972551" y="7156199"/>
            <a:ext cx="3865883" cy="738635"/>
            <a:chOff x="0" y="0"/>
            <a:chExt cx="5154511" cy="984847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10131552" y="7205472"/>
            <a:ext cx="3694176" cy="640080"/>
            <a:chOff x="0" y="0"/>
            <a:chExt cx="4925568" cy="853440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✘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3886183" y="7156199"/>
            <a:ext cx="3865883" cy="738635"/>
            <a:chOff x="0" y="0"/>
            <a:chExt cx="5154511" cy="984847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0" id="200"/>
          <p:cNvGrpSpPr/>
          <p:nvPr/>
        </p:nvGrpSpPr>
        <p:grpSpPr>
          <a:xfrm rot="0">
            <a:off x="14045184" y="7205472"/>
            <a:ext cx="3694176" cy="640080"/>
            <a:chOff x="0" y="0"/>
            <a:chExt cx="4925568" cy="853440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499367" y="7869431"/>
            <a:ext cx="5511803" cy="738635"/>
            <a:chOff x="0" y="0"/>
            <a:chExt cx="7349071" cy="984847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16891" y="16891"/>
              <a:ext cx="7315200" cy="950976"/>
            </a:xfrm>
            <a:custGeom>
              <a:avLst/>
              <a:gdLst/>
              <a:ahLst/>
              <a:cxnLst/>
              <a:rect r="r" b="b" t="t" l="l"/>
              <a:pathLst>
                <a:path h="95097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7348982" cy="984760"/>
            </a:xfrm>
            <a:custGeom>
              <a:avLst/>
              <a:gdLst/>
              <a:ahLst/>
              <a:cxnLst/>
              <a:rect r="r" b="b" t="t" l="l"/>
              <a:pathLst>
                <a:path h="98476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67867"/>
                  </a:lnTo>
                  <a:cubicBezTo>
                    <a:pt x="7348982" y="977265"/>
                    <a:pt x="7341362" y="984758"/>
                    <a:pt x="733209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7332091" y="950976"/>
                  </a:lnTo>
                  <a:lnTo>
                    <a:pt x="7332091" y="967867"/>
                  </a:lnTo>
                  <a:lnTo>
                    <a:pt x="7315200" y="967867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658368" y="7918704"/>
            <a:ext cx="5340096" cy="640080"/>
            <a:chOff x="0" y="0"/>
            <a:chExt cx="7120128" cy="853440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7120128" cy="853440"/>
            </a:xfrm>
            <a:custGeom>
              <a:avLst/>
              <a:gdLst/>
              <a:ahLst/>
              <a:cxnLst/>
              <a:rect r="r" b="b" t="t" l="l"/>
              <a:pathLst>
                <a:path h="85344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560" r="0" b="-112560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-38100"/>
              <a:ext cx="712012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Document upload required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6058919" y="7869431"/>
            <a:ext cx="3865883" cy="738635"/>
            <a:chOff x="0" y="0"/>
            <a:chExt cx="5154511" cy="984847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12" id="212"/>
          <p:cNvGrpSpPr/>
          <p:nvPr/>
        </p:nvGrpSpPr>
        <p:grpSpPr>
          <a:xfrm rot="0">
            <a:off x="6217920" y="7918704"/>
            <a:ext cx="3694176" cy="640080"/>
            <a:chOff x="0" y="0"/>
            <a:chExt cx="4925568" cy="853440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9972551" y="7869431"/>
            <a:ext cx="3865883" cy="738635"/>
            <a:chOff x="0" y="0"/>
            <a:chExt cx="5154511" cy="984847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10131552" y="7918704"/>
            <a:ext cx="3694176" cy="640080"/>
            <a:chOff x="0" y="0"/>
            <a:chExt cx="4925568" cy="853440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13886183" y="7869431"/>
            <a:ext cx="3865883" cy="738635"/>
            <a:chOff x="0" y="0"/>
            <a:chExt cx="5154511" cy="984847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23" id="223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4" id="224"/>
          <p:cNvGrpSpPr/>
          <p:nvPr/>
        </p:nvGrpSpPr>
        <p:grpSpPr>
          <a:xfrm rot="0">
            <a:off x="14045184" y="7918704"/>
            <a:ext cx="3694176" cy="640080"/>
            <a:chOff x="0" y="0"/>
            <a:chExt cx="4925568" cy="853440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226" id="226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✔ FIR + Hospital</a:t>
              </a:r>
            </a:p>
          </p:txBody>
        </p:sp>
      </p:grpSp>
      <p:grpSp>
        <p:nvGrpSpPr>
          <p:cNvPr name="Group 227" id="227"/>
          <p:cNvGrpSpPr/>
          <p:nvPr/>
        </p:nvGrpSpPr>
        <p:grpSpPr>
          <a:xfrm rot="0">
            <a:off x="499367" y="8582663"/>
            <a:ext cx="5511803" cy="738635"/>
            <a:chOff x="0" y="0"/>
            <a:chExt cx="7349071" cy="984847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16891" y="16891"/>
              <a:ext cx="7315200" cy="950976"/>
            </a:xfrm>
            <a:custGeom>
              <a:avLst/>
              <a:gdLst/>
              <a:ahLst/>
              <a:cxnLst/>
              <a:rect r="r" b="b" t="t" l="l"/>
              <a:pathLst>
                <a:path h="95097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9" id="229"/>
            <p:cNvSpPr/>
            <p:nvPr/>
          </p:nvSpPr>
          <p:spPr>
            <a:xfrm flipH="false" flipV="false" rot="0">
              <a:off x="0" y="0"/>
              <a:ext cx="7348982" cy="984760"/>
            </a:xfrm>
            <a:custGeom>
              <a:avLst/>
              <a:gdLst/>
              <a:ahLst/>
              <a:cxnLst/>
              <a:rect r="r" b="b" t="t" l="l"/>
              <a:pathLst>
                <a:path h="98476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67867"/>
                  </a:lnTo>
                  <a:cubicBezTo>
                    <a:pt x="7348982" y="977265"/>
                    <a:pt x="7341362" y="984758"/>
                    <a:pt x="733209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7332091" y="950976"/>
                  </a:lnTo>
                  <a:lnTo>
                    <a:pt x="7332091" y="967867"/>
                  </a:lnTo>
                  <a:lnTo>
                    <a:pt x="7315200" y="967867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30" id="230"/>
          <p:cNvGrpSpPr/>
          <p:nvPr/>
        </p:nvGrpSpPr>
        <p:grpSpPr>
          <a:xfrm rot="0">
            <a:off x="658368" y="8631936"/>
            <a:ext cx="5340096" cy="640080"/>
            <a:chOff x="0" y="0"/>
            <a:chExt cx="7120128" cy="853440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7120128" cy="853440"/>
            </a:xfrm>
            <a:custGeom>
              <a:avLst/>
              <a:gdLst/>
              <a:ahLst/>
              <a:cxnLst/>
              <a:rect r="r" b="b" t="t" l="l"/>
              <a:pathLst>
                <a:path h="85344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560" r="0" b="-112560"/>
              </a:stretch>
            </a:blipFill>
          </p:spPr>
        </p:sp>
        <p:sp>
          <p:nvSpPr>
            <p:cNvPr name="TextBox 232" id="232"/>
            <p:cNvSpPr txBox="true"/>
            <p:nvPr/>
          </p:nvSpPr>
          <p:spPr>
            <a:xfrm>
              <a:off x="0" y="-38100"/>
              <a:ext cx="712012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System auto-calculates payout</a:t>
              </a:r>
            </a:p>
          </p:txBody>
        </p:sp>
      </p:grpSp>
      <p:grpSp>
        <p:nvGrpSpPr>
          <p:cNvPr name="Group 233" id="233"/>
          <p:cNvGrpSpPr/>
          <p:nvPr/>
        </p:nvGrpSpPr>
        <p:grpSpPr>
          <a:xfrm rot="0">
            <a:off x="6058919" y="8582663"/>
            <a:ext cx="3865883" cy="738635"/>
            <a:chOff x="0" y="0"/>
            <a:chExt cx="5154511" cy="984847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5" id="235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36" id="236"/>
          <p:cNvGrpSpPr/>
          <p:nvPr/>
        </p:nvGrpSpPr>
        <p:grpSpPr>
          <a:xfrm rot="0">
            <a:off x="6217920" y="8631936"/>
            <a:ext cx="3694176" cy="640080"/>
            <a:chOff x="0" y="0"/>
            <a:chExt cx="4925568" cy="853440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972551" y="8582663"/>
            <a:ext cx="3865883" cy="738635"/>
            <a:chOff x="0" y="0"/>
            <a:chExt cx="5154511" cy="984847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1" id="241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2" id="242"/>
          <p:cNvGrpSpPr/>
          <p:nvPr/>
        </p:nvGrpSpPr>
        <p:grpSpPr>
          <a:xfrm rot="0">
            <a:off x="10131552" y="8631936"/>
            <a:ext cx="3694176" cy="640080"/>
            <a:chOff x="0" y="0"/>
            <a:chExt cx="4925568" cy="853440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13886183" y="8582663"/>
            <a:ext cx="3865883" cy="738635"/>
            <a:chOff x="0" y="0"/>
            <a:chExt cx="5154511" cy="984847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8" id="248"/>
          <p:cNvGrpSpPr/>
          <p:nvPr/>
        </p:nvGrpSpPr>
        <p:grpSpPr>
          <a:xfrm rot="0">
            <a:off x="14045184" y="8631936"/>
            <a:ext cx="3694176" cy="640080"/>
            <a:chOff x="0" y="0"/>
            <a:chExt cx="4925568" cy="853440"/>
          </a:xfrm>
        </p:grpSpPr>
        <p:sp>
          <p:nvSpPr>
            <p:cNvPr name="Freeform 249" id="249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250" id="250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</a:t>
              </a:r>
            </a:p>
          </p:txBody>
        </p:sp>
      </p:grpSp>
      <p:grpSp>
        <p:nvGrpSpPr>
          <p:cNvPr name="Group 251" id="251"/>
          <p:cNvGrpSpPr/>
          <p:nvPr/>
        </p:nvGrpSpPr>
        <p:grpSpPr>
          <a:xfrm rot="0">
            <a:off x="499367" y="9295895"/>
            <a:ext cx="5511803" cy="738635"/>
            <a:chOff x="0" y="0"/>
            <a:chExt cx="7349071" cy="984847"/>
          </a:xfrm>
        </p:grpSpPr>
        <p:sp>
          <p:nvSpPr>
            <p:cNvPr name="Freeform 252" id="252"/>
            <p:cNvSpPr/>
            <p:nvPr/>
          </p:nvSpPr>
          <p:spPr>
            <a:xfrm flipH="false" flipV="false" rot="0">
              <a:off x="16891" y="16891"/>
              <a:ext cx="7315200" cy="950976"/>
            </a:xfrm>
            <a:custGeom>
              <a:avLst/>
              <a:gdLst/>
              <a:ahLst/>
              <a:cxnLst/>
              <a:rect r="r" b="b" t="t" l="l"/>
              <a:pathLst>
                <a:path h="95097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7348982" cy="984760"/>
            </a:xfrm>
            <a:custGeom>
              <a:avLst/>
              <a:gdLst/>
              <a:ahLst/>
              <a:cxnLst/>
              <a:rect r="r" b="b" t="t" l="l"/>
              <a:pathLst>
                <a:path h="98476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67867"/>
                  </a:lnTo>
                  <a:cubicBezTo>
                    <a:pt x="7348982" y="977265"/>
                    <a:pt x="7341362" y="984758"/>
                    <a:pt x="733209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7332091" y="950976"/>
                  </a:lnTo>
                  <a:lnTo>
                    <a:pt x="7332091" y="967867"/>
                  </a:lnTo>
                  <a:lnTo>
                    <a:pt x="7315200" y="967867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54" id="254"/>
          <p:cNvGrpSpPr/>
          <p:nvPr/>
        </p:nvGrpSpPr>
        <p:grpSpPr>
          <a:xfrm rot="0">
            <a:off x="658368" y="9345168"/>
            <a:ext cx="5340096" cy="640080"/>
            <a:chOff x="0" y="0"/>
            <a:chExt cx="7120128" cy="853440"/>
          </a:xfrm>
        </p:grpSpPr>
        <p:sp>
          <p:nvSpPr>
            <p:cNvPr name="Freeform 255" id="255"/>
            <p:cNvSpPr/>
            <p:nvPr/>
          </p:nvSpPr>
          <p:spPr>
            <a:xfrm flipH="false" flipV="false" rot="0">
              <a:off x="0" y="0"/>
              <a:ext cx="7120128" cy="853440"/>
            </a:xfrm>
            <a:custGeom>
              <a:avLst/>
              <a:gdLst/>
              <a:ahLst/>
              <a:cxnLst/>
              <a:rect r="r" b="b" t="t" l="l"/>
              <a:pathLst>
                <a:path h="853440" w="7120128">
                  <a:moveTo>
                    <a:pt x="0" y="0"/>
                  </a:moveTo>
                  <a:lnTo>
                    <a:pt x="7120128" y="0"/>
                  </a:lnTo>
                  <a:lnTo>
                    <a:pt x="712012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560" r="0" b="-112560"/>
              </a:stretch>
            </a:blipFill>
          </p:spPr>
        </p:sp>
        <p:sp>
          <p:nvSpPr>
            <p:cNvPr name="TextBox 256" id="256"/>
            <p:cNvSpPr txBox="true"/>
            <p:nvPr/>
          </p:nvSpPr>
          <p:spPr>
            <a:xfrm>
              <a:off x="0" y="-38100"/>
              <a:ext cx="712012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Employee inactivated</a:t>
              </a:r>
            </a:p>
          </p:txBody>
        </p:sp>
      </p:grpSp>
      <p:grpSp>
        <p:nvGrpSpPr>
          <p:cNvPr name="Group 257" id="257"/>
          <p:cNvGrpSpPr/>
          <p:nvPr/>
        </p:nvGrpSpPr>
        <p:grpSpPr>
          <a:xfrm rot="0">
            <a:off x="6058919" y="9295895"/>
            <a:ext cx="3865883" cy="738635"/>
            <a:chOff x="0" y="0"/>
            <a:chExt cx="5154511" cy="984847"/>
          </a:xfrm>
        </p:grpSpPr>
        <p:sp>
          <p:nvSpPr>
            <p:cNvPr name="Freeform 258" id="258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60" id="260"/>
          <p:cNvGrpSpPr/>
          <p:nvPr/>
        </p:nvGrpSpPr>
        <p:grpSpPr>
          <a:xfrm rot="0">
            <a:off x="6217920" y="9345168"/>
            <a:ext cx="3694176" cy="640080"/>
            <a:chOff x="0" y="0"/>
            <a:chExt cx="4925568" cy="853440"/>
          </a:xfrm>
        </p:grpSpPr>
        <p:sp>
          <p:nvSpPr>
            <p:cNvPr name="Freeform 261" id="261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262" id="262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✘</a:t>
              </a:r>
            </a:p>
          </p:txBody>
        </p:sp>
      </p:grpSp>
      <p:grpSp>
        <p:nvGrpSpPr>
          <p:cNvPr name="Group 263" id="263"/>
          <p:cNvGrpSpPr/>
          <p:nvPr/>
        </p:nvGrpSpPr>
        <p:grpSpPr>
          <a:xfrm rot="0">
            <a:off x="9972551" y="9295895"/>
            <a:ext cx="3865883" cy="738635"/>
            <a:chOff x="0" y="0"/>
            <a:chExt cx="5154511" cy="984847"/>
          </a:xfrm>
        </p:grpSpPr>
        <p:sp>
          <p:nvSpPr>
            <p:cNvPr name="Freeform 264" id="264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65" id="265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66" id="266"/>
          <p:cNvGrpSpPr/>
          <p:nvPr/>
        </p:nvGrpSpPr>
        <p:grpSpPr>
          <a:xfrm rot="0">
            <a:off x="10131552" y="9345168"/>
            <a:ext cx="3694176" cy="640080"/>
            <a:chOff x="0" y="0"/>
            <a:chExt cx="4925568" cy="853440"/>
          </a:xfrm>
        </p:grpSpPr>
        <p:sp>
          <p:nvSpPr>
            <p:cNvPr name="Freeform 267" id="267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268" id="268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34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✔ At submission</a:t>
              </a:r>
            </a:p>
          </p:txBody>
        </p:sp>
      </p:grpSp>
      <p:grpSp>
        <p:nvGrpSpPr>
          <p:cNvPr name="Group 269" id="269"/>
          <p:cNvGrpSpPr/>
          <p:nvPr/>
        </p:nvGrpSpPr>
        <p:grpSpPr>
          <a:xfrm rot="0">
            <a:off x="13886183" y="9295895"/>
            <a:ext cx="3865883" cy="738635"/>
            <a:chOff x="0" y="0"/>
            <a:chExt cx="5154511" cy="984847"/>
          </a:xfrm>
        </p:grpSpPr>
        <p:sp>
          <p:nvSpPr>
            <p:cNvPr name="Freeform 270" id="270"/>
            <p:cNvSpPr/>
            <p:nvPr/>
          </p:nvSpPr>
          <p:spPr>
            <a:xfrm flipH="false" flipV="false" rot="0">
              <a:off x="16891" y="16891"/>
              <a:ext cx="5120640" cy="950976"/>
            </a:xfrm>
            <a:custGeom>
              <a:avLst/>
              <a:gdLst/>
              <a:ahLst/>
              <a:cxnLst/>
              <a:rect r="r" b="b" t="t" l="l"/>
              <a:pathLst>
                <a:path h="95097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71" id="271"/>
            <p:cNvSpPr/>
            <p:nvPr/>
          </p:nvSpPr>
          <p:spPr>
            <a:xfrm flipH="false" flipV="false" rot="0">
              <a:off x="0" y="0"/>
              <a:ext cx="5154422" cy="984760"/>
            </a:xfrm>
            <a:custGeom>
              <a:avLst/>
              <a:gdLst/>
              <a:ahLst/>
              <a:cxnLst/>
              <a:rect r="r" b="b" t="t" l="l"/>
              <a:pathLst>
                <a:path h="98476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967867"/>
                  </a:lnTo>
                  <a:cubicBezTo>
                    <a:pt x="5154422" y="977265"/>
                    <a:pt x="5146802" y="984758"/>
                    <a:pt x="5137531" y="984758"/>
                  </a:cubicBezTo>
                  <a:lnTo>
                    <a:pt x="16891" y="984758"/>
                  </a:lnTo>
                  <a:cubicBezTo>
                    <a:pt x="7620" y="984885"/>
                    <a:pt x="0" y="977265"/>
                    <a:pt x="0" y="9678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67867"/>
                  </a:lnTo>
                  <a:lnTo>
                    <a:pt x="16891" y="967867"/>
                  </a:lnTo>
                  <a:lnTo>
                    <a:pt x="16891" y="950976"/>
                  </a:lnTo>
                  <a:lnTo>
                    <a:pt x="5137531" y="950976"/>
                  </a:lnTo>
                  <a:lnTo>
                    <a:pt x="5137531" y="967867"/>
                  </a:lnTo>
                  <a:lnTo>
                    <a:pt x="5120640" y="967867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045184" y="9345168"/>
            <a:ext cx="3694176" cy="640080"/>
            <a:chOff x="0" y="0"/>
            <a:chExt cx="4925568" cy="853440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4925568" cy="853440"/>
            </a:xfrm>
            <a:custGeom>
              <a:avLst/>
              <a:gdLst/>
              <a:ahLst/>
              <a:cxnLst/>
              <a:rect r="r" b="b" t="t" l="l"/>
              <a:pathLst>
                <a:path h="85344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456" r="0" b="-62456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-47625"/>
              <a:ext cx="4925568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✘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329184"/>
            <a:ext cx="16459200" cy="950976"/>
            <a:chOff x="0" y="0"/>
            <a:chExt cx="21945600" cy="12679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94560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A2B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 Stack &amp; Architecture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316736"/>
            <a:ext cx="16459200" cy="512064"/>
            <a:chOff x="0" y="0"/>
            <a:chExt cx="2194560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19456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Clean Architecture — strict layered separation with zero cross-layer dependencies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1998983"/>
            <a:ext cx="17216123" cy="1579883"/>
            <a:chOff x="0" y="0"/>
            <a:chExt cx="22954831" cy="21065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29209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54743" cy="2106422"/>
            </a:xfrm>
            <a:custGeom>
              <a:avLst/>
              <a:gdLst/>
              <a:ahLst/>
              <a:cxnLst/>
              <a:rect r="r" b="b" t="t" l="l"/>
              <a:pathLst>
                <a:path h="2106422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2089531"/>
                  </a:lnTo>
                  <a:cubicBezTo>
                    <a:pt x="22954743" y="2098929"/>
                    <a:pt x="22947123" y="2106422"/>
                    <a:pt x="2293785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2937851" y="2072640"/>
                  </a:lnTo>
                  <a:lnTo>
                    <a:pt x="22937851" y="2089531"/>
                  </a:lnTo>
                  <a:lnTo>
                    <a:pt x="22920961" y="208953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2084832"/>
            <a:ext cx="4572000" cy="658368"/>
            <a:chOff x="0" y="0"/>
            <a:chExt cx="6096000" cy="8778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96000" cy="877824"/>
            </a:xfrm>
            <a:custGeom>
              <a:avLst/>
              <a:gdLst/>
              <a:ahLst/>
              <a:cxnLst/>
              <a:rect r="r" b="b" t="t" l="l"/>
              <a:pathLst>
                <a:path h="87782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09600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Layer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6400" y="2084832"/>
            <a:ext cx="11887200" cy="1280160"/>
            <a:chOff x="0" y="0"/>
            <a:chExt cx="15849600" cy="1706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849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584960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ASP.NET Core Controllers  •  JWT Middleware  •  Swagger  •  DTOs  •  Rate Limiting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595360" y="3529584"/>
            <a:ext cx="1097280" cy="182880"/>
            <a:chOff x="0" y="0"/>
            <a:chExt cx="1463040" cy="243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0" cy="243840"/>
            </a:xfrm>
            <a:custGeom>
              <a:avLst/>
              <a:gdLst/>
              <a:ahLst/>
              <a:cxnLst/>
              <a:rect r="r" b="b" t="t" l="l"/>
              <a:pathLst>
                <a:path h="2438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243840"/>
                  </a:lnTo>
                  <a:lnTo>
                    <a:pt x="0" y="243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463040" cy="291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47B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65127" y="3791207"/>
            <a:ext cx="16576043" cy="1579883"/>
            <a:chOff x="0" y="0"/>
            <a:chExt cx="22101391" cy="21065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2206751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067519">
                  <a:moveTo>
                    <a:pt x="0" y="0"/>
                  </a:moveTo>
                  <a:lnTo>
                    <a:pt x="22067519" y="0"/>
                  </a:lnTo>
                  <a:lnTo>
                    <a:pt x="2206751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2E417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10130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2101302">
                  <a:moveTo>
                    <a:pt x="16891" y="0"/>
                  </a:moveTo>
                  <a:lnTo>
                    <a:pt x="22084410" y="0"/>
                  </a:lnTo>
                  <a:cubicBezTo>
                    <a:pt x="22093808" y="0"/>
                    <a:pt x="22101302" y="7620"/>
                    <a:pt x="22101302" y="16891"/>
                  </a:cubicBezTo>
                  <a:lnTo>
                    <a:pt x="22101302" y="2089531"/>
                  </a:lnTo>
                  <a:cubicBezTo>
                    <a:pt x="22101302" y="2098929"/>
                    <a:pt x="22093682" y="2106422"/>
                    <a:pt x="2208441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2084410" y="2072640"/>
                  </a:lnTo>
                  <a:lnTo>
                    <a:pt x="22084410" y="2089531"/>
                  </a:lnTo>
                  <a:lnTo>
                    <a:pt x="22067520" y="2089531"/>
                  </a:lnTo>
                  <a:lnTo>
                    <a:pt x="22067520" y="16891"/>
                  </a:lnTo>
                  <a:lnTo>
                    <a:pt x="22084410" y="16891"/>
                  </a:lnTo>
                  <a:lnTo>
                    <a:pt x="220844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417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144" y="3877056"/>
            <a:ext cx="4572000" cy="658368"/>
            <a:chOff x="0" y="0"/>
            <a:chExt cx="6096000" cy="8778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96000" cy="877824"/>
            </a:xfrm>
            <a:custGeom>
              <a:avLst/>
              <a:gdLst/>
              <a:ahLst/>
              <a:cxnLst/>
              <a:rect r="r" b="b" t="t" l="l"/>
              <a:pathLst>
                <a:path h="87782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609600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Application Layer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815584" y="3877056"/>
            <a:ext cx="11247120" cy="1280160"/>
            <a:chOff x="0" y="0"/>
            <a:chExt cx="14996160" cy="17068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996161" cy="1706880"/>
            </a:xfrm>
            <a:custGeom>
              <a:avLst/>
              <a:gdLst/>
              <a:ahLst/>
              <a:cxnLst/>
              <a:rect r="r" b="b" t="t" l="l"/>
              <a:pathLst>
                <a:path h="170688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189" r="0" b="-12118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499616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Business Logic  •  Premium Calc Engine  •  Claim Settlement  •  Commission Engine  •  Filter Builders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595360" y="5321808"/>
            <a:ext cx="1097280" cy="182880"/>
            <a:chOff x="0" y="0"/>
            <a:chExt cx="1463040" cy="243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3040" cy="243840"/>
            </a:xfrm>
            <a:custGeom>
              <a:avLst/>
              <a:gdLst/>
              <a:ahLst/>
              <a:cxnLst/>
              <a:rect r="r" b="b" t="t" l="l"/>
              <a:pathLst>
                <a:path h="2438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243840"/>
                  </a:lnTo>
                  <a:lnTo>
                    <a:pt x="0" y="243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463040" cy="291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47B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94311" y="5583431"/>
            <a:ext cx="15935963" cy="1579883"/>
            <a:chOff x="0" y="0"/>
            <a:chExt cx="21247951" cy="21065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212140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247863" cy="2106422"/>
            </a:xfrm>
            <a:custGeom>
              <a:avLst/>
              <a:gdLst/>
              <a:ahLst/>
              <a:cxnLst/>
              <a:rect r="r" b="b" t="t" l="l"/>
              <a:pathLst>
                <a:path h="2106422" w="21247863">
                  <a:moveTo>
                    <a:pt x="16891" y="0"/>
                  </a:moveTo>
                  <a:lnTo>
                    <a:pt x="21230971" y="0"/>
                  </a:lnTo>
                  <a:cubicBezTo>
                    <a:pt x="21240369" y="0"/>
                    <a:pt x="21247863" y="7620"/>
                    <a:pt x="21247863" y="16891"/>
                  </a:cubicBezTo>
                  <a:lnTo>
                    <a:pt x="21247863" y="2089531"/>
                  </a:lnTo>
                  <a:cubicBezTo>
                    <a:pt x="21247863" y="2098929"/>
                    <a:pt x="21240243" y="2106422"/>
                    <a:pt x="2123097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1230971" y="2072640"/>
                  </a:lnTo>
                  <a:lnTo>
                    <a:pt x="21230971" y="2089531"/>
                  </a:lnTo>
                  <a:lnTo>
                    <a:pt x="21214080" y="2089531"/>
                  </a:lnTo>
                  <a:lnTo>
                    <a:pt x="21214080" y="16891"/>
                  </a:lnTo>
                  <a:lnTo>
                    <a:pt x="21230971" y="16891"/>
                  </a:lnTo>
                  <a:lnTo>
                    <a:pt x="21230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481328" y="5669280"/>
            <a:ext cx="4572000" cy="658368"/>
            <a:chOff x="0" y="0"/>
            <a:chExt cx="6096000" cy="87782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096000" cy="877824"/>
            </a:xfrm>
            <a:custGeom>
              <a:avLst/>
              <a:gdLst/>
              <a:ahLst/>
              <a:cxnLst/>
              <a:rect r="r" b="b" t="t" l="l"/>
              <a:pathLst>
                <a:path h="87782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609600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Domain Layer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144768" y="5669280"/>
            <a:ext cx="10607040" cy="1280160"/>
            <a:chOff x="0" y="0"/>
            <a:chExt cx="14142720" cy="17068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1427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414272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Core Entities (Policy, Claim, Employee, User, Payment)  •  Interfaces  •  Business Rules  •  Domain Events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595360" y="7114032"/>
            <a:ext cx="1097280" cy="182880"/>
            <a:chOff x="0" y="0"/>
            <a:chExt cx="1463040" cy="2438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3040" cy="243840"/>
            </a:xfrm>
            <a:custGeom>
              <a:avLst/>
              <a:gdLst/>
              <a:ahLst/>
              <a:cxnLst/>
              <a:rect r="r" b="b" t="t" l="l"/>
              <a:pathLst>
                <a:path h="2438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243840"/>
                  </a:lnTo>
                  <a:lnTo>
                    <a:pt x="0" y="243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463040" cy="291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47B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523495" y="7375655"/>
            <a:ext cx="15295883" cy="1579883"/>
            <a:chOff x="0" y="0"/>
            <a:chExt cx="20394511" cy="210651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20360639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360639">
                  <a:moveTo>
                    <a:pt x="0" y="0"/>
                  </a:moveTo>
                  <a:lnTo>
                    <a:pt x="20360639" y="0"/>
                  </a:lnTo>
                  <a:lnTo>
                    <a:pt x="20360639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C45A0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3944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0394422">
                  <a:moveTo>
                    <a:pt x="16891" y="0"/>
                  </a:moveTo>
                  <a:lnTo>
                    <a:pt x="20377530" y="0"/>
                  </a:lnTo>
                  <a:cubicBezTo>
                    <a:pt x="20386929" y="0"/>
                    <a:pt x="20394422" y="7620"/>
                    <a:pt x="20394422" y="16891"/>
                  </a:cubicBezTo>
                  <a:lnTo>
                    <a:pt x="20394422" y="2089531"/>
                  </a:lnTo>
                  <a:cubicBezTo>
                    <a:pt x="20394422" y="2098929"/>
                    <a:pt x="20386802" y="2106422"/>
                    <a:pt x="20377530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0377530" y="2072640"/>
                  </a:lnTo>
                  <a:lnTo>
                    <a:pt x="20377530" y="2089531"/>
                  </a:lnTo>
                  <a:lnTo>
                    <a:pt x="20360639" y="2089531"/>
                  </a:lnTo>
                  <a:lnTo>
                    <a:pt x="20360639" y="16891"/>
                  </a:lnTo>
                  <a:lnTo>
                    <a:pt x="20377530" y="16891"/>
                  </a:lnTo>
                  <a:lnTo>
                    <a:pt x="203775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45A0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810512" y="7461504"/>
            <a:ext cx="4572000" cy="658368"/>
            <a:chOff x="0" y="0"/>
            <a:chExt cx="6096000" cy="87782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096000" cy="877824"/>
            </a:xfrm>
            <a:custGeom>
              <a:avLst/>
              <a:gdLst/>
              <a:ahLst/>
              <a:cxnLst/>
              <a:rect r="r" b="b" t="t" l="l"/>
              <a:pathLst>
                <a:path h="87782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609600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Infrastructure Layer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473952" y="7461504"/>
            <a:ext cx="9966960" cy="1280160"/>
            <a:chOff x="0" y="0"/>
            <a:chExt cx="13289280" cy="17068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3289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3289280">
                  <a:moveTo>
                    <a:pt x="0" y="0"/>
                  </a:moveTo>
                  <a:lnTo>
                    <a:pt x="13289280" y="0"/>
                  </a:lnTo>
                  <a:lnTo>
                    <a:pt x="13289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04" r="0" b="-10170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328928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EF Core  •  SQL Server  •  Payment Adapter  •  Notifications  •  Document Storage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48640" y="9326880"/>
            <a:ext cx="3657600" cy="548640"/>
            <a:chOff x="0" y="0"/>
            <a:chExt cx="487680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876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Technology Stack: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376423" y="9314183"/>
            <a:ext cx="2219963" cy="610619"/>
            <a:chOff x="0" y="0"/>
            <a:chExt cx="2959951" cy="81415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959862" cy="814072"/>
            </a:xfrm>
            <a:custGeom>
              <a:avLst/>
              <a:gdLst/>
              <a:ahLst/>
              <a:cxnLst/>
              <a:rect r="r" b="b" t="t" l="l"/>
              <a:pathLst>
                <a:path h="814072" w="2959862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797179"/>
                  </a:lnTo>
                  <a:cubicBezTo>
                    <a:pt x="2959862" y="806577"/>
                    <a:pt x="2952242" y="814070"/>
                    <a:pt x="294297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2942971" y="780288"/>
                  </a:lnTo>
                  <a:lnTo>
                    <a:pt x="2942971" y="797179"/>
                  </a:lnTo>
                  <a:lnTo>
                    <a:pt x="2926080" y="797179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4389120" y="9326880"/>
            <a:ext cx="2194560" cy="585216"/>
            <a:chOff x="0" y="0"/>
            <a:chExt cx="2926080" cy="78028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9260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ASP.NET Core (.NET 8)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698999" y="9314183"/>
            <a:ext cx="2219963" cy="610619"/>
            <a:chOff x="0" y="0"/>
            <a:chExt cx="2959951" cy="81415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959862" cy="814072"/>
            </a:xfrm>
            <a:custGeom>
              <a:avLst/>
              <a:gdLst/>
              <a:ahLst/>
              <a:cxnLst/>
              <a:rect r="r" b="b" t="t" l="l"/>
              <a:pathLst>
                <a:path h="814072" w="2959862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797179"/>
                  </a:lnTo>
                  <a:cubicBezTo>
                    <a:pt x="2959862" y="806577"/>
                    <a:pt x="2952242" y="814070"/>
                    <a:pt x="294297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2942971" y="780288"/>
                  </a:lnTo>
                  <a:lnTo>
                    <a:pt x="2942971" y="797179"/>
                  </a:lnTo>
                  <a:lnTo>
                    <a:pt x="2926080" y="797179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6711696" y="9326880"/>
            <a:ext cx="2194560" cy="585216"/>
            <a:chOff x="0" y="0"/>
            <a:chExt cx="2926080" cy="7802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9260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Angular (Latest)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021575" y="9314183"/>
            <a:ext cx="2219963" cy="610619"/>
            <a:chOff x="0" y="0"/>
            <a:chExt cx="2959951" cy="81415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959862" cy="814072"/>
            </a:xfrm>
            <a:custGeom>
              <a:avLst/>
              <a:gdLst/>
              <a:ahLst/>
              <a:cxnLst/>
              <a:rect r="r" b="b" t="t" l="l"/>
              <a:pathLst>
                <a:path h="814072" w="2959862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797179"/>
                  </a:lnTo>
                  <a:cubicBezTo>
                    <a:pt x="2959862" y="806577"/>
                    <a:pt x="2952242" y="814070"/>
                    <a:pt x="294297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2942971" y="780288"/>
                  </a:lnTo>
                  <a:lnTo>
                    <a:pt x="2942971" y="797179"/>
                  </a:lnTo>
                  <a:lnTo>
                    <a:pt x="2926080" y="797179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034272" y="9326880"/>
            <a:ext cx="2194560" cy="585216"/>
            <a:chOff x="0" y="0"/>
            <a:chExt cx="2926080" cy="78028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29260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 Server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344151" y="9314183"/>
            <a:ext cx="2219963" cy="610619"/>
            <a:chOff x="0" y="0"/>
            <a:chExt cx="2959951" cy="81415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2E4170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959862" cy="814072"/>
            </a:xfrm>
            <a:custGeom>
              <a:avLst/>
              <a:gdLst/>
              <a:ahLst/>
              <a:cxnLst/>
              <a:rect r="r" b="b" t="t" l="l"/>
              <a:pathLst>
                <a:path h="814072" w="2959862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797179"/>
                  </a:lnTo>
                  <a:cubicBezTo>
                    <a:pt x="2959862" y="806577"/>
                    <a:pt x="2952242" y="814070"/>
                    <a:pt x="294297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2942971" y="780288"/>
                  </a:lnTo>
                  <a:lnTo>
                    <a:pt x="2942971" y="797179"/>
                  </a:lnTo>
                  <a:lnTo>
                    <a:pt x="2926080" y="797179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417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1356848" y="9326880"/>
            <a:ext cx="2194560" cy="585216"/>
            <a:chOff x="0" y="0"/>
            <a:chExt cx="2926080" cy="78028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29260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EF Core ORM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666727" y="9314183"/>
            <a:ext cx="2219963" cy="610619"/>
            <a:chOff x="0" y="0"/>
            <a:chExt cx="2959951" cy="81415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959862" cy="814072"/>
            </a:xfrm>
            <a:custGeom>
              <a:avLst/>
              <a:gdLst/>
              <a:ahLst/>
              <a:cxnLst/>
              <a:rect r="r" b="b" t="t" l="l"/>
              <a:pathLst>
                <a:path h="814072" w="2959862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797179"/>
                  </a:lnTo>
                  <a:cubicBezTo>
                    <a:pt x="2959862" y="806577"/>
                    <a:pt x="2952242" y="814070"/>
                    <a:pt x="294297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2942971" y="780288"/>
                  </a:lnTo>
                  <a:lnTo>
                    <a:pt x="2942971" y="797179"/>
                  </a:lnTo>
                  <a:lnTo>
                    <a:pt x="2926080" y="797179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679424" y="9326880"/>
            <a:ext cx="2194560" cy="585216"/>
            <a:chOff x="0" y="0"/>
            <a:chExt cx="2926080" cy="78028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29260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JWT Auth + RBAC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5989303" y="9314183"/>
            <a:ext cx="2219963" cy="610619"/>
            <a:chOff x="0" y="0"/>
            <a:chExt cx="2959951" cy="81415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C45A00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959862" cy="814072"/>
            </a:xfrm>
            <a:custGeom>
              <a:avLst/>
              <a:gdLst/>
              <a:ahLst/>
              <a:cxnLst/>
              <a:rect r="r" b="b" t="t" l="l"/>
              <a:pathLst>
                <a:path h="814072" w="2959862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797179"/>
                  </a:lnTo>
                  <a:cubicBezTo>
                    <a:pt x="2959862" y="806577"/>
                    <a:pt x="2952242" y="814070"/>
                    <a:pt x="294297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2942971" y="780288"/>
                  </a:lnTo>
                  <a:lnTo>
                    <a:pt x="2942971" y="797179"/>
                  </a:lnTo>
                  <a:lnTo>
                    <a:pt x="2926080" y="797179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45A00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6002000" y="9326880"/>
            <a:ext cx="2194560" cy="585216"/>
            <a:chOff x="0" y="0"/>
            <a:chExt cx="2926080" cy="78028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9260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Clean Architecture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329184"/>
            <a:ext cx="16459200" cy="950976"/>
            <a:chOff x="0" y="0"/>
            <a:chExt cx="21945600" cy="12679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94560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A2B4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Highlights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1316736"/>
            <a:ext cx="16459200" cy="512064"/>
            <a:chOff x="0" y="0"/>
            <a:chExt cx="2194560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19456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makes WorkSure stand out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9367" y="1998983"/>
            <a:ext cx="5511803" cy="3646427"/>
            <a:chOff x="0" y="0"/>
            <a:chExt cx="7349071" cy="48619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315200" cy="4828032"/>
            </a:xfrm>
            <a:custGeom>
              <a:avLst/>
              <a:gdLst/>
              <a:ahLst/>
              <a:cxnLst/>
              <a:rect r="r" b="b" t="t" l="l"/>
              <a:pathLst>
                <a:path h="482803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28032"/>
                  </a:lnTo>
                  <a:lnTo>
                    <a:pt x="0" y="48280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8982" cy="4861814"/>
            </a:xfrm>
            <a:custGeom>
              <a:avLst/>
              <a:gdLst/>
              <a:ahLst/>
              <a:cxnLst/>
              <a:rect r="r" b="b" t="t" l="l"/>
              <a:pathLst>
                <a:path h="4861814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844923"/>
                  </a:lnTo>
                  <a:cubicBezTo>
                    <a:pt x="7348982" y="4854321"/>
                    <a:pt x="7341362" y="4861814"/>
                    <a:pt x="7332091" y="4861814"/>
                  </a:cubicBezTo>
                  <a:lnTo>
                    <a:pt x="16891" y="4861814"/>
                  </a:lnTo>
                  <a:cubicBezTo>
                    <a:pt x="7493" y="4861814"/>
                    <a:pt x="0" y="4854194"/>
                    <a:pt x="0" y="48449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44923"/>
                  </a:lnTo>
                  <a:lnTo>
                    <a:pt x="16891" y="4844923"/>
                  </a:lnTo>
                  <a:lnTo>
                    <a:pt x="16891" y="4828032"/>
                  </a:lnTo>
                  <a:lnTo>
                    <a:pt x="7332091" y="4828032"/>
                  </a:lnTo>
                  <a:lnTo>
                    <a:pt x="7332091" y="4844923"/>
                  </a:lnTo>
                  <a:lnTo>
                    <a:pt x="7315200" y="484492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99367" y="1998983"/>
            <a:ext cx="5511803" cy="153419"/>
            <a:chOff x="0" y="0"/>
            <a:chExt cx="7349071" cy="2045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315200" cy="170688"/>
            </a:xfrm>
            <a:custGeom>
              <a:avLst/>
              <a:gdLst/>
              <a:ahLst/>
              <a:cxnLst/>
              <a:rect r="r" b="b" t="t" l="l"/>
              <a:pathLst>
                <a:path h="17068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48982" cy="204472"/>
            </a:xfrm>
            <a:custGeom>
              <a:avLst/>
              <a:gdLst/>
              <a:ahLst/>
              <a:cxnLst/>
              <a:rect r="r" b="b" t="t" l="l"/>
              <a:pathLst>
                <a:path h="20447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12064" y="2194560"/>
            <a:ext cx="5486400" cy="914400"/>
            <a:chOff x="0" y="0"/>
            <a:chExt cx="731520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04775"/>
              <a:ext cx="731520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🏗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86384" y="3200400"/>
            <a:ext cx="4937760" cy="640080"/>
            <a:chOff x="0" y="0"/>
            <a:chExt cx="658368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83680" cy="853440"/>
            </a:xfrm>
            <a:custGeom>
              <a:avLst/>
              <a:gdLst/>
              <a:ahLst/>
              <a:cxnLst/>
              <a:rect r="r" b="b" t="t" l="l"/>
              <a:pathLst>
                <a:path h="8534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65836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Clean Architecture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86384" y="3877056"/>
            <a:ext cx="4937760" cy="1609344"/>
            <a:chOff x="0" y="0"/>
            <a:chExt cx="6583680" cy="21457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83680" cy="2145792"/>
            </a:xfrm>
            <a:custGeom>
              <a:avLst/>
              <a:gdLst/>
              <a:ahLst/>
              <a:cxnLst/>
              <a:rect r="r" b="b" t="t" l="l"/>
              <a:pathLst>
                <a:path h="21457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83" r="0" b="-978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583680" cy="2183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Strict 4-layer separation. API → Application → Domain → Infrastructure. Zero cross-layer dependencies.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424679" y="1998983"/>
            <a:ext cx="5511803" cy="3646427"/>
            <a:chOff x="0" y="0"/>
            <a:chExt cx="7349071" cy="48619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7315200" cy="4828032"/>
            </a:xfrm>
            <a:custGeom>
              <a:avLst/>
              <a:gdLst/>
              <a:ahLst/>
              <a:cxnLst/>
              <a:rect r="r" b="b" t="t" l="l"/>
              <a:pathLst>
                <a:path h="482803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28032"/>
                  </a:lnTo>
                  <a:lnTo>
                    <a:pt x="0" y="48280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48982" cy="4861814"/>
            </a:xfrm>
            <a:custGeom>
              <a:avLst/>
              <a:gdLst/>
              <a:ahLst/>
              <a:cxnLst/>
              <a:rect r="r" b="b" t="t" l="l"/>
              <a:pathLst>
                <a:path h="4861814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844923"/>
                  </a:lnTo>
                  <a:cubicBezTo>
                    <a:pt x="7348982" y="4854321"/>
                    <a:pt x="7341362" y="4861814"/>
                    <a:pt x="7332091" y="4861814"/>
                  </a:cubicBezTo>
                  <a:lnTo>
                    <a:pt x="16891" y="4861814"/>
                  </a:lnTo>
                  <a:cubicBezTo>
                    <a:pt x="7493" y="4861814"/>
                    <a:pt x="0" y="4854194"/>
                    <a:pt x="0" y="48449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44923"/>
                  </a:lnTo>
                  <a:lnTo>
                    <a:pt x="16891" y="4844923"/>
                  </a:lnTo>
                  <a:lnTo>
                    <a:pt x="16891" y="4828032"/>
                  </a:lnTo>
                  <a:lnTo>
                    <a:pt x="7332091" y="4828032"/>
                  </a:lnTo>
                  <a:lnTo>
                    <a:pt x="7332091" y="4844923"/>
                  </a:lnTo>
                  <a:lnTo>
                    <a:pt x="7315200" y="484492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424679" y="1998983"/>
            <a:ext cx="5511803" cy="153419"/>
            <a:chOff x="0" y="0"/>
            <a:chExt cx="7349071" cy="2045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7315200" cy="170688"/>
            </a:xfrm>
            <a:custGeom>
              <a:avLst/>
              <a:gdLst/>
              <a:ahLst/>
              <a:cxnLst/>
              <a:rect r="r" b="b" t="t" l="l"/>
              <a:pathLst>
                <a:path h="17068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48982" cy="204472"/>
            </a:xfrm>
            <a:custGeom>
              <a:avLst/>
              <a:gdLst/>
              <a:ahLst/>
              <a:cxnLst/>
              <a:rect r="r" b="b" t="t" l="l"/>
              <a:pathLst>
                <a:path h="20447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437376" y="2194560"/>
            <a:ext cx="5486400" cy="914400"/>
            <a:chOff x="0" y="0"/>
            <a:chExt cx="731520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04775"/>
              <a:ext cx="731520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🔐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711696" y="3200400"/>
            <a:ext cx="4937760" cy="640080"/>
            <a:chOff x="0" y="0"/>
            <a:chExt cx="658368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83680" cy="853440"/>
            </a:xfrm>
            <a:custGeom>
              <a:avLst/>
              <a:gdLst/>
              <a:ahLst/>
              <a:cxnLst/>
              <a:rect r="r" b="b" t="t" l="l"/>
              <a:pathLst>
                <a:path h="8534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65836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JWT + RBAC Security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711696" y="3877056"/>
            <a:ext cx="4937760" cy="1609344"/>
            <a:chOff x="0" y="0"/>
            <a:chExt cx="6583680" cy="21457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83680" cy="2145792"/>
            </a:xfrm>
            <a:custGeom>
              <a:avLst/>
              <a:gdLst/>
              <a:ahLst/>
              <a:cxnLst/>
              <a:rect r="r" b="b" t="t" l="l"/>
              <a:pathLst>
                <a:path h="21457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83" r="0" b="-978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583680" cy="2183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Role-based access for Admin, Agent, Claims Manager, Customer. Passwords bcrypt-hashed.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349991" y="1998983"/>
            <a:ext cx="5511803" cy="3646427"/>
            <a:chOff x="0" y="0"/>
            <a:chExt cx="7349071" cy="486190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7315200" cy="4828032"/>
            </a:xfrm>
            <a:custGeom>
              <a:avLst/>
              <a:gdLst/>
              <a:ahLst/>
              <a:cxnLst/>
              <a:rect r="r" b="b" t="t" l="l"/>
              <a:pathLst>
                <a:path h="482803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28032"/>
                  </a:lnTo>
                  <a:lnTo>
                    <a:pt x="0" y="48280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48982" cy="4861814"/>
            </a:xfrm>
            <a:custGeom>
              <a:avLst/>
              <a:gdLst/>
              <a:ahLst/>
              <a:cxnLst/>
              <a:rect r="r" b="b" t="t" l="l"/>
              <a:pathLst>
                <a:path h="4861814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844923"/>
                  </a:lnTo>
                  <a:cubicBezTo>
                    <a:pt x="7348982" y="4854321"/>
                    <a:pt x="7341362" y="4861814"/>
                    <a:pt x="7332091" y="4861814"/>
                  </a:cubicBezTo>
                  <a:lnTo>
                    <a:pt x="16891" y="4861814"/>
                  </a:lnTo>
                  <a:cubicBezTo>
                    <a:pt x="7493" y="4861814"/>
                    <a:pt x="0" y="4854194"/>
                    <a:pt x="0" y="48449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44923"/>
                  </a:lnTo>
                  <a:lnTo>
                    <a:pt x="16891" y="4844923"/>
                  </a:lnTo>
                  <a:lnTo>
                    <a:pt x="16891" y="4828032"/>
                  </a:lnTo>
                  <a:lnTo>
                    <a:pt x="7332091" y="4828032"/>
                  </a:lnTo>
                  <a:lnTo>
                    <a:pt x="7332091" y="4844923"/>
                  </a:lnTo>
                  <a:lnTo>
                    <a:pt x="7315200" y="484492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349991" y="1998983"/>
            <a:ext cx="5511803" cy="153419"/>
            <a:chOff x="0" y="0"/>
            <a:chExt cx="7349071" cy="20455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7315200" cy="170688"/>
            </a:xfrm>
            <a:custGeom>
              <a:avLst/>
              <a:gdLst/>
              <a:ahLst/>
              <a:cxnLst/>
              <a:rect r="r" b="b" t="t" l="l"/>
              <a:pathLst>
                <a:path h="17068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48982" cy="204472"/>
            </a:xfrm>
            <a:custGeom>
              <a:avLst/>
              <a:gdLst/>
              <a:ahLst/>
              <a:cxnLst/>
              <a:rect r="r" b="b" t="t" l="l"/>
              <a:pathLst>
                <a:path h="20447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362688" y="2194560"/>
            <a:ext cx="5486400" cy="914400"/>
            <a:chOff x="0" y="0"/>
            <a:chExt cx="7315200" cy="1219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15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04775"/>
              <a:ext cx="731520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637008" y="3200400"/>
            <a:ext cx="4937760" cy="640080"/>
            <a:chOff x="0" y="0"/>
            <a:chExt cx="658368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83680" cy="853440"/>
            </a:xfrm>
            <a:custGeom>
              <a:avLst/>
              <a:gdLst/>
              <a:ahLst/>
              <a:cxnLst/>
              <a:rect r="r" b="b" t="t" l="l"/>
              <a:pathLst>
                <a:path h="8534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65836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5-Factor Underwriting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637008" y="3877056"/>
            <a:ext cx="4937760" cy="1609344"/>
            <a:chOff x="0" y="0"/>
            <a:chExt cx="6583680" cy="21457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583680" cy="2145792"/>
            </a:xfrm>
            <a:custGeom>
              <a:avLst/>
              <a:gdLst/>
              <a:ahLst/>
              <a:cxnLst/>
              <a:rect r="r" b="b" t="t" l="l"/>
              <a:pathLst>
                <a:path h="21457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83" r="0" b="-978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6583680" cy="2183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Real-world premium calculation using base rate, employee count, industry, geography &amp; plan factors.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99367" y="5985767"/>
            <a:ext cx="5511803" cy="3646427"/>
            <a:chOff x="0" y="0"/>
            <a:chExt cx="7349071" cy="486190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7315200" cy="4828032"/>
            </a:xfrm>
            <a:custGeom>
              <a:avLst/>
              <a:gdLst/>
              <a:ahLst/>
              <a:cxnLst/>
              <a:rect r="r" b="b" t="t" l="l"/>
              <a:pathLst>
                <a:path h="482803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28032"/>
                  </a:lnTo>
                  <a:lnTo>
                    <a:pt x="0" y="48280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348982" cy="4861814"/>
            </a:xfrm>
            <a:custGeom>
              <a:avLst/>
              <a:gdLst/>
              <a:ahLst/>
              <a:cxnLst/>
              <a:rect r="r" b="b" t="t" l="l"/>
              <a:pathLst>
                <a:path h="4861814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844923"/>
                  </a:lnTo>
                  <a:cubicBezTo>
                    <a:pt x="7348982" y="4854321"/>
                    <a:pt x="7341362" y="4861814"/>
                    <a:pt x="7332091" y="4861814"/>
                  </a:cubicBezTo>
                  <a:lnTo>
                    <a:pt x="16891" y="4861814"/>
                  </a:lnTo>
                  <a:cubicBezTo>
                    <a:pt x="7493" y="4861814"/>
                    <a:pt x="0" y="4854194"/>
                    <a:pt x="0" y="48449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44923"/>
                  </a:lnTo>
                  <a:lnTo>
                    <a:pt x="16891" y="4844923"/>
                  </a:lnTo>
                  <a:lnTo>
                    <a:pt x="16891" y="4828032"/>
                  </a:lnTo>
                  <a:lnTo>
                    <a:pt x="7332091" y="4828032"/>
                  </a:lnTo>
                  <a:lnTo>
                    <a:pt x="7332091" y="4844923"/>
                  </a:lnTo>
                  <a:lnTo>
                    <a:pt x="7315200" y="484492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499367" y="5985767"/>
            <a:ext cx="5511803" cy="153419"/>
            <a:chOff x="0" y="0"/>
            <a:chExt cx="7349071" cy="20455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7315200" cy="170688"/>
            </a:xfrm>
            <a:custGeom>
              <a:avLst/>
              <a:gdLst/>
              <a:ahLst/>
              <a:cxnLst/>
              <a:rect r="r" b="b" t="t" l="l"/>
              <a:pathLst>
                <a:path h="17068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348982" cy="204472"/>
            </a:xfrm>
            <a:custGeom>
              <a:avLst/>
              <a:gdLst/>
              <a:ahLst/>
              <a:cxnLst/>
              <a:rect r="r" b="b" t="t" l="l"/>
              <a:pathLst>
                <a:path h="20447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512064" y="6181344"/>
            <a:ext cx="5486400" cy="914400"/>
            <a:chOff x="0" y="0"/>
            <a:chExt cx="7315200" cy="1219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315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04775"/>
              <a:ext cx="731520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🤖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86384" y="7187184"/>
            <a:ext cx="4937760" cy="640080"/>
            <a:chOff x="0" y="0"/>
            <a:chExt cx="6583680" cy="853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583680" cy="853440"/>
            </a:xfrm>
            <a:custGeom>
              <a:avLst/>
              <a:gdLst/>
              <a:ahLst/>
              <a:cxnLst/>
              <a:rect r="r" b="b" t="t" l="l"/>
              <a:pathLst>
                <a:path h="8534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65836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 Claim Payouts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786384" y="7863840"/>
            <a:ext cx="4937760" cy="1609344"/>
            <a:chOff x="0" y="0"/>
            <a:chExt cx="6583680" cy="21457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583680" cy="2145792"/>
            </a:xfrm>
            <a:custGeom>
              <a:avLst/>
              <a:gdLst/>
              <a:ahLst/>
              <a:cxnLst/>
              <a:rect r="r" b="b" t="t" l="l"/>
              <a:pathLst>
                <a:path h="21457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83" r="0" b="-978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6583680" cy="2183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System auto-calculates all claim payouts. Claims Manager reviews — no manual amount entry.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424679" y="5985767"/>
            <a:ext cx="5511803" cy="3646427"/>
            <a:chOff x="0" y="0"/>
            <a:chExt cx="7349071" cy="486190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7315200" cy="4828032"/>
            </a:xfrm>
            <a:custGeom>
              <a:avLst/>
              <a:gdLst/>
              <a:ahLst/>
              <a:cxnLst/>
              <a:rect r="r" b="b" t="t" l="l"/>
              <a:pathLst>
                <a:path h="482803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28032"/>
                  </a:lnTo>
                  <a:lnTo>
                    <a:pt x="0" y="48280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348982" cy="4861814"/>
            </a:xfrm>
            <a:custGeom>
              <a:avLst/>
              <a:gdLst/>
              <a:ahLst/>
              <a:cxnLst/>
              <a:rect r="r" b="b" t="t" l="l"/>
              <a:pathLst>
                <a:path h="4861814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844923"/>
                  </a:lnTo>
                  <a:cubicBezTo>
                    <a:pt x="7348982" y="4854321"/>
                    <a:pt x="7341362" y="4861814"/>
                    <a:pt x="7332091" y="4861814"/>
                  </a:cubicBezTo>
                  <a:lnTo>
                    <a:pt x="16891" y="4861814"/>
                  </a:lnTo>
                  <a:cubicBezTo>
                    <a:pt x="7493" y="4861814"/>
                    <a:pt x="0" y="4854194"/>
                    <a:pt x="0" y="48449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44923"/>
                  </a:lnTo>
                  <a:lnTo>
                    <a:pt x="16891" y="4844923"/>
                  </a:lnTo>
                  <a:lnTo>
                    <a:pt x="16891" y="4828032"/>
                  </a:lnTo>
                  <a:lnTo>
                    <a:pt x="7332091" y="4828032"/>
                  </a:lnTo>
                  <a:lnTo>
                    <a:pt x="7332091" y="4844923"/>
                  </a:lnTo>
                  <a:lnTo>
                    <a:pt x="7315200" y="484492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6424679" y="5985767"/>
            <a:ext cx="5511803" cy="153419"/>
            <a:chOff x="0" y="0"/>
            <a:chExt cx="7349071" cy="20455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7315200" cy="170688"/>
            </a:xfrm>
            <a:custGeom>
              <a:avLst/>
              <a:gdLst/>
              <a:ahLst/>
              <a:cxnLst/>
              <a:rect r="r" b="b" t="t" l="l"/>
              <a:pathLst>
                <a:path h="17068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348982" cy="204472"/>
            </a:xfrm>
            <a:custGeom>
              <a:avLst/>
              <a:gdLst/>
              <a:ahLst/>
              <a:cxnLst/>
              <a:rect r="r" b="b" t="t" l="l"/>
              <a:pathLst>
                <a:path h="20447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B4A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37376" y="6181344"/>
            <a:ext cx="5486400" cy="914400"/>
            <a:chOff x="0" y="0"/>
            <a:chExt cx="7315200" cy="12192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315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04775"/>
              <a:ext cx="731520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🎯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6711696" y="7187184"/>
            <a:ext cx="4937760" cy="640080"/>
            <a:chOff x="0" y="0"/>
            <a:chExt cx="6583680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583680" cy="853440"/>
            </a:xfrm>
            <a:custGeom>
              <a:avLst/>
              <a:gdLst/>
              <a:ahLst/>
              <a:cxnLst/>
              <a:rect r="r" b="b" t="t" l="l"/>
              <a:pathLst>
                <a:path h="8534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57150"/>
              <a:ext cx="65836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Dual Purchase Paths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711696" y="7863840"/>
            <a:ext cx="4937760" cy="1609344"/>
            <a:chOff x="0" y="0"/>
            <a:chExt cx="6583680" cy="214579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583680" cy="2145792"/>
            </a:xfrm>
            <a:custGeom>
              <a:avLst/>
              <a:gdLst/>
              <a:ahLst/>
              <a:cxnLst/>
              <a:rect r="r" b="b" t="t" l="l"/>
              <a:pathLst>
                <a:path h="21457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83" r="0" b="-978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6583680" cy="2183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Recommendation path (agent-guided) + Direct Buy (self-service). Both trigger auto agent assignment.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349991" y="5985767"/>
            <a:ext cx="5511803" cy="3646427"/>
            <a:chOff x="0" y="0"/>
            <a:chExt cx="7349071" cy="4861903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7315200" cy="4828032"/>
            </a:xfrm>
            <a:custGeom>
              <a:avLst/>
              <a:gdLst/>
              <a:ahLst/>
              <a:cxnLst/>
              <a:rect r="r" b="b" t="t" l="l"/>
              <a:pathLst>
                <a:path h="482803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28032"/>
                  </a:lnTo>
                  <a:lnTo>
                    <a:pt x="0" y="48280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348982" cy="4861814"/>
            </a:xfrm>
            <a:custGeom>
              <a:avLst/>
              <a:gdLst/>
              <a:ahLst/>
              <a:cxnLst/>
              <a:rect r="r" b="b" t="t" l="l"/>
              <a:pathLst>
                <a:path h="4861814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844923"/>
                  </a:lnTo>
                  <a:cubicBezTo>
                    <a:pt x="7348982" y="4854321"/>
                    <a:pt x="7341362" y="4861814"/>
                    <a:pt x="7332091" y="4861814"/>
                  </a:cubicBezTo>
                  <a:lnTo>
                    <a:pt x="16891" y="4861814"/>
                  </a:lnTo>
                  <a:cubicBezTo>
                    <a:pt x="7493" y="4861814"/>
                    <a:pt x="0" y="4854194"/>
                    <a:pt x="0" y="48449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44923"/>
                  </a:lnTo>
                  <a:lnTo>
                    <a:pt x="16891" y="4844923"/>
                  </a:lnTo>
                  <a:lnTo>
                    <a:pt x="16891" y="4828032"/>
                  </a:lnTo>
                  <a:lnTo>
                    <a:pt x="7332091" y="4828032"/>
                  </a:lnTo>
                  <a:lnTo>
                    <a:pt x="7332091" y="4844923"/>
                  </a:lnTo>
                  <a:lnTo>
                    <a:pt x="7315200" y="484492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2349991" y="5985767"/>
            <a:ext cx="5511803" cy="153419"/>
            <a:chOff x="0" y="0"/>
            <a:chExt cx="7349071" cy="20455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7315200" cy="170688"/>
            </a:xfrm>
            <a:custGeom>
              <a:avLst/>
              <a:gdLst/>
              <a:ahLst/>
              <a:cxnLst/>
              <a:rect r="r" b="b" t="t" l="l"/>
              <a:pathLst>
                <a:path h="17068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348982" cy="204472"/>
            </a:xfrm>
            <a:custGeom>
              <a:avLst/>
              <a:gdLst/>
              <a:ahLst/>
              <a:cxnLst/>
              <a:rect r="r" b="b" t="t" l="l"/>
              <a:pathLst>
                <a:path h="20447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7579"/>
                  </a:lnTo>
                  <a:cubicBezTo>
                    <a:pt x="7348982" y="196977"/>
                    <a:pt x="7341362" y="204470"/>
                    <a:pt x="73320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7332091" y="170688"/>
                  </a:lnTo>
                  <a:lnTo>
                    <a:pt x="7332091" y="187579"/>
                  </a:lnTo>
                  <a:lnTo>
                    <a:pt x="7315200" y="18757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2362688" y="6181344"/>
            <a:ext cx="5486400" cy="914400"/>
            <a:chOff x="0" y="0"/>
            <a:chExt cx="7315200" cy="12192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315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04775"/>
              <a:ext cx="731520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📋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637008" y="7187184"/>
            <a:ext cx="4937760" cy="640080"/>
            <a:chOff x="0" y="0"/>
            <a:chExt cx="6583680" cy="8534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583680" cy="853440"/>
            </a:xfrm>
            <a:custGeom>
              <a:avLst/>
              <a:gdLst/>
              <a:ahLst/>
              <a:cxnLst/>
              <a:rect r="r" b="b" t="t" l="l"/>
              <a:pathLst>
                <a:path h="8534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57150"/>
              <a:ext cx="65836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 Underwriting Rules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637008" y="7863840"/>
            <a:ext cx="4937760" cy="1609344"/>
            <a:chOff x="0" y="0"/>
            <a:chExt cx="6583680" cy="214579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583680" cy="2145792"/>
            </a:xfrm>
            <a:custGeom>
              <a:avLst/>
              <a:gdLst/>
              <a:ahLst/>
              <a:cxnLst/>
              <a:rect r="r" b="b" t="t" l="l"/>
              <a:pathLst>
                <a:path h="21457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83" r="0" b="-9783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6583680" cy="2183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 loading, frequency loading, suicide exclusion, 90-day window — all modelled on real insurance logic.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59303" y="-4584697"/>
            <a:ext cx="9169403" cy="9169403"/>
            <a:chOff x="0" y="0"/>
            <a:chExt cx="12225871" cy="12225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219200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1219200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0"/>
                    <a:pt x="6096000" y="12192000"/>
                  </a:cubicBezTo>
                  <a:cubicBezTo>
                    <a:pt x="2729230" y="12192000"/>
                    <a:pt x="0" y="9462770"/>
                    <a:pt x="0" y="6096000"/>
                  </a:cubicBezTo>
                  <a:close/>
                </a:path>
              </a:pathLst>
            </a:custGeom>
            <a:solidFill>
              <a:srgbClr val="F47B20">
                <a:alpha val="3922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25909" cy="12225782"/>
            </a:xfrm>
            <a:custGeom>
              <a:avLst/>
              <a:gdLst/>
              <a:ahLst/>
              <a:cxnLst/>
              <a:rect r="r" b="b" t="t" l="l"/>
              <a:pathLst>
                <a:path h="12225782" w="12225909">
                  <a:moveTo>
                    <a:pt x="0" y="6112891"/>
                  </a:moveTo>
                  <a:cubicBezTo>
                    <a:pt x="0" y="2736850"/>
                    <a:pt x="2736850" y="0"/>
                    <a:pt x="6112891" y="0"/>
                  </a:cubicBezTo>
                  <a:lnTo>
                    <a:pt x="6112891" y="16891"/>
                  </a:lnTo>
                  <a:lnTo>
                    <a:pt x="6112891" y="0"/>
                  </a:lnTo>
                  <a:cubicBezTo>
                    <a:pt x="9489059" y="0"/>
                    <a:pt x="12225909" y="2736850"/>
                    <a:pt x="12225909" y="6112891"/>
                  </a:cubicBezTo>
                  <a:cubicBezTo>
                    <a:pt x="12225909" y="9488932"/>
                    <a:pt x="9489059" y="12225782"/>
                    <a:pt x="6113018" y="12225782"/>
                  </a:cubicBezTo>
                  <a:lnTo>
                    <a:pt x="6113018" y="12208890"/>
                  </a:lnTo>
                  <a:lnTo>
                    <a:pt x="6113018" y="12225782"/>
                  </a:lnTo>
                  <a:cubicBezTo>
                    <a:pt x="2736850" y="12225909"/>
                    <a:pt x="0" y="9489059"/>
                    <a:pt x="0" y="6112891"/>
                  </a:cubicBezTo>
                  <a:lnTo>
                    <a:pt x="16891" y="6112891"/>
                  </a:lnTo>
                  <a:lnTo>
                    <a:pt x="31115" y="6122035"/>
                  </a:lnTo>
                  <a:cubicBezTo>
                    <a:pt x="27051" y="6128385"/>
                    <a:pt x="19304" y="6131179"/>
                    <a:pt x="12065" y="6129147"/>
                  </a:cubicBezTo>
                  <a:cubicBezTo>
                    <a:pt x="4826" y="6127115"/>
                    <a:pt x="0" y="6120384"/>
                    <a:pt x="0" y="6112891"/>
                  </a:cubicBezTo>
                  <a:moveTo>
                    <a:pt x="33909" y="6112891"/>
                  </a:moveTo>
                  <a:lnTo>
                    <a:pt x="16891" y="6112891"/>
                  </a:lnTo>
                  <a:lnTo>
                    <a:pt x="2667" y="6103747"/>
                  </a:lnTo>
                  <a:cubicBezTo>
                    <a:pt x="6731" y="6097397"/>
                    <a:pt x="14478" y="6094603"/>
                    <a:pt x="21717" y="6096635"/>
                  </a:cubicBezTo>
                  <a:cubicBezTo>
                    <a:pt x="28956" y="6098667"/>
                    <a:pt x="33909" y="6105398"/>
                    <a:pt x="33909" y="6112891"/>
                  </a:cubicBezTo>
                  <a:cubicBezTo>
                    <a:pt x="33909" y="9470263"/>
                    <a:pt x="2755519" y="12192000"/>
                    <a:pt x="6112891" y="12192000"/>
                  </a:cubicBezTo>
                  <a:cubicBezTo>
                    <a:pt x="9470263" y="12192000"/>
                    <a:pt x="12192000" y="9470263"/>
                    <a:pt x="12192000" y="6112891"/>
                  </a:cubicBezTo>
                  <a:lnTo>
                    <a:pt x="12208891" y="6112891"/>
                  </a:lnTo>
                  <a:lnTo>
                    <a:pt x="12192000" y="6112891"/>
                  </a:lnTo>
                  <a:cubicBezTo>
                    <a:pt x="12192000" y="2755519"/>
                    <a:pt x="9470263" y="33909"/>
                    <a:pt x="6112891" y="33909"/>
                  </a:cubicBezTo>
                  <a:lnTo>
                    <a:pt x="6112891" y="16891"/>
                  </a:lnTo>
                  <a:lnTo>
                    <a:pt x="6112891" y="33909"/>
                  </a:lnTo>
                  <a:cubicBezTo>
                    <a:pt x="2755519" y="33909"/>
                    <a:pt x="33909" y="2755519"/>
                    <a:pt x="33909" y="6112891"/>
                  </a:cubicBezTo>
                  <a:close/>
                </a:path>
              </a:pathLst>
            </a:custGeom>
            <a:solidFill>
              <a:srgbClr val="F47B20">
                <a:alpha val="3922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2755897" y="6388103"/>
            <a:ext cx="7340603" cy="7340603"/>
            <a:chOff x="0" y="0"/>
            <a:chExt cx="9787471" cy="97874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97536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C45A00">
                <a:alpha val="3922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87509" cy="9787382"/>
            </a:xfrm>
            <a:custGeom>
              <a:avLst/>
              <a:gdLst/>
              <a:ahLst/>
              <a:cxnLst/>
              <a:rect r="r" b="b" t="t" l="l"/>
              <a:pathLst>
                <a:path h="9787382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lnTo>
                    <a:pt x="4893691" y="16891"/>
                  </a:lnTo>
                  <a:lnTo>
                    <a:pt x="4893691" y="0"/>
                  </a:lnTo>
                  <a:cubicBezTo>
                    <a:pt x="7596505" y="0"/>
                    <a:pt x="9787509" y="2191004"/>
                    <a:pt x="9787509" y="4893691"/>
                  </a:cubicBezTo>
                  <a:lnTo>
                    <a:pt x="9770618" y="4893691"/>
                  </a:lnTo>
                  <a:lnTo>
                    <a:pt x="9787509" y="4893691"/>
                  </a:lnTo>
                  <a:cubicBezTo>
                    <a:pt x="9787509" y="7596378"/>
                    <a:pt x="7596505" y="9787382"/>
                    <a:pt x="4893818" y="9787382"/>
                  </a:cubicBezTo>
                  <a:lnTo>
                    <a:pt x="4893818" y="9770490"/>
                  </a:lnTo>
                  <a:lnTo>
                    <a:pt x="4893818" y="9787382"/>
                  </a:lnTo>
                  <a:cubicBezTo>
                    <a:pt x="2191004" y="9787509"/>
                    <a:pt x="0" y="7596505"/>
                    <a:pt x="0" y="4893691"/>
                  </a:cubicBezTo>
                  <a:lnTo>
                    <a:pt x="16891" y="48936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0" y="4893691"/>
                  </a:lnTo>
                  <a:moveTo>
                    <a:pt x="33909" y="4893691"/>
                  </a:moveTo>
                  <a:cubicBezTo>
                    <a:pt x="33909" y="4903089"/>
                    <a:pt x="26289" y="4910582"/>
                    <a:pt x="17018" y="4910582"/>
                  </a:cubicBezTo>
                  <a:cubicBezTo>
                    <a:pt x="7747" y="4910582"/>
                    <a:pt x="0" y="4903089"/>
                    <a:pt x="0" y="4893691"/>
                  </a:cubicBezTo>
                  <a:cubicBezTo>
                    <a:pt x="0" y="4884293"/>
                    <a:pt x="7620" y="4876800"/>
                    <a:pt x="16891" y="4876800"/>
                  </a:cubicBezTo>
                  <a:cubicBezTo>
                    <a:pt x="26162" y="4876800"/>
                    <a:pt x="33782" y="4884420"/>
                    <a:pt x="33782" y="4893691"/>
                  </a:cubicBezTo>
                  <a:cubicBezTo>
                    <a:pt x="33909" y="7577709"/>
                    <a:pt x="2209673" y="9753600"/>
                    <a:pt x="4893691" y="9753600"/>
                  </a:cubicBezTo>
                  <a:cubicBezTo>
                    <a:pt x="7577709" y="9753600"/>
                    <a:pt x="9753600" y="7577709"/>
                    <a:pt x="9753600" y="4893691"/>
                  </a:cubicBezTo>
                  <a:cubicBezTo>
                    <a:pt x="9753600" y="2209673"/>
                    <a:pt x="7577709" y="33909"/>
                    <a:pt x="4893691" y="33909"/>
                  </a:cubicBezTo>
                  <a:lnTo>
                    <a:pt x="4893691" y="16891"/>
                  </a:lnTo>
                  <a:lnTo>
                    <a:pt x="4893691" y="33909"/>
                  </a:lnTo>
                  <a:cubicBezTo>
                    <a:pt x="2209673" y="33909"/>
                    <a:pt x="33909" y="2209673"/>
                    <a:pt x="33909" y="4893691"/>
                  </a:cubicBezTo>
                  <a:close/>
                </a:path>
              </a:pathLst>
            </a:custGeom>
            <a:solidFill>
              <a:srgbClr val="C45A00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703303" y="5473703"/>
            <a:ext cx="6426203" cy="6426203"/>
            <a:chOff x="0" y="0"/>
            <a:chExt cx="8568271" cy="85682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85344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F47B20">
                <a:alpha val="1961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68182" cy="8568182"/>
            </a:xfrm>
            <a:custGeom>
              <a:avLst/>
              <a:gdLst/>
              <a:ahLst/>
              <a:cxnLst/>
              <a:rect r="r" b="b" t="t" l="l"/>
              <a:pathLst>
                <a:path h="8568182" w="8568182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lnTo>
                    <a:pt x="4284091" y="16891"/>
                  </a:lnTo>
                  <a:lnTo>
                    <a:pt x="4284091" y="0"/>
                  </a:lnTo>
                  <a:cubicBezTo>
                    <a:pt x="6650101" y="0"/>
                    <a:pt x="8568182" y="1918081"/>
                    <a:pt x="8568182" y="4284091"/>
                  </a:cubicBezTo>
                  <a:lnTo>
                    <a:pt x="8551290" y="4284091"/>
                  </a:lnTo>
                  <a:lnTo>
                    <a:pt x="8568182" y="4284091"/>
                  </a:lnTo>
                  <a:cubicBezTo>
                    <a:pt x="8568182" y="6650101"/>
                    <a:pt x="6650101" y="8568182"/>
                    <a:pt x="4284091" y="8568182"/>
                  </a:cubicBezTo>
                  <a:lnTo>
                    <a:pt x="4284091" y="8551290"/>
                  </a:lnTo>
                  <a:lnTo>
                    <a:pt x="4284091" y="8568182"/>
                  </a:lnTo>
                  <a:cubicBezTo>
                    <a:pt x="1918081" y="8568309"/>
                    <a:pt x="0" y="6650228"/>
                    <a:pt x="0" y="4284091"/>
                  </a:cubicBezTo>
                  <a:lnTo>
                    <a:pt x="16891" y="42840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0" y="4284091"/>
                  </a:lnTo>
                  <a:moveTo>
                    <a:pt x="33909" y="4284091"/>
                  </a:moveTo>
                  <a:cubicBezTo>
                    <a:pt x="33909" y="4293489"/>
                    <a:pt x="26289" y="4300982"/>
                    <a:pt x="17018" y="4300982"/>
                  </a:cubicBezTo>
                  <a:cubicBezTo>
                    <a:pt x="7747" y="4300982"/>
                    <a:pt x="0" y="4293489"/>
                    <a:pt x="0" y="4284091"/>
                  </a:cubicBezTo>
                  <a:cubicBezTo>
                    <a:pt x="0" y="4274693"/>
                    <a:pt x="7620" y="4267200"/>
                    <a:pt x="16891" y="4267200"/>
                  </a:cubicBezTo>
                  <a:cubicBezTo>
                    <a:pt x="26162" y="4267200"/>
                    <a:pt x="33782" y="4274820"/>
                    <a:pt x="33782" y="4284091"/>
                  </a:cubicBezTo>
                  <a:cubicBezTo>
                    <a:pt x="33909" y="6631432"/>
                    <a:pt x="1936750" y="8534400"/>
                    <a:pt x="4284091" y="8534400"/>
                  </a:cubicBezTo>
                  <a:cubicBezTo>
                    <a:pt x="6631432" y="8534400"/>
                    <a:pt x="8534400" y="6631432"/>
                    <a:pt x="8534400" y="4284091"/>
                  </a:cubicBezTo>
                  <a:cubicBezTo>
                    <a:pt x="8534400" y="1936750"/>
                    <a:pt x="6631432" y="33909"/>
                    <a:pt x="4284091" y="33909"/>
                  </a:cubicBezTo>
                  <a:lnTo>
                    <a:pt x="4284091" y="16891"/>
                  </a:lnTo>
                  <a:lnTo>
                    <a:pt x="4284091" y="33909"/>
                  </a:lnTo>
                  <a:cubicBezTo>
                    <a:pt x="1936750" y="33909"/>
                    <a:pt x="33909" y="1936750"/>
                    <a:pt x="33909" y="4284091"/>
                  </a:cubicBezTo>
                  <a:close/>
                </a:path>
              </a:pathLst>
            </a:custGeom>
            <a:solidFill>
              <a:srgbClr val="F47B20">
                <a:alpha val="1961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12697" y="10091423"/>
            <a:ext cx="18313403" cy="208283"/>
            <a:chOff x="0" y="0"/>
            <a:chExt cx="24417871" cy="2777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1005840"/>
            <a:ext cx="16459200" cy="2011680"/>
            <a:chOff x="0" y="0"/>
            <a:chExt cx="21945600" cy="2682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194560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00"/>
                </a:lnSpc>
              </a:pPr>
              <a:r>
                <a:rPr lang="en-US" sz="12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Thank You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3017520"/>
            <a:ext cx="16459200" cy="694944"/>
            <a:chOff x="0" y="0"/>
            <a:chExt cx="21945600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1487" r="0" b="-41148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2194560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FA44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WorkSure — Group Employee Insurance Management System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473703" y="3864359"/>
            <a:ext cx="7340603" cy="116843"/>
            <a:chOff x="0" y="0"/>
            <a:chExt cx="9787471" cy="1557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9753600" cy="121920"/>
            </a:xfrm>
            <a:custGeom>
              <a:avLst/>
              <a:gdLst/>
              <a:ahLst/>
              <a:cxnLst/>
              <a:rect r="r" b="b" t="t" l="l"/>
              <a:pathLst>
                <a:path h="1219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47B2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787382" cy="155704"/>
            </a:xfrm>
            <a:custGeom>
              <a:avLst/>
              <a:gdLst/>
              <a:ahLst/>
              <a:cxnLst/>
              <a:rect r="r" b="b" t="t" l="l"/>
              <a:pathLst>
                <a:path h="155704" w="9787382">
                  <a:moveTo>
                    <a:pt x="16891" y="0"/>
                  </a:moveTo>
                  <a:lnTo>
                    <a:pt x="9770491" y="0"/>
                  </a:lnTo>
                  <a:cubicBezTo>
                    <a:pt x="9779889" y="0"/>
                    <a:pt x="9787382" y="7620"/>
                    <a:pt x="9787382" y="16891"/>
                  </a:cubicBezTo>
                  <a:lnTo>
                    <a:pt x="9787382" y="138811"/>
                  </a:lnTo>
                  <a:cubicBezTo>
                    <a:pt x="9787382" y="148209"/>
                    <a:pt x="9779762" y="155702"/>
                    <a:pt x="977049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9770491" y="121920"/>
                  </a:lnTo>
                  <a:lnTo>
                    <a:pt x="9770491" y="138811"/>
                  </a:lnTo>
                  <a:lnTo>
                    <a:pt x="9753600" y="138811"/>
                  </a:lnTo>
                  <a:lnTo>
                    <a:pt x="9753600" y="16891"/>
                  </a:lnTo>
                  <a:lnTo>
                    <a:pt x="9770491" y="16891"/>
                  </a:lnTo>
                  <a:lnTo>
                    <a:pt x="9770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7B2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400" y="4206240"/>
            <a:ext cx="16459200" cy="658368"/>
            <a:chOff x="0" y="0"/>
            <a:chExt cx="21945600" cy="8778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45600" cy="877824"/>
            </a:xfrm>
            <a:custGeom>
              <a:avLst/>
              <a:gdLst/>
              <a:ahLst/>
              <a:cxnLst/>
              <a:rect r="r" b="b" t="t" l="l"/>
              <a:pathLst>
                <a:path h="87782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19456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47B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With sincere gratitude to: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743200" y="5084064"/>
            <a:ext cx="4572000" cy="658368"/>
            <a:chOff x="0" y="0"/>
            <a:chExt cx="6096000" cy="8778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096000" cy="877824"/>
            </a:xfrm>
            <a:custGeom>
              <a:avLst/>
              <a:gdLst/>
              <a:ahLst/>
              <a:cxnLst/>
              <a:rect r="r" b="b" t="t" l="l"/>
              <a:pathLst>
                <a:path h="87782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0960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Hartford  —  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315200" y="5084064"/>
            <a:ext cx="8778240" cy="658368"/>
            <a:chOff x="0" y="0"/>
            <a:chExt cx="11704320" cy="87782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704320" cy="877824"/>
            </a:xfrm>
            <a:custGeom>
              <a:avLst/>
              <a:gdLst/>
              <a:ahLst/>
              <a:cxnLst/>
              <a:rect r="r" b="b" t="t" l="l"/>
              <a:pathLst>
                <a:path h="877824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170432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 the opportunity and supporting learning &amp; innovation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743200" y="5888736"/>
            <a:ext cx="4572000" cy="658368"/>
            <a:chOff x="0" y="0"/>
            <a:chExt cx="6096000" cy="87782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96000" cy="877824"/>
            </a:xfrm>
            <a:custGeom>
              <a:avLst/>
              <a:gdLst/>
              <a:ahLst/>
              <a:cxnLst/>
              <a:rect r="r" b="b" t="t" l="l"/>
              <a:pathLst>
                <a:path h="87782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60960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Surya Thammiraju  —  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315200" y="5888736"/>
            <a:ext cx="8778240" cy="658368"/>
            <a:chOff x="0" y="0"/>
            <a:chExt cx="11704320" cy="87782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704320" cy="877824"/>
            </a:xfrm>
            <a:custGeom>
              <a:avLst/>
              <a:gdLst/>
              <a:ahLst/>
              <a:cxnLst/>
              <a:rect r="r" b="b" t="t" l="l"/>
              <a:pathLst>
                <a:path h="877824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170432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Head &amp; Managing Director, India — The Hartford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743200" y="6693408"/>
            <a:ext cx="4572000" cy="658368"/>
            <a:chOff x="0" y="0"/>
            <a:chExt cx="6096000" cy="87782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96000" cy="877824"/>
            </a:xfrm>
            <a:custGeom>
              <a:avLst/>
              <a:gdLst/>
              <a:ahLst/>
              <a:cxnLst/>
              <a:rect r="r" b="b" t="t" l="l"/>
              <a:pathLst>
                <a:path h="87782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60960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Ranjan Bhatnagar  —  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315200" y="6693408"/>
            <a:ext cx="8778240" cy="658368"/>
            <a:chOff x="0" y="0"/>
            <a:chExt cx="11704320" cy="87782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704320" cy="877824"/>
            </a:xfrm>
            <a:custGeom>
              <a:avLst/>
              <a:gdLst/>
              <a:ahLst/>
              <a:cxnLst/>
              <a:rect r="r" b="b" t="t" l="l"/>
              <a:pathLst>
                <a:path h="877824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170432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Microsoft Certified Instructor — 30+ years of expertise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743200" y="7498080"/>
            <a:ext cx="4572000" cy="658368"/>
            <a:chOff x="0" y="0"/>
            <a:chExt cx="6096000" cy="87782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096000" cy="877824"/>
            </a:xfrm>
            <a:custGeom>
              <a:avLst/>
              <a:gdLst/>
              <a:ahLst/>
              <a:cxnLst/>
              <a:rect r="r" b="b" t="t" l="l"/>
              <a:pathLst>
                <a:path h="87782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60960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Koti Rama Murthy Davuluri  —  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315200" y="7498080"/>
            <a:ext cx="8778240" cy="658368"/>
            <a:chOff x="0" y="0"/>
            <a:chExt cx="11704320" cy="87782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704320" cy="877824"/>
            </a:xfrm>
            <a:custGeom>
              <a:avLst/>
              <a:gdLst/>
              <a:ahLst/>
              <a:cxnLst/>
              <a:rect r="r" b="b" t="t" l="l"/>
              <a:pathLst>
                <a:path h="877824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170432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Senior Staff Software Engineer — Technical guidance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743200" y="8302752"/>
            <a:ext cx="4572000" cy="658368"/>
            <a:chOff x="0" y="0"/>
            <a:chExt cx="6096000" cy="87782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096000" cy="877824"/>
            </a:xfrm>
            <a:custGeom>
              <a:avLst/>
              <a:gdLst/>
              <a:ahLst/>
              <a:cxnLst/>
              <a:rect r="r" b="b" t="t" l="l"/>
              <a:pathLst>
                <a:path h="87782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609600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GUVI &amp; The Entire Team  —  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315200" y="8302752"/>
            <a:ext cx="8778240" cy="658368"/>
            <a:chOff x="0" y="0"/>
            <a:chExt cx="11704320" cy="87782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704320" cy="877824"/>
            </a:xfrm>
            <a:custGeom>
              <a:avLst/>
              <a:gdLst/>
              <a:ahLst/>
              <a:cxnLst/>
              <a:rect r="r" b="b" t="t" l="l"/>
              <a:pathLst>
                <a:path h="877824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170432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 organizing and guiding this internship program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14400" y="9674773"/>
            <a:ext cx="10084783" cy="313749"/>
            <a:chOff x="0" y="0"/>
            <a:chExt cx="21945600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DAHDqlIJ89s</dc:identifier>
  <dcterms:modified xsi:type="dcterms:W3CDTF">2011-08-01T06:04:30Z</dcterms:modified>
  <cp:revision>1</cp:revision>
  <dc:title>WorkSure_ppt</dc:title>
</cp:coreProperties>
</file>